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22" r:id="rId4"/>
    <p:sldId id="259" r:id="rId5"/>
    <p:sldId id="258" r:id="rId6"/>
    <p:sldId id="320" r:id="rId7"/>
    <p:sldId id="261" r:id="rId8"/>
    <p:sldId id="260" r:id="rId9"/>
    <p:sldId id="318" r:id="rId10"/>
    <p:sldId id="319" r:id="rId11"/>
    <p:sldId id="317" r:id="rId12"/>
    <p:sldId id="32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443567"/>
            <a:ext cx="12192000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5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7000" b="1" dirty="0">
                <a:solidFill>
                  <a:schemeClr val="accent5"/>
                </a:solidFill>
              </a:rPr>
              <a:t>COMPARATIVE PUSHOVER ANALYSIS OF A SDOF STRUCTURE: ELASTIC VS INELASTIC RESPONSE USING OPENSEES</a:t>
            </a:r>
          </a:p>
          <a:p>
            <a:pPr algn="ctr"/>
            <a:r>
              <a:rPr lang="en-US" sz="1600" b="1" dirty="0">
                <a:solidFill>
                  <a:schemeClr val="accent5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truck&#10;&#10;AI-generated content may be incorrect.">
            <a:extLst>
              <a:ext uri="{FF2B5EF4-FFF2-40B4-BE49-F238E27FC236}">
                <a16:creationId xmlns:a16="http://schemas.microsoft.com/office/drawing/2014/main" id="{F04C11B8-92FD-0025-2A7F-054CF77BD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666" y="109952"/>
            <a:ext cx="8466667" cy="66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36072-3EDD-BA78-CD8D-6BCC27911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number of objects&#10;&#10;AI-generated content may be incorrect.">
            <a:extLst>
              <a:ext uri="{FF2B5EF4-FFF2-40B4-BE49-F238E27FC236}">
                <a16:creationId xmlns:a16="http://schemas.microsoft.com/office/drawing/2014/main" id="{32CFEA7C-33C9-6CFC-0C73-01D25C765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0804"/>
            <a:ext cx="12192000" cy="525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649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EE28ED-16A7-A7CA-B8D5-70C9685CF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891"/>
            <a:ext cx="12192000" cy="658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83E4B2F-2B1B-BA94-78B3-A21F35D3F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119" y="0"/>
            <a:ext cx="102417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93942-A27A-FAF7-81B1-1EA9A750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6CBDE108-0BBE-7E33-54D0-088779B6C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981" y="0"/>
            <a:ext cx="82440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511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5C90-67EB-63BD-EECA-89A2A5C49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a green line&#10;&#10;AI-generated content may be incorrect.">
            <a:extLst>
              <a:ext uri="{FF2B5EF4-FFF2-40B4-BE49-F238E27FC236}">
                <a16:creationId xmlns:a16="http://schemas.microsoft.com/office/drawing/2014/main" id="{8FF2835F-3B4C-3BFB-2AFC-3163D26AA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742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numbers and a green line&#10;&#10;AI-generated content may be incorrect.">
            <a:extLst>
              <a:ext uri="{FF2B5EF4-FFF2-40B4-BE49-F238E27FC236}">
                <a16:creationId xmlns:a16="http://schemas.microsoft.com/office/drawing/2014/main" id="{34146A76-5A55-CCE0-5A0B-67F289C7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38EF8-C679-4D20-0D37-2E5DB65F7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a line&#10;&#10;AI-generated content may be incorrect.">
            <a:extLst>
              <a:ext uri="{FF2B5EF4-FFF2-40B4-BE49-F238E27FC236}">
                <a16:creationId xmlns:a16="http://schemas.microsoft.com/office/drawing/2014/main" id="{607795F5-290A-2616-9EB7-ED94DAFF8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079" y="200025"/>
            <a:ext cx="10471842" cy="623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853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5AAAE-E9C9-4749-5E7E-73E4DE688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a blue line&#10;&#10;AI-generated content may be incorrect.">
            <a:extLst>
              <a:ext uri="{FF2B5EF4-FFF2-40B4-BE49-F238E27FC236}">
                <a16:creationId xmlns:a16="http://schemas.microsoft.com/office/drawing/2014/main" id="{AA9FAE75-CFDD-9DFE-EB99-590C349C5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002" y="366643"/>
            <a:ext cx="10279995" cy="612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592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75CD5-9DC2-B2CD-7EEA-69BF5C1A5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line&#10;&#10;AI-generated content may be incorrect.">
            <a:extLst>
              <a:ext uri="{FF2B5EF4-FFF2-40B4-BE49-F238E27FC236}">
                <a16:creationId xmlns:a16="http://schemas.microsoft.com/office/drawing/2014/main" id="{1A935B68-2FC1-79E1-A0D0-FAC2CC556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778" y="403954"/>
            <a:ext cx="7514444" cy="6050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652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C3C01-C9B1-1A16-F422-A468C95A6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251F9FD2-9B10-ACB8-2358-F5713E05D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234786"/>
            <a:ext cx="9430235" cy="63884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B30440B-32EB-87D5-650E-4A815D24FD30}"/>
              </a:ext>
            </a:extLst>
          </p:cNvPr>
          <p:cNvSpPr txBox="1"/>
          <p:nvPr/>
        </p:nvSpPr>
        <p:spPr>
          <a:xfrm>
            <a:off x="3914776" y="1414463"/>
            <a:ext cx="6229350" cy="4929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5"/>
                </a:solidFill>
              </a:rPr>
              <a:t>+==========================+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=   Analysis curve fitted =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    </a:t>
            </a:r>
            <a:r>
              <a:rPr lang="en-US" sz="1600" b="1" dirty="0" err="1">
                <a:solidFill>
                  <a:schemeClr val="accent5"/>
                </a:solidFill>
              </a:rPr>
              <a:t>Disp</a:t>
            </a:r>
            <a:r>
              <a:rPr lang="en-US" sz="1600" b="1" dirty="0">
                <a:solidFill>
                  <a:schemeClr val="accent5"/>
                </a:solidFill>
              </a:rPr>
              <a:t>        Base Shear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----------------------------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[[0.00000000e+00 0.00000000e+00]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[1.88855299e-02 3.05945585e+05]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[3.49000000e-01 3.59303805e+05]]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+==========================+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+----------------------------------------------------+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Structure Elastic Stiffness :     16200000.00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Structure Plastic Stiffness :     1029523.80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Structure Tangent Stiffness :     161635.51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Structure Ductility Ratio :       18.48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 Structure Over Strength Factor:   1.17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+----------------------------------------------------+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Over Strength Coefficient (</a:t>
            </a:r>
            <a:r>
              <a:rPr lang="el-GR" sz="1600" b="1" dirty="0">
                <a:solidFill>
                  <a:schemeClr val="accent5"/>
                </a:solidFill>
              </a:rPr>
              <a:t>Ω0):      1.1744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Displacement Ductility Ratio (</a:t>
            </a:r>
            <a:r>
              <a:rPr lang="el-GR" sz="1600" b="1" dirty="0">
                <a:solidFill>
                  <a:schemeClr val="accent5"/>
                </a:solidFill>
              </a:rPr>
              <a:t>μ):    18.4798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Ductility Coefficient (R</a:t>
            </a:r>
            <a:r>
              <a:rPr lang="el-GR" sz="1600" b="1" dirty="0">
                <a:solidFill>
                  <a:schemeClr val="accent5"/>
                </a:solidFill>
              </a:rPr>
              <a:t>μ):          18.4798</a:t>
            </a:r>
          </a:p>
          <a:p>
            <a:r>
              <a:rPr lang="en-US" sz="1600" b="1" dirty="0">
                <a:solidFill>
                  <a:schemeClr val="accent5"/>
                </a:solidFill>
              </a:rPr>
              <a:t>Structural Behavior Coefficient (R): 21.7027</a:t>
            </a:r>
          </a:p>
        </p:txBody>
      </p:sp>
    </p:spTree>
    <p:extLst>
      <p:ext uri="{BB962C8B-B14F-4D97-AF65-F5344CB8AC3E}">
        <p14:creationId xmlns:p14="http://schemas.microsoft.com/office/powerpoint/2010/main" val="540380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1310</TotalTime>
  <Words>132</Words>
  <Application>Microsoft Office PowerPoint</Application>
  <PresentationFormat>Widescreen</PresentationFormat>
  <Paragraphs>22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56</cp:revision>
  <cp:lastPrinted>2025-11-27T11:43:15Z</cp:lastPrinted>
  <dcterms:created xsi:type="dcterms:W3CDTF">2025-07-19T22:10:00Z</dcterms:created>
  <dcterms:modified xsi:type="dcterms:W3CDTF">2025-12-09T05:07:09Z</dcterms:modified>
</cp:coreProperties>
</file>