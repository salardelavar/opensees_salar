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61" r:id="rId3"/>
    <p:sldId id="369" r:id="rId4"/>
    <p:sldId id="370" r:id="rId5"/>
    <p:sldId id="376" r:id="rId6"/>
    <p:sldId id="375" r:id="rId7"/>
    <p:sldId id="352" r:id="rId8"/>
    <p:sldId id="377" r:id="rId9"/>
    <p:sldId id="320" r:id="rId10"/>
    <p:sldId id="357" r:id="rId11"/>
    <p:sldId id="356" r:id="rId12"/>
    <p:sldId id="359" r:id="rId13"/>
    <p:sldId id="36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62" autoAdjust="0"/>
    <p:restoredTop sz="94660"/>
  </p:normalViewPr>
  <p:slideViewPr>
    <p:cSldViewPr snapToGrid="0">
      <p:cViewPr varScale="1">
        <p:scale>
          <a:sx n="67" d="100"/>
          <a:sy n="67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06F19-96B3-4F13-35FC-4C10EA15B5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354475-7BA8-25EF-1CFC-6CD765732E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133B1-CFEB-D001-3747-C35328F26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554BF-FEFC-F4F4-7D7B-7920E7FFF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AD913-BD93-93CE-A775-2003F45ED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377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8E314-D5C2-3D8B-66C5-8C04C8EEF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A1D6D-0944-FD5C-61EE-88C56D0CC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E38C9-F2E3-E438-888A-79911E678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DD91B-B219-07DC-D0F4-997D63E8D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C8B21-6104-B689-B956-BFEBA0CBC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448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BBEA3-A996-90BC-61CF-A9E8C7053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DE84B-6C6E-0F03-B7CA-AE7251441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907A1-2B55-F570-8543-AF3F1A187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EDF31-B49C-528A-C664-A49658765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BE76D-A87B-DA18-8479-B8301D683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22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A1208-B198-1F22-B7DA-898B85137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100EE-A9D5-8996-3B8D-D5C2FD4310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34A0BA-F482-8A2F-69DA-93924ACCFF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E56A1-FDF7-04A0-ED99-D5834334B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35502C-B44E-3200-D036-AD1124B44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E585DB-3C44-B39A-644C-3F6EAB789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936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ECB78-B4D2-F23F-64BD-C802FC0BD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F1A3BD-9AE3-6221-8F14-D02D3448B5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B2E2D9-E913-3697-2AE1-5DA127417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5C9B34-F075-3C3C-A7E8-D635F590EB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2D6DC1-8965-9603-46B6-9AD98D0853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EFDEA5-35A1-A318-5266-2834BAF35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EC9092-5D9A-9E11-005C-C6A1BE621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3F392C-5BDE-B1D7-2EA9-B7A047553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368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EF55C-4097-72FF-48B2-B56474D34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E83B87-B7B5-54F9-A06C-271130C3D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0681D4-63E7-2F19-7B22-EBFB4BC8C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87F270-B9A2-DE4C-B46D-F62DCDA0A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896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3D5D6D-2585-E7FC-FB39-DE3E61D7B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BE21F8-D01F-C069-E9A3-8E305BA63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E1E19-44C5-A381-C1F6-8A7150F49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734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6C389-B78C-B2CD-2C77-60FB75B9D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CDF69-B172-3093-9B71-21E9EF817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3A7C3-F528-1D0F-A50E-EA44F42D9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F68BD8-8500-71ED-EA5A-CC6BE90C6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F146E5-BC7F-015F-BA30-09404FF7D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7EF81-5823-6FEC-027F-083784305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642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C2397-66BF-38D3-5200-5C1170407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9C5F01-F6D3-C44A-367D-63103EE249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08A42-B9F7-32DA-F543-E07609EA2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226F43-E67A-6BB5-E035-3630FA185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3D92E-BB12-D139-35FC-5C5AA677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03186E-8782-AB5D-90E2-4B86C7778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342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DC78A-1446-3920-67C0-32803C7E7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950D9E-F838-CDDF-A73E-301B576CB9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394C8-E136-DF00-DB32-89EDD4605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BF00D-D0FC-834E-D935-77CA41FAF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8F43A-949B-DD39-6782-1C9DC5B7E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884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37D68F-F8E6-E1B4-9A2E-6296A75244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AD167E-7F88-0DED-889D-64070DEA4E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CB663-5F1A-C8B2-DAB0-6695A93DF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9037D-75E8-A82D-0717-D1D16F115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1895C-947D-DEE2-731B-86239A3CC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6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CE371A-ED9B-F859-8DFE-E88B2FA96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FF3AD-6AF8-0FEC-35CB-99ED597C3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356C9-0DD8-62A7-8D4B-61CCC3AFE0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38DA24-7C00-4CB3-BA06-557152E755C0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8E712-AE42-63F8-BAB5-1739C56497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6EA66-660E-1F2A-60C0-D4CA0AEB6F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443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58B20A0-BB54-8C05-4883-84DD448D638B}"/>
              </a:ext>
            </a:extLst>
          </p:cNvPr>
          <p:cNvSpPr txBox="1"/>
          <p:nvPr/>
        </p:nvSpPr>
        <p:spPr>
          <a:xfrm>
            <a:off x="88106" y="517237"/>
            <a:ext cx="12015788" cy="606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3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6000" b="1" dirty="0">
                <a:solidFill>
                  <a:schemeClr val="accent5"/>
                </a:solidFill>
              </a:rPr>
              <a:t>DETERMINATION OF OPTIMUM STRUCTURAL DUCTILITY RATIO FROM ENERGY DISSIPATION CAPACITY INDEX USING FINITE‑DIFFERENCE NEWTON ITERATION AND OPENSEES</a:t>
            </a:r>
          </a:p>
          <a:p>
            <a:pPr algn="ctr"/>
            <a:r>
              <a:rPr lang="en-US" sz="1200" b="1" dirty="0">
                <a:solidFill>
                  <a:schemeClr val="accent3"/>
                </a:solidFill>
              </a:rPr>
              <a:t>THIS PROGRAM WRITTEN BY SALAR DELAVAR GHASHGHAEI (QASHQAI)</a:t>
            </a:r>
          </a:p>
        </p:txBody>
      </p:sp>
    </p:spTree>
    <p:extLst>
      <p:ext uri="{BB962C8B-B14F-4D97-AF65-F5344CB8AC3E}">
        <p14:creationId xmlns:p14="http://schemas.microsoft.com/office/powerpoint/2010/main" val="2561539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0759B-40F4-A8DE-D64C-E72E1EEE8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60EA17-4C5B-2A50-A8BB-07F2BB1B5F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60" y="0"/>
            <a:ext cx="120024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45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6ACF3-78E5-1F20-3A96-CF9C38C85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C216FD7-1521-C6C5-86A5-A28055F007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5029" y="1758434"/>
            <a:ext cx="2295525" cy="838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AF7C493-2D3D-768B-97B4-7C9CBD2289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3430" y="2821366"/>
            <a:ext cx="1885950" cy="1428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0E25A7-EA7C-30FA-8B1D-AA48ED2C3B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3272" y="1686287"/>
            <a:ext cx="2644141" cy="10058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C446245-8DEA-21AE-D24B-F41F54A72D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7575" y="2864454"/>
            <a:ext cx="2644666" cy="10058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6D904E1-DBE7-076E-D7DF-276E40271C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1008" y="4076547"/>
            <a:ext cx="3684335" cy="28346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76C5958-7B67-E7D1-E899-1F9DD121CF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6596387" cy="6858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70548FD-DC7B-F3CB-26E8-1B40C1761247}"/>
              </a:ext>
            </a:extLst>
          </p:cNvPr>
          <p:cNvSpPr txBox="1"/>
          <p:nvPr/>
        </p:nvSpPr>
        <p:spPr>
          <a:xfrm>
            <a:off x="3975130" y="116627"/>
            <a:ext cx="782612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5"/>
                </a:solidFill>
              </a:rPr>
              <a:t>Displacement-based seismic analysis transformation,</a:t>
            </a:r>
          </a:p>
          <a:p>
            <a:r>
              <a:rPr lang="en-US" sz="2400" b="1" dirty="0">
                <a:solidFill>
                  <a:schemeClr val="accent5"/>
                </a:solidFill>
              </a:rPr>
              <a:t> converting a multi-degree-of-freedom (MDOF) system</a:t>
            </a:r>
          </a:p>
          <a:p>
            <a:r>
              <a:rPr lang="en-US" sz="2400" b="1" dirty="0">
                <a:solidFill>
                  <a:schemeClr val="accent5"/>
                </a:solidFill>
              </a:rPr>
              <a:t> into an equivalent single-degree-of-freedom (SDOF)</a:t>
            </a:r>
          </a:p>
          <a:p>
            <a:r>
              <a:rPr lang="en-US" sz="2400" b="1" dirty="0">
                <a:solidFill>
                  <a:schemeClr val="accent5"/>
                </a:solidFill>
              </a:rPr>
              <a:t> system for seismic assessment</a:t>
            </a:r>
          </a:p>
        </p:txBody>
      </p:sp>
    </p:spTree>
    <p:extLst>
      <p:ext uri="{BB962C8B-B14F-4D97-AF65-F5344CB8AC3E}">
        <p14:creationId xmlns:p14="http://schemas.microsoft.com/office/powerpoint/2010/main" val="4191165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D8C9F-FE7E-F42E-780C-601561043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E62977-325C-FD32-67F4-3020E081E8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51" y="0"/>
            <a:ext cx="118328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244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D909F-39FB-AC2C-1C72-75ACABA28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928051-B74C-1027-AD65-BB6FAFA6E6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897" y="0"/>
            <a:ext cx="83882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163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34612-2C31-F930-B402-F2B746A25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69801E0-15E4-B8D3-5671-E228565DAA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1897" y="0"/>
            <a:ext cx="83882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1992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D8C9F-FE7E-F42E-780C-601561043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20A69B3-9DCF-7FEF-3A6D-9569F06D1F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5448"/>
            <a:ext cx="12192000" cy="6587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8907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213D7-109F-7F9A-44C0-5FF7D84FC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AC4853-CBB6-4CE3-20CC-95494A2861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3125"/>
            <a:ext cx="12192000" cy="6531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735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A6411-5370-8D0E-D82B-643AFEAC4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2FD87F-FA27-4F3D-9880-2DB81CE0CF95}"/>
              </a:ext>
            </a:extLst>
          </p:cNvPr>
          <p:cNvSpPr txBox="1"/>
          <p:nvPr/>
        </p:nvSpPr>
        <p:spPr>
          <a:xfrm>
            <a:off x="936626" y="1756539"/>
            <a:ext cx="1000125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OPTIMIZATION PROBLEM FOR ENERGY DISSIPATION CAPACITY INDEX (EDCI)</a:t>
            </a:r>
          </a:p>
        </p:txBody>
      </p:sp>
    </p:spTree>
    <p:extLst>
      <p:ext uri="{BB962C8B-B14F-4D97-AF65-F5344CB8AC3E}">
        <p14:creationId xmlns:p14="http://schemas.microsoft.com/office/powerpoint/2010/main" val="18149869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D7C2B-D8BD-BFF0-192E-91452C1C6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04326C-23CF-3301-9388-DBDFEC5109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187"/>
            <a:ext cx="12192000" cy="6603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1543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D3924-2FE3-04D8-2CA1-9EECB3231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066AC85-BC7B-AF74-89BC-BA6B39811638}"/>
              </a:ext>
            </a:extLst>
          </p:cNvPr>
          <p:cNvSpPr txBox="1"/>
          <p:nvPr/>
        </p:nvSpPr>
        <p:spPr>
          <a:xfrm>
            <a:off x="2331243" y="355828"/>
            <a:ext cx="907018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Dissipated Energy from Earthquake</a:t>
            </a:r>
            <a:r>
              <a:rPr lang="en-US" sz="2000" b="1"/>
              <a:t>= 732813.284 </a:t>
            </a:r>
            <a:r>
              <a:rPr lang="en-US" sz="2000" b="1" dirty="0" err="1"/>
              <a:t>N·m</a:t>
            </a:r>
            <a:endParaRPr lang="en-US" sz="2000" b="1" dirty="0"/>
          </a:p>
          <a:p>
            <a:r>
              <a:rPr lang="en-US" sz="2000" b="1" dirty="0"/>
              <a:t>Dissipated Energy from Cyclic Displacement= 3664139.377 </a:t>
            </a:r>
            <a:r>
              <a:rPr lang="en-US" sz="2000" b="1" dirty="0" err="1"/>
              <a:t>N·m</a:t>
            </a:r>
            <a:endParaRPr lang="en-US" sz="2000" b="1" dirty="0"/>
          </a:p>
          <a:p>
            <a:endParaRPr lang="en-US" sz="2000" b="1" dirty="0"/>
          </a:p>
          <a:p>
            <a:r>
              <a:rPr lang="en-US" sz="2000" b="1" dirty="0"/>
              <a:t>	DISSIPATED ENERGY CAPACITY INDEX: 19.999 [%]</a:t>
            </a:r>
          </a:p>
          <a:p>
            <a:endParaRPr lang="en-US" sz="2000" b="1" dirty="0"/>
          </a:p>
          <a:p>
            <a:endParaRPr lang="en-US" sz="2000" b="1" dirty="0"/>
          </a:p>
          <a:p>
            <a:r>
              <a:rPr lang="en-US" sz="2000" b="1" dirty="0"/>
              <a:t>	ZONE 2: MINOR DAMAGE</a:t>
            </a:r>
          </a:p>
          <a:p>
            <a:endParaRPr lang="en-US" sz="2000" b="1" dirty="0"/>
          </a:p>
          <a:p>
            <a:r>
              <a:rPr lang="en-US" sz="2000" b="1" dirty="0"/>
              <a:t>Fmax:  -0.0008826609401708652</a:t>
            </a:r>
          </a:p>
          <a:p>
            <a:r>
              <a:rPr lang="en-US" sz="2000" b="1" dirty="0"/>
              <a:t>DF:    -0.8827349793687489</a:t>
            </a:r>
          </a:p>
          <a:p>
            <a:r>
              <a:rPr lang="en-US" sz="2000" b="1" dirty="0"/>
              <a:t>DX:    -5.5438256264300047e-08</a:t>
            </a:r>
          </a:p>
          <a:p>
            <a:r>
              <a:rPr lang="en-US" sz="2000" b="1" dirty="0"/>
              <a:t>IT:  11  - RESIDUAL:  5.5438256264300047e-08 X:  23.402375631762727 </a:t>
            </a:r>
          </a:p>
          <a:p>
            <a:endParaRPr lang="en-US" sz="2000" b="1" dirty="0"/>
          </a:p>
          <a:p>
            <a:r>
              <a:rPr lang="en-US" sz="2000" b="1" dirty="0"/>
              <a:t>		 Optimum X (DUCTILITY RATIO):        23.4024</a:t>
            </a:r>
          </a:p>
          <a:p>
            <a:r>
              <a:rPr lang="en-US" sz="2000" b="1" dirty="0"/>
              <a:t>		 Iteration Counts:                   11</a:t>
            </a:r>
          </a:p>
          <a:p>
            <a:r>
              <a:rPr lang="en-US" sz="2000" b="1" dirty="0"/>
              <a:t>		 Convergence Residual:               5.5438256264e-08</a:t>
            </a:r>
          </a:p>
          <a:p>
            <a:endParaRPr lang="en-US" sz="2000" b="1" dirty="0"/>
          </a:p>
          <a:p>
            <a:r>
              <a:rPr lang="en-US" sz="2000" b="1" dirty="0"/>
              <a:t>Total time (s): 84.1406 </a:t>
            </a:r>
          </a:p>
        </p:txBody>
      </p:sp>
    </p:spTree>
    <p:extLst>
      <p:ext uri="{BB962C8B-B14F-4D97-AF65-F5344CB8AC3E}">
        <p14:creationId xmlns:p14="http://schemas.microsoft.com/office/powerpoint/2010/main" val="36054240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88EAA-C886-7D4C-F1C1-A0E4949E7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E4DD8DD-840C-B1A8-88EB-91E6DD2188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7150" y="457200"/>
            <a:ext cx="69377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5433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F45AE-1744-C216-CA6C-47EDBEDE1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A40AFE9-8523-EB3C-7752-5C68FA9E86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438" y="457200"/>
            <a:ext cx="6951702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0521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456</TotalTime>
  <Words>165</Words>
  <Application>Microsoft Office PowerPoint</Application>
  <PresentationFormat>Widescreen</PresentationFormat>
  <Paragraphs>26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125</cp:revision>
  <cp:lastPrinted>2026-04-12T08:11:55Z</cp:lastPrinted>
  <dcterms:created xsi:type="dcterms:W3CDTF">2025-06-03T10:37:48Z</dcterms:created>
  <dcterms:modified xsi:type="dcterms:W3CDTF">2026-08-01T20:30:34Z</dcterms:modified>
</cp:coreProperties>
</file>