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61" r:id="rId3"/>
    <p:sldId id="258" r:id="rId4"/>
    <p:sldId id="322" r:id="rId5"/>
    <p:sldId id="358" r:id="rId6"/>
    <p:sldId id="359" r:id="rId7"/>
    <p:sldId id="352" r:id="rId8"/>
    <p:sldId id="259" r:id="rId9"/>
    <p:sldId id="323" r:id="rId10"/>
    <p:sldId id="302" r:id="rId11"/>
    <p:sldId id="324" r:id="rId12"/>
    <p:sldId id="306" r:id="rId13"/>
    <p:sldId id="336" r:id="rId14"/>
    <p:sldId id="346" r:id="rId15"/>
    <p:sldId id="304" r:id="rId16"/>
    <p:sldId id="261" r:id="rId17"/>
    <p:sldId id="325" r:id="rId18"/>
    <p:sldId id="337" r:id="rId19"/>
    <p:sldId id="347" r:id="rId20"/>
    <p:sldId id="308" r:id="rId21"/>
    <p:sldId id="265" r:id="rId22"/>
    <p:sldId id="357" r:id="rId23"/>
    <p:sldId id="326" r:id="rId24"/>
    <p:sldId id="266" r:id="rId25"/>
    <p:sldId id="309" r:id="rId26"/>
    <p:sldId id="311" r:id="rId27"/>
    <p:sldId id="312" r:id="rId28"/>
    <p:sldId id="327" r:id="rId29"/>
    <p:sldId id="313" r:id="rId30"/>
    <p:sldId id="314" r:id="rId31"/>
    <p:sldId id="315" r:id="rId32"/>
    <p:sldId id="349" r:id="rId33"/>
    <p:sldId id="263" r:id="rId34"/>
    <p:sldId id="268" r:id="rId35"/>
    <p:sldId id="329" r:id="rId36"/>
    <p:sldId id="269" r:id="rId37"/>
    <p:sldId id="342" r:id="rId38"/>
    <p:sldId id="350" r:id="rId39"/>
    <p:sldId id="402" r:id="rId40"/>
    <p:sldId id="320" r:id="rId41"/>
    <p:sldId id="275" r:id="rId42"/>
    <p:sldId id="328" r:id="rId43"/>
    <p:sldId id="276" r:id="rId44"/>
    <p:sldId id="343" r:id="rId45"/>
    <p:sldId id="351" r:id="rId46"/>
    <p:sldId id="353" r:id="rId47"/>
    <p:sldId id="354" r:id="rId48"/>
    <p:sldId id="362" r:id="rId49"/>
    <p:sldId id="345" r:id="rId50"/>
    <p:sldId id="356" r:id="rId51"/>
    <p:sldId id="400" r:id="rId52"/>
    <p:sldId id="355" r:id="rId53"/>
    <p:sldId id="40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BDDF-7ED9-4128-9626-64BCFCEE220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3A8BC-0CD3-4D75-93F2-7ABEF3CEE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4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29872-7431-4088-89BE-A8A85D40B5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8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23912" y="344032"/>
            <a:ext cx="10287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COMPREHENSIVE NONLINEAR SEISMIC ASSESSMENT OF A SEMI-RIGID CONNECTION AS A SINGLE-DEGREE-OF-FREEDOM (SDOF) STRUCTURE: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7125-687C-FE2E-82E9-3C7BCEE8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A8010-5904-BC7E-FAC2-9A914173B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12" y="-78108"/>
            <a:ext cx="10449176" cy="320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FFDAF8-7FB0-ED26-E5A2-A48385EA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3030855"/>
            <a:ext cx="51244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0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BFED3-3806-1DCE-7BFD-5E2DE526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17" y="0"/>
            <a:ext cx="11260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93C2D6-79B9-6E8D-E0D4-9C9A59A9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2C1F-71A0-82E4-5DBA-A33181AE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16193-4506-0FF4-E3CA-4A4E9C8A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05" y="719476"/>
            <a:ext cx="8276190" cy="5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3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F345-4BE7-ED31-E86B-5F1B4BC2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AB0E29-6A0E-C6E2-FCE1-715B62B41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143" y="367095"/>
            <a:ext cx="8085714" cy="6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9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02649-2F26-77D4-7F2C-EB0CB91E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17"/>
            <a:ext cx="12192000" cy="656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B72926-4528-87A3-A970-84F3C313C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17"/>
            <a:ext cx="12192000" cy="656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CB68C-75C8-61AE-3D0F-E9098D519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18"/>
            <a:ext cx="12192000" cy="66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D883D5-0AB0-3E02-2EB3-5460E87C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68A67-836A-0188-76B4-9820B1A3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AC488E-F43F-3385-8569-BAF9C7E78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654959-F117-6F24-6798-6EAFADC7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25"/>
            <a:ext cx="12192000" cy="662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312B97-247E-342B-6D87-4322679A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B5792B-D9BD-24C4-A5E8-1522CBD8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D66EAD-49C4-87D0-C766-699B31B7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D55A50-EDCB-29F9-0365-EA5DA8F26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3A69-7BE3-6998-8479-16E1F23F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6C1CA-4738-C3E6-77CF-EB7CE7D4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69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2FB33-06C5-2575-A55D-E14769DC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71FF6-FC79-AFB6-8B8D-526D49E4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283628-DED9-270D-EB0C-4CF3C2DD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CE59F-F71F-F8D5-8D4C-2B57FF94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1"/>
            <a:ext cx="12192000" cy="65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B5456C-4C44-F6AA-A071-484DD4A3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BFF563-D2FA-2A04-A7CA-F6D79ED2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4F320D-FF56-3FEB-A04A-3DB7656B3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D35A6-B07C-69CA-BD06-58344E95E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7FAB7B-151A-E19B-8B72-E546C29B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C44331-70B9-94BC-DFA2-1C7DD29B5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1"/>
            <a:ext cx="12192000" cy="6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15FDF-B09D-5C62-EC4B-FEC562AF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43EB4-E4B3-8D57-C459-EC9F490CD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19813-5D83-C4A8-70B0-267BD30E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26BC85-7E7B-A96C-2C1B-5F5631EE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A9E2-0046-750C-76C2-7B3AEBD9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7D2A4C-033A-1AAD-C56B-A63B9D6AB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7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4EDF4-AC86-BDB2-5CBE-0D34EB302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2ECF6-6074-B847-13CA-998333778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9F9F7-B42A-93EA-54FE-5F2AE3A6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5CEA76-2509-4080-22EF-9A0FB884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6248A8-BDDB-1A1E-4D8B-EDE848BB9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2ECF5C-6EF1-BC1A-1E40-F0E62B6A7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F2D3-C73B-9173-3D04-416C81C7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7C8EA6-A909-974B-A5FB-426E5CED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53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6C8C-FC42-F312-620A-E5033350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BDC55E-84BD-4E80-24B6-867667E53321}"/>
              </a:ext>
            </a:extLst>
          </p:cNvPr>
          <p:cNvSpPr txBox="1"/>
          <p:nvPr/>
        </p:nvSpPr>
        <p:spPr>
          <a:xfrm>
            <a:off x="0" y="215172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Dissipated Energy from Earthquake= 151305.03 </a:t>
            </a:r>
            <a:r>
              <a:rPr lang="en-US" sz="2400" b="1" dirty="0" err="1">
                <a:solidFill>
                  <a:schemeClr val="accent3"/>
                </a:solidFill>
              </a:rPr>
              <a:t>N·m.Rad</a:t>
            </a:r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Dissipated Energy from </a:t>
            </a:r>
            <a:r>
              <a:rPr lang="en-US" sz="2400" b="1">
                <a:solidFill>
                  <a:schemeClr val="accent3"/>
                </a:solidFill>
              </a:rPr>
              <a:t>Cyclic Rotation= </a:t>
            </a:r>
            <a:r>
              <a:rPr lang="en-US" sz="2400" b="1" dirty="0">
                <a:solidFill>
                  <a:schemeClr val="accent3"/>
                </a:solidFill>
              </a:rPr>
              <a:t>118230.32 </a:t>
            </a:r>
            <a:r>
              <a:rPr lang="en-US" sz="2400" b="1" dirty="0" err="1">
                <a:solidFill>
                  <a:schemeClr val="accent3"/>
                </a:solidFill>
              </a:rPr>
              <a:t>N·m.Rad</a:t>
            </a:r>
            <a:endParaRPr lang="en-US" sz="24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	FOR EVALUATION OF DISSIPATED ENERGY CAPACITY INDEX: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	CHECK THE CYCLIC ROTATION ANALYSIS AND IF IT IS POSSIBLE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		INCREASE THE ROTATION.</a:t>
            </a:r>
          </a:p>
        </p:txBody>
      </p:sp>
    </p:spTree>
    <p:extLst>
      <p:ext uri="{BB962C8B-B14F-4D97-AF65-F5344CB8AC3E}">
        <p14:creationId xmlns:p14="http://schemas.microsoft.com/office/powerpoint/2010/main" val="38129988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95FA-C8D1-77BF-BBD2-A5E20889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4D033-D0FF-9C67-B648-9B8E4BF4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24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3295885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Rotation        Base Moment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[1.88880391e-03 8.49961760e+04]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[1.31500000e-01 1.00300000e+05]]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45000000.00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762737.64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118074.86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69.62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1.1801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Rotation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69.6208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69.6208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82.1562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58.2884 (%)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A6803-A612-F8ED-8584-DA22044FC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C30A-BE03-4DBA-8FFF-AE784DA3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F874A5-9BE9-CE58-E080-D58F8CB7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36" y="733286"/>
            <a:ext cx="929052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731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8F684B-86DA-D447-EE47-59B14E5F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238</Words>
  <Application>Microsoft Office PowerPoint</Application>
  <PresentationFormat>Widescreen</PresentationFormat>
  <Paragraphs>38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138</cp:revision>
  <cp:lastPrinted>2026-07-15T12:11:01Z</cp:lastPrinted>
  <dcterms:created xsi:type="dcterms:W3CDTF">2025-06-03T10:37:48Z</dcterms:created>
  <dcterms:modified xsi:type="dcterms:W3CDTF">2026-09-30T06:52:44Z</dcterms:modified>
</cp:coreProperties>
</file>