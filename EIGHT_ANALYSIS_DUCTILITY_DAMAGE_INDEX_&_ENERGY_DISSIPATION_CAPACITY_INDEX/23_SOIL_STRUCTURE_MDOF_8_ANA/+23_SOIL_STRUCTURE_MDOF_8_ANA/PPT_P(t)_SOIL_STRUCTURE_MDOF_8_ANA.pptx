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6" r:id="rId2"/>
    <p:sldId id="258" r:id="rId3"/>
    <p:sldId id="370" r:id="rId4"/>
    <p:sldId id="369" r:id="rId5"/>
    <p:sldId id="352" r:id="rId6"/>
    <p:sldId id="259" r:id="rId7"/>
    <p:sldId id="323" r:id="rId8"/>
    <p:sldId id="302" r:id="rId9"/>
    <p:sldId id="324" r:id="rId10"/>
    <p:sldId id="306" r:id="rId11"/>
    <p:sldId id="336" r:id="rId12"/>
    <p:sldId id="346" r:id="rId13"/>
    <p:sldId id="354" r:id="rId14"/>
    <p:sldId id="355" r:id="rId15"/>
    <p:sldId id="368" r:id="rId16"/>
    <p:sldId id="367" r:id="rId17"/>
    <p:sldId id="304" r:id="rId18"/>
    <p:sldId id="261" r:id="rId19"/>
    <p:sldId id="325" r:id="rId20"/>
    <p:sldId id="337" r:id="rId21"/>
    <p:sldId id="347" r:id="rId22"/>
    <p:sldId id="356" r:id="rId23"/>
    <p:sldId id="357" r:id="rId24"/>
    <p:sldId id="377" r:id="rId25"/>
    <p:sldId id="308" r:id="rId26"/>
    <p:sldId id="265" r:id="rId27"/>
    <p:sldId id="326" r:id="rId28"/>
    <p:sldId id="266" r:id="rId29"/>
    <p:sldId id="309" r:id="rId30"/>
    <p:sldId id="348" r:id="rId31"/>
    <p:sldId id="358" r:id="rId32"/>
    <p:sldId id="359" r:id="rId33"/>
    <p:sldId id="311" r:id="rId34"/>
    <p:sldId id="312" r:id="rId35"/>
    <p:sldId id="327" r:id="rId36"/>
    <p:sldId id="313" r:id="rId37"/>
    <p:sldId id="314" r:id="rId38"/>
    <p:sldId id="315" r:id="rId39"/>
    <p:sldId id="349" r:id="rId40"/>
    <p:sldId id="360" r:id="rId41"/>
    <p:sldId id="361" r:id="rId42"/>
    <p:sldId id="263" r:id="rId43"/>
    <p:sldId id="329" r:id="rId44"/>
    <p:sldId id="268" r:id="rId45"/>
    <p:sldId id="269" r:id="rId46"/>
    <p:sldId id="342" r:id="rId47"/>
    <p:sldId id="350" r:id="rId48"/>
    <p:sldId id="362" r:id="rId49"/>
    <p:sldId id="363" r:id="rId50"/>
    <p:sldId id="374" r:id="rId51"/>
    <p:sldId id="320" r:id="rId52"/>
    <p:sldId id="275" r:id="rId53"/>
    <p:sldId id="328" r:id="rId54"/>
    <p:sldId id="276" r:id="rId55"/>
    <p:sldId id="343" r:id="rId56"/>
    <p:sldId id="351" r:id="rId57"/>
    <p:sldId id="353" r:id="rId58"/>
    <p:sldId id="364" r:id="rId59"/>
    <p:sldId id="375" r:id="rId60"/>
    <p:sldId id="366" r:id="rId61"/>
    <p:sldId id="371" r:id="rId62"/>
    <p:sldId id="373" r:id="rId63"/>
    <p:sldId id="365" r:id="rId64"/>
    <p:sldId id="376" r:id="rId65"/>
    <p:sldId id="388" r:id="rId66"/>
    <p:sldId id="372" r:id="rId67"/>
    <p:sldId id="390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07995-07ED-4186-8CBF-74238507783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29872-7431-4088-89BE-A8A85D40B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29872-7431-4088-89BE-A8A85D40B513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89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-1" y="412760"/>
            <a:ext cx="12192001" cy="577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A MULTI-DEGREE-FREEDOM SOIL STRUCTURE SYSTEM: AN OPENSEES FRAMEWORK FOR STATIC PUSHOVER, CYCLIC DEGRADATION, STATIC TIME-HISTORY AND DYNAMIC TIME-HISTORY ANALYSIS       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AFAC24-720D-5D5C-564D-DB2A46DC0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301"/>
            <a:ext cx="12192000" cy="670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27832-958A-C05F-2A21-877693E7D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0DFF6E-EC4D-34A1-6F7F-6DF796ED3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75" y="0"/>
            <a:ext cx="113550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81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749" y="2806095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910" y="3865335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226" y="2722275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026" y="3949155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93F3BE-4908-3F2A-4E5E-1FF1DF89E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192" y="1480275"/>
            <a:ext cx="6004834" cy="4937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0548FD-DC7B-F3CB-26E8-1B40C1761247}"/>
              </a:ext>
            </a:extLst>
          </p:cNvPr>
          <p:cNvSpPr txBox="1"/>
          <p:nvPr/>
        </p:nvSpPr>
        <p:spPr>
          <a:xfrm>
            <a:off x="4025564" y="779085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692D8A-2937-8F7F-C5F9-A0837A36C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313"/>
            <a:ext cx="12192000" cy="661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D30D6E-86A7-E6A1-972F-1D48F8B88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807"/>
            <a:ext cx="12192000" cy="654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DE1D7B-72A1-F1DC-51DC-FCB0BC7B2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807"/>
            <a:ext cx="12192000" cy="654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093F68-FF93-9E1D-2FF7-7CC696648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28C8BE-A7BF-48FD-A6A7-6BFBF5B89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5696-57B9-1595-E925-344B167E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6ED1B4-DD44-30F8-B170-89E56ABDE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8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DC99-2425-4A35-D093-E249B198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A72BE9-2E62-26A0-69D3-1B8B76CB7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46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27706-AE6A-C56F-2A6F-57375574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8E6254-5E96-65C2-284E-FCF423D85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54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8D50B-E437-2A2F-1212-622F94B66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8E0EAA-C6D9-A04E-9DFD-4808C66EC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60"/>
            <a:ext cx="12192000" cy="654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66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960" y="396739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747" y="5032511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960" y="1936656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435" y="3644213"/>
            <a:ext cx="2644666" cy="10058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2DF584-6257-88ED-1CBE-F8BC2F9668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03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02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5711D6-F9F4-14C8-4C4C-83E3606A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931"/>
            <a:ext cx="12192000" cy="652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36B2AB-7101-DE7E-91D1-DD9D69ADA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2E69F8-A317-7795-5386-D87052664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9D20-4CB6-F3FD-0D39-057F99D0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8211F0-59F7-F883-D725-ACA0AC84C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55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4782B-A32A-DA0A-1D41-49370115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9E098A-75AB-7321-8B33-EEF836EC4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58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2E9BA-3D74-A0FE-8076-B9244850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41ABEE-69CA-923E-6F3A-1C2B95646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9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CA49A-0FA1-9611-0CCF-089FFAAD0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B79A1E-D77F-7063-4742-1849106D2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136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EC12B2-041C-CDAB-BF16-9E61E1090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17"/>
            <a:ext cx="12192000" cy="65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FAC755-87DD-454A-BFD0-C4E615D0B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F4F3D0-B2C7-A91B-328D-F55C45A3B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9911-636D-8A77-A96F-6955F5E3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1D6EDE-6F6A-89AF-2332-BCA73140F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022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D4FA-7169-82A7-2D24-8FB47B1D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348853-5659-C9F3-5C8F-F97998F84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2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949BF-7DE9-B8FE-6439-0C38D7A2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505649-6516-40CA-339B-A007A058A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83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110423-F9A0-0EE1-B190-15520AAE2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87"/>
            <a:ext cx="12192000" cy="660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D43D46-5313-6F92-9440-7CC8B627D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831" y="234786"/>
            <a:ext cx="9468337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61F00E-DAFE-ED40-5BC0-898EA57EF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25696D-B7BB-AC6C-DC66-586A99017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6E30-6B79-9269-BEE3-E1BE4B2A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E5DE88-4B98-756C-2A3F-DEF40FA55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122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7AFA-1857-4098-506E-B7C6D98F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1ABEA3-89FA-28CD-4B6B-0C804363A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467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D32F-C164-398E-E13F-87E6E1E0D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59A98-F810-8781-5DF0-A9B6BB11F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942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D2FA32-3BF7-8AC1-924A-B3ECA8307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46"/>
            <a:ext cx="12192000" cy="659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D7ADD5-3259-8072-F3CE-03E2B871E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EE4FA7-0D93-D10A-D0BC-33974A67D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CF93-E546-5385-3D34-9DCB050A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143605-4862-0EB4-9280-6C8765D72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00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941F-53F2-A531-18B3-E49D5112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905504-1F9D-3E36-9698-53FD6FB2A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713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8B10-90E0-2E32-FD77-02CA0595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CF4A10-0149-558E-A5CD-585DF015B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578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07967-924B-69E6-8B34-877E342F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FB94B0-7465-0C6D-F2FA-0CFD0877E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3564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AD45E-8F1F-16CA-ED51-D6D6B4ABE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B7A516-CA4A-182D-D2E6-68ABE4DB0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100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7156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00340D-3534-FB3A-18FF-81B984CE7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87"/>
            <a:ext cx="12192000" cy="660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7F458A-992F-97C3-880E-80BE04997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C4B27C-DB74-223C-85BA-052891922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63C0-B049-0039-4236-03262F0D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77ABFB-C945-E281-0849-8A48F3688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157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84B45-B65C-05BA-9183-0058E989C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657B0F-7B41-F565-B195-679030443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628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093A-B1A7-983F-CFEB-62D2B5C8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A31E5E-7198-787A-3B7F-E84C7E953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2317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1D55-5E77-23A8-19E3-43647EA1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ED545B-0EB7-94B3-60D9-0ECB51469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956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DBF2F-B674-0B9F-7178-17FFED55F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6079FE-2AF4-218F-3B16-287B7A5FE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30466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2732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64E96-CC8E-BD2D-1C34-EDA5F61EB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F558C1-75CF-364B-6328-4BB1C14FB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273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7BB5B-8264-16DB-F79B-52CEA1EF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EC3390-0166-FA4F-2155-F6C4384F3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7707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3E09A-F4BD-E995-6A8A-0E042B345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29ACD4-2062-032A-3D89-10367B10B8AF}"/>
              </a:ext>
            </a:extLst>
          </p:cNvPr>
          <p:cNvSpPr txBox="1"/>
          <p:nvPr/>
        </p:nvSpPr>
        <p:spPr>
          <a:xfrm>
            <a:off x="0" y="2459504"/>
            <a:ext cx="1219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Dissipated Energy from Earthquake= 160040.58 </a:t>
            </a:r>
            <a:r>
              <a:rPr lang="en-US" sz="2400" b="1" dirty="0" err="1">
                <a:solidFill>
                  <a:schemeClr val="accent3"/>
                </a:solidFill>
              </a:rPr>
              <a:t>N·m</a:t>
            </a:r>
            <a:endParaRPr lang="en-US" sz="2400" b="1" dirty="0">
              <a:solidFill>
                <a:schemeClr val="accent3"/>
              </a:solidFill>
            </a:endParaRPr>
          </a:p>
          <a:p>
            <a:r>
              <a:rPr lang="en-US" sz="2400" b="1" dirty="0">
                <a:solidFill>
                  <a:schemeClr val="accent3"/>
                </a:solidFill>
              </a:rPr>
              <a:t>Dissipated Energy from Cyclic Displacement= 302221.47 </a:t>
            </a:r>
            <a:r>
              <a:rPr lang="en-US" sz="2400" b="1" dirty="0" err="1">
                <a:solidFill>
                  <a:schemeClr val="accent3"/>
                </a:solidFill>
              </a:rPr>
              <a:t>N·m</a:t>
            </a:r>
            <a:endParaRPr lang="en-US" sz="2400" b="1" dirty="0">
              <a:solidFill>
                <a:schemeClr val="accent3"/>
              </a:solidFill>
            </a:endParaRPr>
          </a:p>
          <a:p>
            <a:endParaRPr lang="en-US" sz="2400" b="1" dirty="0">
              <a:solidFill>
                <a:schemeClr val="accent3"/>
              </a:solidFill>
            </a:endParaRPr>
          </a:p>
          <a:p>
            <a:r>
              <a:rPr lang="en-US" sz="2400" b="1" dirty="0">
                <a:solidFill>
                  <a:schemeClr val="accent3"/>
                </a:solidFill>
              </a:rPr>
              <a:t>	</a:t>
            </a:r>
            <a:r>
              <a:rPr lang="en-US" sz="2400" b="1" dirty="0">
                <a:solidFill>
                  <a:srgbClr val="FF0000"/>
                </a:solidFill>
              </a:rPr>
              <a:t>DISSIPATED ENERGY CAPACITY INDEX: 52.955 [%]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	ZONE 6: SEVERE–LOW DAMAGE</a:t>
            </a:r>
          </a:p>
        </p:txBody>
      </p:sp>
    </p:spTree>
    <p:extLst>
      <p:ext uri="{BB962C8B-B14F-4D97-AF65-F5344CB8AC3E}">
        <p14:creationId xmlns:p14="http://schemas.microsoft.com/office/powerpoint/2010/main" val="6001170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AA78-BE7D-F1F6-9E56-FC94D0A9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FDAC8-2488-71C2-1609-1226B43AA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88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C2991-8222-233F-4890-62A0FF563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CA340E-0CE1-D46F-F4FF-E240DACA6171}"/>
              </a:ext>
            </a:extLst>
          </p:cNvPr>
          <p:cNvSpPr txBox="1"/>
          <p:nvPr/>
        </p:nvSpPr>
        <p:spPr>
          <a:xfrm>
            <a:off x="3124435" y="612844"/>
            <a:ext cx="75295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</a:t>
            </a:r>
            <a:r>
              <a:rPr lang="en-US" b="1" dirty="0" err="1">
                <a:solidFill>
                  <a:schemeClr val="accent3"/>
                </a:solidFill>
              </a:rPr>
              <a:t>Disp</a:t>
            </a:r>
            <a:r>
              <a:rPr lang="en-US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[1.88855309e-02 8.49848890e+04]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[3.49000000e-01 9.93381699e+04]]</a:t>
            </a:r>
          </a:p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Elastic Stiffness :     4500000.00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Plastic Stiffness :     284636.59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Tangent Stiffness :     43479.71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Ductility Ratio :       18.48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Over Strength Factor:   1.17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Over Strength Coefficient (</a:t>
            </a:r>
            <a:r>
              <a:rPr lang="el-GR" b="1" dirty="0">
                <a:solidFill>
                  <a:schemeClr val="accent3"/>
                </a:solidFill>
              </a:rPr>
              <a:t>Ω0):      1.1745</a:t>
            </a:r>
          </a:p>
          <a:p>
            <a:r>
              <a:rPr lang="en-US" b="1" dirty="0">
                <a:solidFill>
                  <a:schemeClr val="accent3"/>
                </a:solidFill>
              </a:rPr>
              <a:t>Displacement Ductility Ratio (</a:t>
            </a:r>
            <a:r>
              <a:rPr lang="el-GR" b="1" dirty="0">
                <a:solidFill>
                  <a:schemeClr val="accent3"/>
                </a:solidFill>
              </a:rPr>
              <a:t>μ):    19.0621</a:t>
            </a:r>
          </a:p>
          <a:p>
            <a:r>
              <a:rPr lang="en-US" b="1" dirty="0">
                <a:solidFill>
                  <a:schemeClr val="accent3"/>
                </a:solidFill>
              </a:rPr>
              <a:t>Ductility Coefficient (R</a:t>
            </a:r>
            <a:r>
              <a:rPr lang="el-GR" b="1" dirty="0">
                <a:solidFill>
                  <a:schemeClr val="accent3"/>
                </a:solidFill>
              </a:rPr>
              <a:t>μ):          19.0621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Behavior Coefficient (R): 22.3886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Ductility Damage Index in X Direction: 17.9620 (%)</a:t>
            </a:r>
          </a:p>
        </p:txBody>
      </p:sp>
    </p:spTree>
    <p:extLst>
      <p:ext uri="{BB962C8B-B14F-4D97-AF65-F5344CB8AC3E}">
        <p14:creationId xmlns:p14="http://schemas.microsoft.com/office/powerpoint/2010/main" val="25430236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6037A-B7F7-6A8D-9C7D-A8A9C35C7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08708F-9D2B-80C8-8AB9-F0DC629D7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707" y="733286"/>
            <a:ext cx="943658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502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86E7A-61E3-76B7-59D2-CA626767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E8EC20-EE3F-F4C4-342F-0F99E2AE6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37" y="733286"/>
            <a:ext cx="923972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220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E38C3-70C1-0CBF-D138-07FFFA213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BD4B23-B148-54E7-FBCF-5D0D56872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77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244</Words>
  <Application>Microsoft Office PowerPoint</Application>
  <PresentationFormat>Widescreen</PresentationFormat>
  <Paragraphs>40</Paragraphs>
  <Slides>67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161</cp:revision>
  <cp:lastPrinted>2026-03-23T10:01:33Z</cp:lastPrinted>
  <dcterms:created xsi:type="dcterms:W3CDTF">2025-06-03T10:37:48Z</dcterms:created>
  <dcterms:modified xsi:type="dcterms:W3CDTF">2026-08-13T17:32:47Z</dcterms:modified>
</cp:coreProperties>
</file>