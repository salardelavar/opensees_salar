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81" r:id="rId4"/>
    <p:sldId id="389" r:id="rId5"/>
    <p:sldId id="302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6" r:id="rId30"/>
    <p:sldId id="407" r:id="rId31"/>
    <p:sldId id="408" r:id="rId32"/>
    <p:sldId id="409" r:id="rId33"/>
    <p:sldId id="410" r:id="rId34"/>
    <p:sldId id="411" r:id="rId35"/>
    <p:sldId id="412" r:id="rId36"/>
    <p:sldId id="413" r:id="rId37"/>
    <p:sldId id="414" r:id="rId38"/>
    <p:sldId id="41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9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73818" y="366623"/>
            <a:ext cx="1204436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3600" b="1" dirty="0">
                <a:solidFill>
                  <a:schemeClr val="accent5"/>
                </a:solidFill>
              </a:rPr>
              <a:t>SENSITIVITY ANALYSIS OF SOIL DAMPING RATIO, YIELD STRENGTH, ELASTIC STIFFNESS, DUCTILITY RATIO AND OVER-STRENGTH FACTOR ON THE SEISMIC PERFORMANCE OF SOIL–STRUCTURE MDOF SYSTEMS USING OPENSEES: CYCLIC DISPLACEMENT AND SEISMIC TIME-HISTORY ANALYSES WITH EVALUATION OF PERIOD ELONGATION,ENERGY DISSIPATION CAPACITY INDEX, EQUIVALENT VISCOUS DAMPING RATIO, DUCTILITY DAMAGE INDEX AND RECONSTRUCTION COST</a:t>
            </a:r>
          </a:p>
          <a:p>
            <a:pPr algn="ctr"/>
            <a:r>
              <a:rPr lang="en-US" sz="14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9DEC99-C561-B721-8910-9364542F0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65"/>
            <a:ext cx="12192000" cy="677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8DEB4-B7F4-6528-34C3-6292A8CB13EA}"/>
              </a:ext>
            </a:extLst>
          </p:cNvPr>
          <p:cNvSpPr txBox="1"/>
          <p:nvPr/>
        </p:nvSpPr>
        <p:spPr>
          <a:xfrm>
            <a:off x="0" y="920621"/>
            <a:ext cx="121919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This </a:t>
            </a:r>
            <a:r>
              <a:rPr lang="en-US" sz="2000" b="1" dirty="0" err="1"/>
              <a:t>OpenSeesPy</a:t>
            </a:r>
            <a:r>
              <a:rPr lang="en-US" sz="2000" b="1" dirty="0"/>
              <a:t>-based Python framework performs a comprehensive multi-parameter</a:t>
            </a:r>
          </a:p>
          <a:p>
            <a:r>
              <a:rPr lang="en-US" sz="2000" b="1" dirty="0"/>
              <a:t> sensitivity analysis of a two-degree-of-freedom nonlinear soil–structure system subjected</a:t>
            </a:r>
          </a:p>
          <a:p>
            <a:r>
              <a:rPr lang="en-US" sz="2000" b="1" dirty="0"/>
              <a:t> to both cyclic displacement protocols and selected ground-motion time histories.</a:t>
            </a:r>
          </a:p>
          <a:p>
            <a:r>
              <a:rPr lang="en-US" sz="2000" b="1" dirty="0"/>
              <a:t> By systematically varying soil yield strength, elastic stiffness, ductility ratio,</a:t>
            </a:r>
          </a:p>
          <a:p>
            <a:r>
              <a:rPr lang="en-US" sz="2000" b="1" dirty="0"/>
              <a:t> over-strength factor, and viscous damping ratios of both soil and structure across a</a:t>
            </a:r>
          </a:p>
          <a:p>
            <a:r>
              <a:rPr lang="en-US" sz="2000" b="1" dirty="0"/>
              <a:t> discrete design space, the code assembles a high-fidelity hysteretic model using multi-linear</a:t>
            </a:r>
          </a:p>
          <a:p>
            <a:r>
              <a:rPr lang="en-US" sz="2000" b="1" dirty="0"/>
              <a:t> </a:t>
            </a:r>
            <a:r>
              <a:rPr lang="en-US" sz="2000" b="1" dirty="0" err="1"/>
              <a:t>OpenSees</a:t>
            </a:r>
            <a:r>
              <a:rPr lang="en-US" sz="2000" b="1" dirty="0"/>
              <a:t> hysteretic materials and parallel viscous dampers, extracts instantaneous eigenvalue</a:t>
            </a:r>
          </a:p>
          <a:p>
            <a:r>
              <a:rPr lang="en-US" sz="2000" b="1" dirty="0"/>
              <a:t> periods at every analysis step to quantify period elongation, and computes a suite of performance</a:t>
            </a:r>
          </a:p>
          <a:p>
            <a:r>
              <a:rPr lang="en-US" sz="2000" b="1" dirty="0"/>
              <a:t> metrics including peak displacement, velocity and acceleration demands, energy-dissipation capacity </a:t>
            </a:r>
          </a:p>
          <a:p>
            <a:r>
              <a:rPr lang="en-US" sz="2000" b="1" dirty="0"/>
              <a:t> index, equivalent viscous damping ratio from hysteresis loops, ductility-based damage index, and </a:t>
            </a:r>
          </a:p>
          <a:p>
            <a:r>
              <a:rPr lang="en-US" sz="2000" b="1" dirty="0"/>
              <a:t> reconstruction cost. Extensive post-processing then generates correlation scatter plots,</a:t>
            </a:r>
          </a:p>
          <a:p>
            <a:r>
              <a:rPr lang="en-US" sz="2000" b="1" dirty="0"/>
              <a:t> three-dimensional response surfaces, Pearson sensitivity heatmaps, Random-Forest safety</a:t>
            </a:r>
          </a:p>
          <a:p>
            <a:r>
              <a:rPr lang="en-US" sz="2000" b="1" dirty="0"/>
              <a:t> classification, and both main-effect and interaction ANOVA tables, thereby ranking the relative</a:t>
            </a:r>
          </a:p>
          <a:p>
            <a:r>
              <a:rPr lang="en-US" sz="2000" b="1" dirty="0"/>
              <a:t> influence of each soil and structural parameter on seismic performance and providing a rigorous</a:t>
            </a:r>
          </a:p>
          <a:p>
            <a:r>
              <a:rPr lang="en-US" sz="2000" b="1" dirty="0"/>
              <a:t> quantitative basis for performance-based design and risk assessment of soil–structure systems.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FCC4-1A0D-DEC4-8493-6EE8FEA9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2943CB-D051-2269-55AA-67CF8515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11"/>
            <a:ext cx="12192000" cy="65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2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B7EC48-0B32-2FA0-156D-3D009EF4A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2EBE-2F91-D574-1891-A35009DD6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62D502-F55F-FCE6-509F-678AB4C0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14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1751-DF84-F329-1BD6-A7D7A777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282551-DDB3-F50F-6043-7FD637996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89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AC02A-C67C-65B7-C4A4-4DFDF115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82F52E-AD08-6E38-6F7F-6A9B6E5C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8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5746-9A71-B49B-2BD5-FB3068CAD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398E5B-F0BD-950D-063F-F934C7D0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651" y="936497"/>
            <a:ext cx="773469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3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5899C-D0B2-4B04-A45B-8E2540D92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C3DE3-3CB7-4C5E-7BC4-5DB75BBEA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4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98D2-4BE1-006B-8567-1991DBA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2AFF5C-BA02-9965-E012-9BDFD2E5E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485" y="936497"/>
            <a:ext cx="835702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88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3B88C-A7A1-91F0-AB71-37E0C70A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907D28-EEC4-1655-BD1E-F94FDAB9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936497"/>
            <a:ext cx="86110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52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75A2B-5BAD-9835-4D2C-F741A16B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B20EE1-9CB8-4750-82D9-0DE1A02F4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47" y="936497"/>
            <a:ext cx="78871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4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B0EB-9B74-E5B3-2CFF-DAD04435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9429CE-A25E-FEAD-4832-51CBCB2B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915" y="936497"/>
            <a:ext cx="816016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76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EDFD-B71A-F99A-1F74-95E497D6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F24681-A82A-B427-F6F2-BAF9BF59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784" y="936497"/>
            <a:ext cx="838243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2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A315-19A6-3579-447D-E46F424D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E6DBB-4F14-9D25-B0AE-F4259B4DC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377" y="276063"/>
            <a:ext cx="8687246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53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7D4B-1917-4BCF-7B31-36F522BA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85497-D028-E72F-6F5E-A11CD5F7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81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D7051-94AB-73C4-CFC1-0B355AE2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178F7-77E5-8CC2-12E3-9B9A097AC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26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1858B-8EB8-329B-ED66-0A743861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BA5FB0-4ABE-68CA-149E-DD390D29B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654" y="342741"/>
            <a:ext cx="8604692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8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A39C4-3A85-6E1E-43F3-950F2B29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D9AB4-EA29-A89D-D2C9-7E7B59B5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099" y="276063"/>
            <a:ext cx="876980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98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6E6B-A97F-77AE-B73C-B0825A5B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65FE0-49E7-309D-D2F5-54E0D22AF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71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F293-E9BF-40FF-78A2-BDDDC01B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9E4E0F-9C95-227A-2086-4C94E595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705" y="276063"/>
            <a:ext cx="85665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05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03B9E-89D1-8362-26C4-5594E901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8A385-F610-ECF6-EF95-BFE6F128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705" y="276063"/>
            <a:ext cx="85665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48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9AE34-9602-93E8-A054-D12ED6ADE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BF691-80C6-7922-437B-4F1B546B8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399" y="276063"/>
            <a:ext cx="8795202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92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87AF-6B38-1CF5-3D93-D41BCB3C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80AD92-0AAE-CCE7-53D1-E02B55D1C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705" y="276063"/>
            <a:ext cx="85665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94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0DF9-F58D-F402-F936-5D3B00CCA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1A8250-6F7E-859F-F0F5-6151835C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194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41AFA-3661-39F0-D163-9AE0EF14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DEF2E-FD37-33CC-19AB-CB0D70E13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756" y="276063"/>
            <a:ext cx="8528488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90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F952-7DFF-0109-5E37-D959ECEA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F73BA-2CB0-BDEF-19CA-0BB079D9B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71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33D4E-91F2-AB02-719A-11A2E841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309A7-18DB-350F-CE87-561FCFBE9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30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9535-6460-85F6-A600-7B3BF49F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8921A-5FB4-B527-7F13-A2D0BC8C7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21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CFF2-CEF9-5C19-6B65-67501A99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71835F-2917-57CB-1080-3C8369DA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377" y="276063"/>
            <a:ext cx="8687246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47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F9F1D-C502-2831-2D5E-0B299AED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5D212C-99A0-044D-6E12-01BD4926B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150" y="276063"/>
            <a:ext cx="873169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89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15C8-C728-1E5B-068B-8A4B87D7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69C74-8E45-F61F-A14E-A5FBDF6F5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873" y="276063"/>
            <a:ext cx="881425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03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3E72-7DDF-93F0-DDC6-4DC1B053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4D35C-E884-4EB7-9595-EE680C2B7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84" y="0"/>
            <a:ext cx="6853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212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0EFB2-F53D-DDE6-6ED4-DDC84E0E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1448B9-B05F-4C7A-0B5A-017F301C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53" y="88174"/>
            <a:ext cx="11144397" cy="66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30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3EAF-AF93-71AE-273B-6A2C3FED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975166-452B-B711-AF30-1185FB54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477" y="142421"/>
            <a:ext cx="8679046" cy="65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66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5310E-1032-081E-4549-15C1CC26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B8A51-0154-FE02-472B-D26E4474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20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FA7EB-DD50-7578-460C-84B1E5D6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F04C5A-22E9-DE3C-A13E-2E675EC49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94" y="733286"/>
            <a:ext cx="899841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1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287</Words>
  <Application>Microsoft Office PowerPoint</Application>
  <PresentationFormat>Widescreen</PresentationFormat>
  <Paragraphs>18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219</cp:revision>
  <cp:lastPrinted>2026-10-24T08:25:44Z</cp:lastPrinted>
  <dcterms:created xsi:type="dcterms:W3CDTF">2025-06-03T10:37:48Z</dcterms:created>
  <dcterms:modified xsi:type="dcterms:W3CDTF">2026-10-24T08:34:19Z</dcterms:modified>
</cp:coreProperties>
</file>