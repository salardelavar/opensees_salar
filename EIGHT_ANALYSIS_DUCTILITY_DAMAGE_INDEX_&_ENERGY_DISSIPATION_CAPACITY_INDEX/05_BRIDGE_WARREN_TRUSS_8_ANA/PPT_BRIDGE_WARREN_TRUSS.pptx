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322" r:id="rId5"/>
    <p:sldId id="259" r:id="rId6"/>
    <p:sldId id="323" r:id="rId7"/>
    <p:sldId id="303" r:id="rId8"/>
    <p:sldId id="302" r:id="rId9"/>
    <p:sldId id="260" r:id="rId10"/>
    <p:sldId id="324" r:id="rId11"/>
    <p:sldId id="306" r:id="rId12"/>
    <p:sldId id="305" r:id="rId13"/>
    <p:sldId id="304" r:id="rId14"/>
    <p:sldId id="261" r:id="rId15"/>
    <p:sldId id="325" r:id="rId16"/>
    <p:sldId id="262" r:id="rId17"/>
    <p:sldId id="340" r:id="rId18"/>
    <p:sldId id="307" r:id="rId19"/>
    <p:sldId id="308" r:id="rId20"/>
    <p:sldId id="265" r:id="rId21"/>
    <p:sldId id="326" r:id="rId22"/>
    <p:sldId id="266" r:id="rId23"/>
    <p:sldId id="310" r:id="rId24"/>
    <p:sldId id="267" r:id="rId25"/>
    <p:sldId id="311" r:id="rId26"/>
    <p:sldId id="312" r:id="rId27"/>
    <p:sldId id="327" r:id="rId28"/>
    <p:sldId id="313" r:id="rId29"/>
    <p:sldId id="314" r:id="rId30"/>
    <p:sldId id="315" r:id="rId31"/>
    <p:sldId id="330" r:id="rId32"/>
    <p:sldId id="331" r:id="rId33"/>
    <p:sldId id="337" r:id="rId34"/>
    <p:sldId id="316" r:id="rId35"/>
    <p:sldId id="317" r:id="rId36"/>
    <p:sldId id="318" r:id="rId37"/>
    <p:sldId id="319" r:id="rId38"/>
    <p:sldId id="263" r:id="rId39"/>
    <p:sldId id="268" r:id="rId40"/>
    <p:sldId id="329" r:id="rId41"/>
    <p:sldId id="269" r:id="rId42"/>
    <p:sldId id="270" r:id="rId43"/>
    <p:sldId id="332" r:id="rId44"/>
    <p:sldId id="333" r:id="rId45"/>
    <p:sldId id="338" r:id="rId46"/>
    <p:sldId id="271" r:id="rId47"/>
    <p:sldId id="272" r:id="rId48"/>
    <p:sldId id="273" r:id="rId49"/>
    <p:sldId id="341" r:id="rId50"/>
    <p:sldId id="274" r:id="rId51"/>
    <p:sldId id="320" r:id="rId52"/>
    <p:sldId id="275" r:id="rId53"/>
    <p:sldId id="328" r:id="rId54"/>
    <p:sldId id="276" r:id="rId55"/>
    <p:sldId id="277" r:id="rId56"/>
    <p:sldId id="334" r:id="rId57"/>
    <p:sldId id="335" r:id="rId58"/>
    <p:sldId id="339" r:id="rId59"/>
    <p:sldId id="278" r:id="rId60"/>
    <p:sldId id="279" r:id="rId61"/>
    <p:sldId id="280" r:id="rId62"/>
    <p:sldId id="321" r:id="rId63"/>
    <p:sldId id="346" r:id="rId64"/>
    <p:sldId id="336" r:id="rId65"/>
    <p:sldId id="343" r:id="rId66"/>
    <p:sldId id="344" r:id="rId67"/>
    <p:sldId id="345" r:id="rId68"/>
    <p:sldId id="342" r:id="rId6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4660"/>
  </p:normalViewPr>
  <p:slideViewPr>
    <p:cSldViewPr snapToGrid="0">
      <p:cViewPr varScale="1">
        <p:scale>
          <a:sx n="67" d="100"/>
          <a:sy n="67" d="100"/>
        </p:scale>
        <p:origin x="8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B20A0-BB54-8C05-4883-84DD448D638B}"/>
              </a:ext>
            </a:extLst>
          </p:cNvPr>
          <p:cNvSpPr txBox="1"/>
          <p:nvPr/>
        </p:nvSpPr>
        <p:spPr>
          <a:xfrm>
            <a:off x="952500" y="582067"/>
            <a:ext cx="102870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4800" b="1" dirty="0">
                <a:solidFill>
                  <a:schemeClr val="accent5"/>
                </a:solidFill>
              </a:rPr>
              <a:t>COMPREHENSIVE NONLINEAR SEISMIC ASSESSMENT OF STEEL TRUSS BRIDGES: AN OPENSEES FRAMEWORK FOR STATIC PUSHOVER, CYCLIC DEGRADATION, STATIC TIME-HISTORY AND DYNAMIC TIME-HISTORY ANALYSIS        </a:t>
            </a:r>
            <a:r>
              <a:rPr lang="en-US" sz="1200" b="1" dirty="0">
                <a:solidFill>
                  <a:schemeClr val="accent3"/>
                </a:solidFill>
              </a:rPr>
              <a:t>THIS PROGRAM IS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4F8726-0884-16C1-C496-9F70F55A7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5" y="0"/>
            <a:ext cx="120876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538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13720D-632B-E7C9-2C37-76A9A942F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208942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CE6327-20BB-284C-4DD4-29CDD2B6B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8942" y="182880"/>
            <a:ext cx="4958074" cy="649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6EEF4-8787-065C-13DE-5F327E105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6F1381-BD5D-D7D5-AB27-A2DA64B46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601"/>
            <a:ext cx="12192000" cy="6560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235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F8AF4-F71D-1920-08A4-7FFFAC02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72B964-3094-74F1-711C-527BD9CB5E8E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ANALYSIS</a:t>
            </a:r>
          </a:p>
        </p:txBody>
      </p:sp>
    </p:spTree>
    <p:extLst>
      <p:ext uri="{BB962C8B-B14F-4D97-AF65-F5344CB8AC3E}">
        <p14:creationId xmlns:p14="http://schemas.microsoft.com/office/powerpoint/2010/main" val="1068325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90C22-AA40-AB9A-9761-537B2162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C3F2C8-C0CD-7840-831E-8D48F2961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470"/>
            <a:ext cx="12192000" cy="654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779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6117B-CD12-A128-A9F4-EBB15AF42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EE1748-23DC-90DD-3721-F1BF69F67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355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3619-7286-F4EC-EE51-7221FC922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5A9AE0-54D8-DDD3-2CB5-62CDD961B7A7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PUSHOVER ANALYSIS</a:t>
            </a:r>
          </a:p>
        </p:txBody>
      </p:sp>
    </p:spTree>
    <p:extLst>
      <p:ext uri="{BB962C8B-B14F-4D97-AF65-F5344CB8AC3E}">
        <p14:creationId xmlns:p14="http://schemas.microsoft.com/office/powerpoint/2010/main" val="90624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64AFA-E393-622E-B50A-98121ABF8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FB8176F-953F-5144-D5EE-25EF65E33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129"/>
            <a:ext cx="12192000" cy="6607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957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E365-FCCC-FF67-C4EE-3B976A78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4D3C51-48B1-FA2C-ABCF-9075161F9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82" y="234786"/>
            <a:ext cx="9430235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86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C598A-E1FD-6CB3-81ED-DEDA30E99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A1747B-D0E7-6CFB-4A65-162684776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160" y="234786"/>
            <a:ext cx="93476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13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FFB88-23EF-2C70-41A4-3F7554EE6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4BE211-C11E-2BD9-0DE4-1CF4C47AC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697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6642-CFC3-3863-C174-585452CC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CE8190-0CAD-1F63-AA6A-3E9111BF0796}"/>
              </a:ext>
            </a:extLst>
          </p:cNvPr>
          <p:cNvSpPr txBox="1"/>
          <p:nvPr/>
        </p:nvSpPr>
        <p:spPr>
          <a:xfrm>
            <a:off x="1843087" y="2459504"/>
            <a:ext cx="89439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CYCLIC DISPLACEMENT ANALYSIS</a:t>
            </a:r>
          </a:p>
        </p:txBody>
      </p:sp>
    </p:spTree>
    <p:extLst>
      <p:ext uri="{BB962C8B-B14F-4D97-AF65-F5344CB8AC3E}">
        <p14:creationId xmlns:p14="http://schemas.microsoft.com/office/powerpoint/2010/main" val="686636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0A545-5A10-9F1B-45A2-F44A2616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DBAAB3-0FD7-9E1E-58A5-27A5FFC01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667"/>
            <a:ext cx="12192000" cy="655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73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FB424-8A93-DAB4-EA03-8FA2907BE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51BFB5-5311-FA86-6D53-574F6C39F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785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41867-57CD-0DD2-A0EF-FD1443BA6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B645C6-B555-A9C1-73CF-9E69E410D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894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E0C7F-F17F-75A3-599B-89927AEC9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B68878-C77A-8B8E-9832-8A5E4B370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5788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A9F5F-3F08-460B-95CE-E74CA5BD5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1DE904-3E1A-3A26-EDA2-0F8AA0904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7195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3F20-B8F0-61CD-7105-05376A6A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C8AE3F-60FB-913F-ADE8-ADED74306ACB}"/>
              </a:ext>
            </a:extLst>
          </p:cNvPr>
          <p:cNvSpPr txBox="1"/>
          <p:nvPr/>
        </p:nvSpPr>
        <p:spPr>
          <a:xfrm>
            <a:off x="452437" y="1536174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3717988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5BD7-E78D-605C-1FC7-03F79B04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7E638C-DCA2-75CD-06B9-A2BE9F036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953"/>
            <a:ext cx="12192000" cy="6580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36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D9EB2-C6F0-F914-10C6-15678372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4953C6-887F-3541-F78D-4A2845A15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797" y="936497"/>
            <a:ext cx="787440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41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808B4-C346-204E-0B48-325AC4B77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8F62373-297C-298D-5644-BB4DD6ECE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82" y="234786"/>
            <a:ext cx="9430235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344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EC418-E5BC-8617-2C8C-83DB5D0FA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80632E-260F-5318-6CCD-8A748E633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583" y="234786"/>
            <a:ext cx="9404833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9463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2D2EA-FEB9-0710-4780-FCF5CA47F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5E1A07C-0A24-CE1B-C05F-A84823E18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5550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209FD-35F5-599A-B427-EC8AD877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F7AE19-CDDA-1A77-970E-F2F26F7C4C2A}"/>
              </a:ext>
            </a:extLst>
          </p:cNvPr>
          <p:cNvSpPr txBox="1"/>
          <p:nvPr/>
        </p:nvSpPr>
        <p:spPr>
          <a:xfrm>
            <a:off x="452437" y="1536174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DYNAMIC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27379884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E973F-8B3E-8A16-ACAA-110E58B18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E555A4-FA38-4A20-D2C9-AEF600E45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22"/>
            <a:ext cx="12192000" cy="657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911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CC92-E997-32E8-E0AA-FE03B2D2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36094B-FC21-6EA6-3912-6A3A48CCC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797" y="936497"/>
            <a:ext cx="787440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472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13723-ED21-A546-332D-5526EF294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581624B-1AD2-740C-63E6-14E7C4160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115" y="234786"/>
            <a:ext cx="9131769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4972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E82A1-DB42-FD79-C9BD-8DAEB0B64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EDC406-ACC6-1B4B-7719-47E319162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7800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2C96F-B711-87A9-6F5E-8E468382B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565F2F-32C7-70B4-3A06-FA8CA8322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907" y="0"/>
            <a:ext cx="86441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9295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66AB4-1EF3-AF97-DE08-B9054916D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CDD860-8A66-0E5F-A6EE-36E0E33BD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207" y="0"/>
            <a:ext cx="87815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6831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0D85D-ACDE-BD19-76BA-33C4B4CC5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8D2FDA-C67B-F0B9-C3DE-8873FCAF0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683" y="0"/>
            <a:ext cx="85006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8881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FBF1A-FA13-BFA2-B44F-7EE2E574F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337C65-46EB-B69B-E370-3B8102011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888" y="0"/>
            <a:ext cx="90462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365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58FBB-9C91-A446-D06B-EB26E899A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03C6DBC-328D-B9ED-6CA5-CF16B95E8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255" y="733286"/>
            <a:ext cx="9525490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7405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992D3-BDA7-B112-D452-BB88F03FA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00D309D-3091-E3EC-797B-1D34D3CDE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430" y="733286"/>
            <a:ext cx="9519139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4423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C21C8-AAD5-C741-387B-56427E5C8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5DC1E8-CD41-6DA2-2602-60AD97670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514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4E615-CBBB-BDD8-E9B3-C55DFB6C2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3B4B99-1512-92F2-6A5C-10BCF621F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7765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D0C3-33BC-8AC0-7546-EC996A27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8780A-4FC2-F497-BE34-B2C16E7CF8E0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FREE-VIBRATION ANALYSIS</a:t>
            </a:r>
          </a:p>
        </p:txBody>
      </p:sp>
    </p:spTree>
    <p:extLst>
      <p:ext uri="{BB962C8B-B14F-4D97-AF65-F5344CB8AC3E}">
        <p14:creationId xmlns:p14="http://schemas.microsoft.com/office/powerpoint/2010/main" val="34252430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F80FA-5CC6-10B0-6A40-DC8DB514D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E4A6F2-22C8-5545-55C7-67A23826C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538"/>
            <a:ext cx="12192000" cy="6564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3440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1CAC-4795-E846-F7DF-A53A4F37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025EC66-BA79-50D6-6157-94DF11F56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965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5A79D-7B6D-8641-127E-91A35B4FE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E21980F-5062-A5D4-83E6-DE525B391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4323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C2584-B6F1-E4AA-2324-111A7CEC6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1DBC19-4F93-C97C-2C0A-10B46AF32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619" y="0"/>
            <a:ext cx="85127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2243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D1BEF-3325-33A6-3892-CF99FA7D0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199567-72AC-E420-EDD0-CCC10DABD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619" y="0"/>
            <a:ext cx="85127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6371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0380E-CAE8-1CF1-4C2F-213CEC8A1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2BD392-D87F-A277-F0EC-1007F702C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619" y="0"/>
            <a:ext cx="85127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0051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90737-2C59-19FC-9D66-CCFCDF42C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57BC93-283C-2A69-DBF8-97479CC17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619" y="0"/>
            <a:ext cx="85127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8859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49D1D-A3EC-2938-502A-DC646EEBF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56D9F7D-5020-DC1E-B44C-5CDC780F8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7308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87B60-E10D-E4DE-617A-11E247A71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333FCC-1981-584F-EE03-7A537120D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7402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27920-A997-0EF3-B994-2238D571C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E10D74-A2DF-E81A-6119-A073D13B0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1230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E2139-9569-0B26-1AEB-B06477475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BFF4B9-8B71-6E64-0F2A-F411CDCAC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8182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43421-63C1-6532-6914-A005C0DB8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9AEEBB-FD63-0F8C-AB58-D399C31F1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4077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SEISMIC ANALYSIS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CDBA9-C54B-300B-2CD4-0907A367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DF47A4A-A28B-5F2A-11C3-A73C5224E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933"/>
            <a:ext cx="12192000" cy="660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8525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FA42C-A453-6104-5A0F-C920D0078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67550E-5848-7DF0-9FFB-BAB1CB460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379" y="234786"/>
            <a:ext cx="9557241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4466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ABDFB-049D-3FA7-32D9-44B5AB004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9F284-A298-73DA-B36B-7EDA119BB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5768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4BAB1-6E46-ACDE-FA5F-37B22EC1D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3C3031-6FB9-B810-BE9E-F0E26DEC5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619" y="0"/>
            <a:ext cx="85127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17807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83218-27CC-B807-95A3-EE38736E0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124108-B424-2DD1-688B-54DCAB1AD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619" y="0"/>
            <a:ext cx="85127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4494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401FB-1D70-4FCD-A0D0-0A69453C1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9F61D2-2B69-6307-B3DF-5DF4F77BB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619" y="0"/>
            <a:ext cx="85127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1493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07D85-FCD3-69A2-602A-1B39E6D8D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18731F-ADAB-342E-FAB0-5368468E2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619" y="0"/>
            <a:ext cx="85127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17982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D7807-1698-909C-7453-FC19B883B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E6206E-8B66-66DF-ADA2-EA23F71AB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46044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C88F2-F10A-DD8C-0424-DDFF46AE4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70629E-1180-8E32-82E2-B2D3B3132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80195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75E49-0A4F-BF35-F96E-B40EDEF0E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88605EF-8261-E2CC-991C-4A93D0D36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71759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D045D-230D-9245-CFCE-9F2977DCD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C338B0-8A70-0ECB-7F94-67DB54DEF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89187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37E88-09C0-D7DB-6B7B-69E427FDF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8AE5A5-244E-6392-B543-97C61A76F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5516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14BB2-C2A5-628F-2E99-C7426E389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D57313-FE22-A86E-AC64-2345FC741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138" y="355272"/>
            <a:ext cx="9430235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92718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C9E1F-42D4-925D-5728-6DAC5B73D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DC62EF8-8BA7-1CE7-4795-C2C28FC95F51}"/>
              </a:ext>
            </a:extLst>
          </p:cNvPr>
          <p:cNvSpPr txBox="1"/>
          <p:nvPr/>
        </p:nvSpPr>
        <p:spPr>
          <a:xfrm>
            <a:off x="2587010" y="305068"/>
            <a:ext cx="7671901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=   Analysis curve fitted =</a:t>
            </a:r>
          </a:p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     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</a:rPr>
              <a:t>Disp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        Base Shear</a:t>
            </a:r>
          </a:p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----------------------------</a:t>
            </a:r>
          </a:p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[[0.00000000e+00 0.00000000e+00]</a:t>
            </a:r>
          </a:p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 [8.68592608e+01 4.35874099e+05]</a:t>
            </a:r>
          </a:p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 [5.00000000e+02 4.33655994e+05]]</a:t>
            </a:r>
          </a:p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+----------------------------------------------------+</a:t>
            </a:r>
          </a:p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 Structure Elastic Stiffness :     5018.16</a:t>
            </a:r>
          </a:p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 Structure Plastic Stiffness :     867.31</a:t>
            </a:r>
          </a:p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 Structure Tangent Stiffness :     -5.37</a:t>
            </a:r>
          </a:p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 Structure Ductility Ratio :       5.76</a:t>
            </a:r>
          </a:p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 Structure Over Strength Factor:   0.99</a:t>
            </a:r>
          </a:p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+----------------------------------------------------+</a:t>
            </a:r>
          </a:p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Over Strength Coefficient (</a:t>
            </a:r>
            <a:r>
              <a:rPr lang="el-GR" sz="2000" b="1" dirty="0">
                <a:solidFill>
                  <a:schemeClr val="accent6">
                    <a:lumMod val="50000"/>
                  </a:schemeClr>
                </a:solidFill>
              </a:rPr>
              <a:t>Ω0):      0.9949</a:t>
            </a:r>
          </a:p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Displacement Ductility Ratio (</a:t>
            </a:r>
            <a:r>
              <a:rPr lang="el-GR" sz="2000" b="1" dirty="0">
                <a:solidFill>
                  <a:schemeClr val="accent6">
                    <a:lumMod val="50000"/>
                  </a:schemeClr>
                </a:solidFill>
              </a:rPr>
              <a:t>μ):    5.7564</a:t>
            </a:r>
          </a:p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Ductility Coefficient (R</a:t>
            </a:r>
            <a:r>
              <a:rPr lang="el-GR" sz="2000" b="1" dirty="0">
                <a:solidFill>
                  <a:schemeClr val="accent6">
                    <a:lumMod val="50000"/>
                  </a:schemeClr>
                </a:solidFill>
              </a:rPr>
              <a:t>μ):          5.7564</a:t>
            </a:r>
          </a:p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Structural Behavior Coefficient (R): 5.7271</a:t>
            </a:r>
          </a:p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Structural Ductility Damage Index in Y Direction: -20.5637 (%)</a:t>
            </a:r>
          </a:p>
        </p:txBody>
      </p:sp>
    </p:spTree>
    <p:extLst>
      <p:ext uri="{BB962C8B-B14F-4D97-AF65-F5344CB8AC3E}">
        <p14:creationId xmlns:p14="http://schemas.microsoft.com/office/powerpoint/2010/main" val="211077733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2BBE4-EEF7-4768-D0AC-8D6BA7B40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B1C73E-E8F1-C820-9100-6A09EBA75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06533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A1A7A-F4A2-263A-C31B-C566BA01A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A376C1-C2B2-ACB0-377E-CC61A14D6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72286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3CA2B-0728-EB46-AF36-4C3C3E136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44B4DA-EAE0-A0B0-7E0F-AA0C0DF38B9F}"/>
              </a:ext>
            </a:extLst>
          </p:cNvPr>
          <p:cNvSpPr txBox="1"/>
          <p:nvPr/>
        </p:nvSpPr>
        <p:spPr>
          <a:xfrm>
            <a:off x="0" y="2740889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Dissipated Energy from Earthquake= 23024.79 </a:t>
            </a:r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</a:rPr>
              <a:t>N·mm</a:t>
            </a:r>
            <a:endParaRPr lang="en-US" sz="2800" b="1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Dissipated Energy from Cyclic Displacement= 1239407740.65 </a:t>
            </a:r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</a:rPr>
              <a:t>N·mm</a:t>
            </a:r>
            <a:endParaRPr lang="en-US" sz="2800" b="1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en-US" sz="2800" b="1" dirty="0">
              <a:solidFill>
                <a:srgbClr val="FF0000"/>
              </a:solidFill>
            </a:endParaRPr>
          </a:p>
          <a:p>
            <a:r>
              <a:rPr lang="en-US" sz="2800" b="1" dirty="0">
                <a:solidFill>
                  <a:srgbClr val="FF0000"/>
                </a:solidFill>
              </a:rPr>
              <a:t>	DISSIPATED ENERGY CAPACITY INDEX: 0.002 [%]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	ZONE 1: VERY MINOR DAMAGE</a:t>
            </a:r>
          </a:p>
        </p:txBody>
      </p:sp>
    </p:spTree>
    <p:extLst>
      <p:ext uri="{BB962C8B-B14F-4D97-AF65-F5344CB8AC3E}">
        <p14:creationId xmlns:p14="http://schemas.microsoft.com/office/powerpoint/2010/main" val="2940509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221</Words>
  <Application>Microsoft Office PowerPoint</Application>
  <PresentationFormat>Widescreen</PresentationFormat>
  <Paragraphs>34</Paragraphs>
  <Slides>68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75</cp:revision>
  <cp:lastPrinted>2026-02-13T08:23:57Z</cp:lastPrinted>
  <dcterms:created xsi:type="dcterms:W3CDTF">2025-06-03T10:37:48Z</dcterms:created>
  <dcterms:modified xsi:type="dcterms:W3CDTF">2026-08-19T10:06:59Z</dcterms:modified>
</cp:coreProperties>
</file>