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259" r:id="rId5"/>
    <p:sldId id="323" r:id="rId6"/>
    <p:sldId id="354" r:id="rId7"/>
    <p:sldId id="302" r:id="rId8"/>
    <p:sldId id="324" r:id="rId9"/>
    <p:sldId id="306" r:id="rId10"/>
    <p:sldId id="336" r:id="rId11"/>
    <p:sldId id="356" r:id="rId12"/>
    <p:sldId id="304" r:id="rId13"/>
    <p:sldId id="261" r:id="rId14"/>
    <p:sldId id="325" r:id="rId15"/>
    <p:sldId id="337" r:id="rId16"/>
    <p:sldId id="372" r:id="rId17"/>
    <p:sldId id="364" r:id="rId18"/>
    <p:sldId id="365" r:id="rId19"/>
    <p:sldId id="366" r:id="rId20"/>
    <p:sldId id="363" r:id="rId21"/>
    <p:sldId id="355" r:id="rId22"/>
    <p:sldId id="308" r:id="rId23"/>
    <p:sldId id="265" r:id="rId24"/>
    <p:sldId id="326" r:id="rId25"/>
    <p:sldId id="266" r:id="rId26"/>
    <p:sldId id="309" r:id="rId27"/>
    <p:sldId id="348" r:id="rId28"/>
    <p:sldId id="311" r:id="rId29"/>
    <p:sldId id="312" r:id="rId30"/>
    <p:sldId id="327" r:id="rId31"/>
    <p:sldId id="313" r:id="rId32"/>
    <p:sldId id="314" r:id="rId33"/>
    <p:sldId id="315" r:id="rId34"/>
    <p:sldId id="349" r:id="rId35"/>
    <p:sldId id="263" r:id="rId36"/>
    <p:sldId id="268" r:id="rId37"/>
    <p:sldId id="329" r:id="rId38"/>
    <p:sldId id="269" r:id="rId39"/>
    <p:sldId id="342" r:id="rId40"/>
    <p:sldId id="350" r:id="rId41"/>
    <p:sldId id="320" r:id="rId42"/>
    <p:sldId id="275" r:id="rId43"/>
    <p:sldId id="328" r:id="rId44"/>
    <p:sldId id="276" r:id="rId45"/>
    <p:sldId id="343" r:id="rId46"/>
    <p:sldId id="367" r:id="rId47"/>
    <p:sldId id="368" r:id="rId48"/>
    <p:sldId id="369" r:id="rId49"/>
    <p:sldId id="370" r:id="rId50"/>
    <p:sldId id="351" r:id="rId51"/>
    <p:sldId id="359" r:id="rId52"/>
    <p:sldId id="357" r:id="rId53"/>
    <p:sldId id="361" r:id="rId54"/>
    <p:sldId id="371" r:id="rId55"/>
    <p:sldId id="362" r:id="rId56"/>
    <p:sldId id="360" r:id="rId57"/>
    <p:sldId id="358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258901"/>
            <a:ext cx="121920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COMPREHENSIVE NONLINEAR SEISMIC ASSESSMENT OF A FRAME STRUCTURE: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27147F-C3F9-3D37-017A-BFD9AA987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80" y="0"/>
            <a:ext cx="112160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5E0A0-F807-52CC-95B0-5CBDD2DF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00"/>
            <a:ext cx="12192000" cy="65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A7E7C3-C2B6-4196-F651-E674970D3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23"/>
            <a:ext cx="12192000" cy="651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641E-D8F0-F109-B6E7-C8E0D05D6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C630F5-28BC-7BAE-EAD8-F16455D3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4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DD2501-28D4-BE28-CA4F-E8DBFB33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32"/>
            <a:ext cx="12192000" cy="661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33CA9B-EAA6-7A34-E377-5049F2D2C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4DFED4-5853-28E2-A3E9-8C69D2C4D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FA6D-8B11-4B5C-31AF-380DC3C8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7C4E2F-C2CF-513C-E0DB-E35B835B0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94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ED9A41-7D06-8B88-926F-FF788CA3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AAC346-22B4-7447-88AD-11D1D0E2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7167DD-76BC-7F66-69CB-D97A42DA8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D27A-094A-8903-27D7-CE2F4FB6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648BD3-AF0C-A101-F4F3-96389670B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07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664F-5314-6824-928F-3210CBEB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276C2-878F-90F1-18E6-676FFCD1F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41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F600-53EE-D0F8-63DA-C51A2726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BED4F-FABA-E14E-C01A-7DC62196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88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2986-09AC-8DCB-3810-CB73F902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68517-5B9C-9A2F-CB1C-2B6A60AAB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0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FF71-82F4-1D8D-F64C-1F2785EC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A9609D-1092-E53A-C537-872AF488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65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37392-A316-756A-DFEB-435FCB91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A5359C-4439-9C13-947D-30C2AC08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22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4B04DA-52BC-3850-9378-34311168A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53"/>
            <a:ext cx="12192000" cy="658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E2223C-221E-1F0A-D28C-6C9E79CC6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2C3D44-B81A-68F2-B88F-2DF417319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8E4C97-5E96-923B-C233-C64D6F7C3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27EEF9-450D-1A76-EA4C-1C60DE15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B8C57E-B20E-FE25-0ED6-89B1A64F2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54" y="234786"/>
            <a:ext cx="957629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D13CD7-C3C1-D720-6B68-79B4DA3C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2F2304-4B86-E776-C23E-598DB823D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58" y="234786"/>
            <a:ext cx="942388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97549-E078-7A0B-C9B0-D6A65EB75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3E591-9462-959C-E672-ED1F7988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57"/>
            <a:ext cx="12192000" cy="652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FDE46-8269-2C0A-4C33-30F5A8758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77CED-0FB4-5478-C3E9-8B6349072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1C3CA-B1A2-6D75-7929-3F8FCED1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0E0BF6-24FB-E053-F20F-966616AF9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0B3353-327F-08A0-40CA-A355A6F23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75"/>
            <a:ext cx="12192000" cy="662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5F9C33-0E44-8347-9C1D-3DA88CEC5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E505C8-378E-5F62-5B64-0B6344A2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443F9-02DD-7C95-2C5C-CFCE91F2E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4CAE-0BB8-16D7-3EBD-A6CB4041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B044D-6A5F-BA45-9C2F-A93066A74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936497"/>
            <a:ext cx="769024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284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24568-6AF5-74B8-B19E-5225CFD7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488B4-875A-61AF-A9FE-9818670C5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4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8A500-9BC4-CCD1-01B8-0306A430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687134-9D50-CBB2-F659-0A5A9A30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75" y="936497"/>
            <a:ext cx="776644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696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87211-EDB6-BD4C-329F-C5299F5B1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4492FE-4DEF-8FA3-7645-1DD00A2C4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103" y="936497"/>
            <a:ext cx="764579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142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4B45-B65C-05BA-9183-0058E989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B822EE-3E51-CF39-7DBB-7D30B8E04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79" y="0"/>
            <a:ext cx="845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28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C933-EC0F-7020-C051-CE9468E5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97E23A-0056-040E-E839-1B9CD5D9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68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025C-1C07-61ED-ED5E-996BC8D2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4D7EAD-21F1-AAB4-C710-72CBA8F86FA8}"/>
              </a:ext>
            </a:extLst>
          </p:cNvPr>
          <p:cNvSpPr txBox="1"/>
          <p:nvPr/>
        </p:nvSpPr>
        <p:spPr>
          <a:xfrm>
            <a:off x="3067284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[9.03570300e-02 7.84853705e+04]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[3.49000000e-01 2.16143071e+05]]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868613.88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619321.12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532230.59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3.86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2.75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2.7539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3.8625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3.8625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10.6369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15.7960 (%)</a:t>
            </a:r>
          </a:p>
        </p:txBody>
      </p:sp>
    </p:spTree>
    <p:extLst>
      <p:ext uri="{BB962C8B-B14F-4D97-AF65-F5344CB8AC3E}">
        <p14:creationId xmlns:p14="http://schemas.microsoft.com/office/powerpoint/2010/main" val="607094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C759-28B3-AD8D-D25B-B6DE788C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340EA4-C007-6097-D322-DB5610C43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326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98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A7F74-B73E-B244-BAEC-63D36AA6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BE24F6-6DD3-E2C0-787F-25DC3250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04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6587-A0FB-ECCB-903A-D6A08490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A362E7-CD86-898A-CB13-91A19BF3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759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AB751-8D3A-7F20-E16E-E8C3EA8B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92F311-AEEB-CC69-9519-C6555C31EDFD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Dissipated Energy from Earthquake= 6910.72 </a:t>
            </a:r>
            <a:r>
              <a:rPr lang="en-US" sz="2400" b="1" dirty="0" err="1">
                <a:solidFill>
                  <a:schemeClr val="accent3"/>
                </a:solidFill>
              </a:rPr>
              <a:t>N·mm</a:t>
            </a:r>
            <a:endParaRPr lang="fa-IR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Dissipated Energy from Cyclic Displacement= 0.18 </a:t>
            </a:r>
            <a:r>
              <a:rPr lang="en-US" sz="2400" b="1" dirty="0" err="1">
                <a:solidFill>
                  <a:schemeClr val="accent3"/>
                </a:solidFill>
              </a:rPr>
              <a:t>N·mm</a:t>
            </a:r>
            <a:endParaRPr lang="en-US" sz="2400" b="1" dirty="0">
              <a:solidFill>
                <a:schemeClr val="accent3"/>
              </a:solidFill>
            </a:endParaRP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	FOR EVALUATION OF DISSIPATED ENERGY CAPACITY INDEX: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CHECK THE CYCLIC DISPLACEMENT ANALYSIS AND IF IT IS POSSIBLE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		INCREASE THE DISPLACEMENT.</a:t>
            </a:r>
          </a:p>
        </p:txBody>
      </p:sp>
    </p:spTree>
    <p:extLst>
      <p:ext uri="{BB962C8B-B14F-4D97-AF65-F5344CB8AC3E}">
        <p14:creationId xmlns:p14="http://schemas.microsoft.com/office/powerpoint/2010/main" val="12789340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3EF4-DB0D-B71A-A8DD-DF8873E8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ABAF1-BBD3-E0C3-73D1-88B2A1CEC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78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226</Words>
  <Application>Microsoft Office PowerPoint</Application>
  <PresentationFormat>Widescreen</PresentationFormat>
  <Paragraphs>36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135</cp:revision>
  <cp:lastPrinted>2026-04-01T23:30:08Z</cp:lastPrinted>
  <dcterms:created xsi:type="dcterms:W3CDTF">2025-06-03T10:37:48Z</dcterms:created>
  <dcterms:modified xsi:type="dcterms:W3CDTF">2026-08-08T11:31:00Z</dcterms:modified>
</cp:coreProperties>
</file>