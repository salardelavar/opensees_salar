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59" r:id="rId4"/>
    <p:sldId id="322" r:id="rId5"/>
    <p:sldId id="358" r:id="rId6"/>
    <p:sldId id="361" r:id="rId7"/>
    <p:sldId id="341" r:id="rId8"/>
    <p:sldId id="259" r:id="rId9"/>
    <p:sldId id="323" r:id="rId10"/>
    <p:sldId id="303" r:id="rId11"/>
    <p:sldId id="302" r:id="rId12"/>
    <p:sldId id="347" r:id="rId13"/>
    <p:sldId id="324" r:id="rId14"/>
    <p:sldId id="306" r:id="rId15"/>
    <p:sldId id="336" r:id="rId16"/>
    <p:sldId id="342" r:id="rId17"/>
    <p:sldId id="304" r:id="rId18"/>
    <p:sldId id="261" r:id="rId19"/>
    <p:sldId id="325" r:id="rId20"/>
    <p:sldId id="337" r:id="rId21"/>
    <p:sldId id="343" r:id="rId22"/>
    <p:sldId id="367" r:id="rId23"/>
    <p:sldId id="307" r:id="rId24"/>
    <p:sldId id="308" r:id="rId25"/>
    <p:sldId id="265" r:id="rId26"/>
    <p:sldId id="326" r:id="rId27"/>
    <p:sldId id="266" r:id="rId28"/>
    <p:sldId id="309" r:id="rId29"/>
    <p:sldId id="310" r:id="rId30"/>
    <p:sldId id="349" r:id="rId31"/>
    <p:sldId id="311" r:id="rId32"/>
    <p:sldId id="312" r:id="rId33"/>
    <p:sldId id="327" r:id="rId34"/>
    <p:sldId id="313" r:id="rId35"/>
    <p:sldId id="314" r:id="rId36"/>
    <p:sldId id="315" r:id="rId37"/>
    <p:sldId id="330" r:id="rId38"/>
    <p:sldId id="331" r:id="rId39"/>
    <p:sldId id="338" r:id="rId40"/>
    <p:sldId id="318" r:id="rId41"/>
    <p:sldId id="319" r:id="rId42"/>
    <p:sldId id="350" r:id="rId43"/>
    <p:sldId id="370" r:id="rId44"/>
    <p:sldId id="355" r:id="rId45"/>
    <p:sldId id="263" r:id="rId46"/>
    <p:sldId id="268" r:id="rId47"/>
    <p:sldId id="329" r:id="rId48"/>
    <p:sldId id="269" r:id="rId49"/>
    <p:sldId id="270" r:id="rId50"/>
    <p:sldId id="332" r:id="rId51"/>
    <p:sldId id="333" r:id="rId52"/>
    <p:sldId id="339" r:id="rId53"/>
    <p:sldId id="271" r:id="rId54"/>
    <p:sldId id="274" r:id="rId55"/>
    <p:sldId id="351" r:id="rId56"/>
    <p:sldId id="368" r:id="rId57"/>
    <p:sldId id="352" r:id="rId58"/>
    <p:sldId id="320" r:id="rId59"/>
    <p:sldId id="275" r:id="rId60"/>
    <p:sldId id="328" r:id="rId61"/>
    <p:sldId id="360" r:id="rId62"/>
    <p:sldId id="276" r:id="rId63"/>
    <p:sldId id="277" r:id="rId64"/>
    <p:sldId id="344" r:id="rId65"/>
    <p:sldId id="279" r:id="rId66"/>
    <p:sldId id="345" r:id="rId67"/>
    <p:sldId id="346" r:id="rId68"/>
    <p:sldId id="353" r:id="rId69"/>
    <p:sldId id="369" r:id="rId70"/>
    <p:sldId id="354" r:id="rId71"/>
    <p:sldId id="356" r:id="rId72"/>
    <p:sldId id="362" r:id="rId73"/>
    <p:sldId id="364" r:id="rId74"/>
    <p:sldId id="363" r:id="rId75"/>
    <p:sldId id="365" r:id="rId76"/>
    <p:sldId id="366" r:id="rId7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32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825593" y="582067"/>
            <a:ext cx="10287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800" b="1" dirty="0">
                <a:solidFill>
                  <a:schemeClr val="accent5"/>
                </a:solidFill>
              </a:rPr>
              <a:t>COMPREHENSIVE NONLINEAR SEISMIC ASSESSMENT OF A STEEL BARCED FRAME: AN OPENSEES FRAMEWORK FOR STATIC PUSHOVER, CYCLIC DEGRADATION, STATIC TIME-HISTORY AND DYNAMIC TIME-HISTORY ANALYSIS        </a:t>
            </a:r>
            <a:r>
              <a:rPr lang="en-US" sz="1200" b="1" dirty="0">
                <a:solidFill>
                  <a:schemeClr val="accent3"/>
                </a:solidFill>
              </a:rPr>
              <a:t>THIS PROGRAM IS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87F920-72D1-B2D2-C9F2-3A395695C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801" y="0"/>
            <a:ext cx="103983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201CC-07C3-96E9-9332-823192CCC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F948F8-DDC2-5292-F7E8-1FAF21A3A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052" y="0"/>
            <a:ext cx="98278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727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EEF4-8787-065C-13DE-5F327E10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A31C70-5E81-03DC-1BF7-F307218D2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034" y="234786"/>
            <a:ext cx="6451932" cy="63884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8F9816-D0F0-3532-CFD1-55C73E695349}"/>
              </a:ext>
            </a:extLst>
          </p:cNvPr>
          <p:cNvSpPr txBox="1"/>
          <p:nvPr/>
        </p:nvSpPr>
        <p:spPr>
          <a:xfrm>
            <a:off x="4529417" y="766482"/>
            <a:ext cx="3133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solidFill>
                  <a:srgbClr val="FF0000"/>
                </a:solidFill>
              </a:rPr>
              <a:t>COLUM SECTION</a:t>
            </a:r>
          </a:p>
        </p:txBody>
      </p:sp>
    </p:spTree>
    <p:extLst>
      <p:ext uri="{BB962C8B-B14F-4D97-AF65-F5344CB8AC3E}">
        <p14:creationId xmlns:p14="http://schemas.microsoft.com/office/powerpoint/2010/main" val="2564235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A6819-C970-BCAF-5E5C-2AAFBEF1A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4202FC-BAF5-8F56-A043-E32E414F7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532" y="234786"/>
            <a:ext cx="4584936" cy="63884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084160-515B-8FCB-B21B-91DFA858EB75}"/>
              </a:ext>
            </a:extLst>
          </p:cNvPr>
          <p:cNvSpPr txBox="1"/>
          <p:nvPr/>
        </p:nvSpPr>
        <p:spPr>
          <a:xfrm>
            <a:off x="5082988" y="766482"/>
            <a:ext cx="2528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solidFill>
                  <a:srgbClr val="FF0000"/>
                </a:solidFill>
              </a:rPr>
              <a:t>BEAM SECTION</a:t>
            </a:r>
          </a:p>
        </p:txBody>
      </p:sp>
    </p:spTree>
    <p:extLst>
      <p:ext uri="{BB962C8B-B14F-4D97-AF65-F5344CB8AC3E}">
        <p14:creationId xmlns:p14="http://schemas.microsoft.com/office/powerpoint/2010/main" val="1661469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2A3E8-DF51-585C-B84C-78B521E11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304B27-907E-5602-E673-9CDD774C3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012" y="234786"/>
            <a:ext cx="6343976" cy="63884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EF1B29-0859-392C-F8BF-A09754FF8579}"/>
              </a:ext>
            </a:extLst>
          </p:cNvPr>
          <p:cNvSpPr txBox="1"/>
          <p:nvPr/>
        </p:nvSpPr>
        <p:spPr>
          <a:xfrm>
            <a:off x="5082988" y="766482"/>
            <a:ext cx="2528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solidFill>
                  <a:srgbClr val="FF0000"/>
                </a:solidFill>
              </a:rPr>
              <a:t>BRACE SECTION</a:t>
            </a:r>
          </a:p>
        </p:txBody>
      </p:sp>
    </p:spTree>
    <p:extLst>
      <p:ext uri="{BB962C8B-B14F-4D97-AF65-F5344CB8AC3E}">
        <p14:creationId xmlns:p14="http://schemas.microsoft.com/office/powerpoint/2010/main" val="4183330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6C691-2A83-BCFA-633F-56921BAFD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B3D405-CAA5-40FF-32E8-5E1273388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22"/>
            <a:ext cx="12192000" cy="657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883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888708-96E5-DF68-7B74-4E02C329D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777"/>
            <a:ext cx="12192000" cy="659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117B-CD12-A128-A9F4-EBB15AF42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677A51-8092-F9D1-4EF0-2BBC5142E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55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2FC25-A885-4A53-CFD4-E86ADE3DE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C6AE33-BA87-ACFE-734E-A5001C7CA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807"/>
            <a:ext cx="12192000" cy="654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494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7A84A1-3787-E904-E9A1-EF01BB42C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160" y="234786"/>
            <a:ext cx="93476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598A-E1FD-6CB3-81ED-DEDA30E9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6A4043-F204-5176-08D2-95919AFA1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3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73D-9C8C-5B94-1A02-E3E3C00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9F954A-95A1-47C5-B43A-A507471D8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38" y="234786"/>
            <a:ext cx="92143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41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09514-A27A-2C9F-6D01-0B2CFAED2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BD781B-C604-18C1-26AE-44ACC74E8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186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EE8FF1-4BDB-6F76-7D2E-7C8E58BF5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67"/>
            <a:ext cx="12192000" cy="65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E06272-8F18-1B66-B5A4-9BDCBBB5A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D8F3-9803-93BD-8AD1-72F549B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3D7117-1AD0-F3A5-AA2D-43C026CCF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80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55E38-14DA-6251-7C25-D4414428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102AAA-C7BC-0E78-5449-B22A50234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058" y="234786"/>
            <a:ext cx="942388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464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C21F6-2A6E-A1B7-3EF8-D8A7421AF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25C586-2378-FB83-E53A-85E21EAC2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6978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A9F5F-3F08-460B-95CE-E74CA5BD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81C9AB-1539-E452-13C8-1306CE531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195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8D19B4-16F8-41AF-6CC8-DA227A11C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832"/>
            <a:ext cx="12192000" cy="661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DFC584-13AB-6839-56E2-D66086A9E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665" y="685800"/>
            <a:ext cx="884813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422D16-E0D0-9356-7DBF-3792E508B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178-E24E-09B7-2171-2646FA4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2FB30F-9893-3FAD-EB72-6D53BD66B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79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C418-E5BC-8617-2C8C-83DB5D0FA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0619EC-5D78-3F53-A1E8-642C21744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561" y="234786"/>
            <a:ext cx="92968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463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C4A2F-1835-D9F2-F83F-C0B1C5EA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7C2842-1F72-7C58-E1EB-AF6CE2FA1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3518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654A66-1ECA-4894-1548-1457C932B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933"/>
            <a:ext cx="12192000" cy="660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08BEF7-8146-135A-B482-2CE76B797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90" y="228600"/>
            <a:ext cx="1032281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653541-039F-41BF-E1E4-7F0589C4D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2F429B-FE83-00C3-15A4-5ED75740A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2C96F-B711-87A9-6F5E-8E468382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354915-F6FC-0D47-DC71-9B321F99E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137" y="733286"/>
            <a:ext cx="923972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295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66AB4-1EF3-AF97-DE08-B9054916D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6EFB68-450B-244E-1C58-5C48703D2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312" y="733286"/>
            <a:ext cx="923337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6831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0D85D-ACDE-BD19-76BA-33C4B4CC5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BF9207-2DF0-8682-7065-47014AB60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516" y="733286"/>
            <a:ext cx="9080967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8881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36A6F-686C-EF33-EA84-2516774EF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33C5B1-DF15-78A7-F12D-B5F172437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733286"/>
            <a:ext cx="9334980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179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C21C8-AAD5-C741-387B-56427E5C8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55CDB5-0D3B-8F27-8DF7-53CE729B7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733286"/>
            <a:ext cx="9309578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514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4E615-CBBB-BDD8-E9B3-C55DFB6C2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3A7B03-9ABB-A8A3-C6E1-0ED985D7C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7765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AF0EB-1B14-B192-E230-61C55EF4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74FD5A-E055-4EFB-D09F-34D8F17B4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38" y="234786"/>
            <a:ext cx="92143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3005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140AC-A601-F90E-ED03-65293B44B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1A59DC-6E2D-7E8E-5311-3186071A2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569" y="733286"/>
            <a:ext cx="7048862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2185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C4B7A-797E-BF07-CABD-A0AA7D361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509AF3-7B4A-0F1B-91C1-32C6604E8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8471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4C4E75-8891-EDA5-DB3D-148DB05DA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891"/>
            <a:ext cx="12192000" cy="658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4CD2D6-8422-3193-805D-0A05A2DB1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459" y="234786"/>
            <a:ext cx="937308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A79D-7B6D-8641-127E-91A35B4F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967921-0086-A27E-C6C4-D1EA86727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323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C2584-B6F1-E4AA-2324-111A7CEC6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15A50E-A0E9-3D2C-F13A-E29D3025D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243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D1BEF-3325-33A6-3892-CF99FA7D0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6F82F7-904D-4987-69CF-85E848A74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371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0380E-CAE8-1CF1-4C2F-213CEC8A1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D1C070-3BE0-E241-96A8-28F1A987D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0051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8919-6457-5149-94BC-A88EE743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292A52-1A34-42E1-7EB0-2D6C1A201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210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49D1D-A3EC-2938-502A-DC646EEBF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2F06CE-8DA5-06AB-C440-36DA63EA0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308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3421-63C1-6532-6914-A005C0DB8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22895E-0F0D-AB90-E064-0FEEEE5AF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4077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CB262-1775-2367-51F0-490A5D60A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7B8562-F767-0756-763E-4752DE3BA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2896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EBB70-BA1C-76A2-9764-8DEC28432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8DC9BC-853C-9057-4701-49E2E71C3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238" y="733286"/>
            <a:ext cx="629952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1025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FE813-A871-6CD2-6137-A380D1E2B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481DD2-27DE-6779-5739-6FBE83DE6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6071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AB8561-4DFF-4D71-D350-B562079B0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989"/>
            <a:ext cx="12192000" cy="655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0D79AE-10B1-4A53-5BBB-1D688CA1C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C9224-30CC-6629-79B9-605F0A9BB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76E86B-ADF2-A5A6-1E6B-634F55BD5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2568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364C14-E2BB-2970-A7A9-F2B016DA5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4BAB1-6E46-ACDE-FA5F-37B22EC1D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3C8C7B-F6AF-FF97-2731-F24A26E89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1780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8439C-D815-251C-AA57-6D0ADF7C9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95272-1F98-2AB3-8B1F-F97A53B7B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0032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C88F2-F10A-DD8C-0424-DDFF46AE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91A0E9-8118-8B7C-9F04-0353F8533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80195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03C31-4FDF-8CB5-DFE0-0D48E7B75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E7AC27-35EC-4A38-C8F3-5E2E6176D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1030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A80A0-82D3-7D61-9718-F9191EC08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F93730-E2BF-B461-E6A7-D373CEBB7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300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BF8C-4B91-5CAE-8A2B-1129879BA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370803-A4FC-AD3B-65F5-52ADE30A9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38" y="234786"/>
            <a:ext cx="92143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467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129F6-E67D-8E6D-C150-D8790A561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F7B945-C9C4-FCFB-546C-3DEF31243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5206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2E5E8-41D4-E413-1FC2-3B9FA321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3051C1-CD90-C9EE-ED4D-FED681B90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09466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42007-8BCD-9537-049D-1644D8110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DDD7BE-A795-3941-E05B-23E8653C7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160" y="234786"/>
            <a:ext cx="93476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29859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B6D08-677D-BF5F-CB3F-E9B7F3EE6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EF67B3-8497-2706-C1E8-377FF5FDDC7F}"/>
              </a:ext>
            </a:extLst>
          </p:cNvPr>
          <p:cNvSpPr txBox="1"/>
          <p:nvPr/>
        </p:nvSpPr>
        <p:spPr>
          <a:xfrm>
            <a:off x="3078394" y="551289"/>
            <a:ext cx="752951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    </a:t>
            </a:r>
            <a:r>
              <a:rPr lang="en-US" sz="1600" b="1" dirty="0" err="1">
                <a:solidFill>
                  <a:schemeClr val="accent3"/>
                </a:solidFill>
              </a:rPr>
              <a:t>Disp</a:t>
            </a:r>
            <a:r>
              <a:rPr lang="en-US" sz="16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[[    0.             0.        ]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[   88.78648283 24658.83282887]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[  400.         27386.67270937]]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Elastic Stiffness :     277.73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Plastic Stiffness :     68.47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Tangent Stiffness :     8.77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Ductility Ratio :       4.51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Over Strength Factor:   1.11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Over Strength Coefficient (</a:t>
            </a:r>
            <a:r>
              <a:rPr lang="el-GR" sz="1600" b="1" dirty="0">
                <a:solidFill>
                  <a:schemeClr val="accent3"/>
                </a:solidFill>
              </a:rPr>
              <a:t>Ω0):      1.1106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Displacement Ductility Ratio (</a:t>
            </a:r>
            <a:r>
              <a:rPr lang="el-GR" sz="1600" b="1" dirty="0">
                <a:solidFill>
                  <a:schemeClr val="accent3"/>
                </a:solidFill>
              </a:rPr>
              <a:t>μ):    4.5052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Ductility Coefficient (R</a:t>
            </a:r>
            <a:r>
              <a:rPr lang="el-GR" sz="1600" b="1" dirty="0">
                <a:solidFill>
                  <a:schemeClr val="accent3"/>
                </a:solidFill>
              </a:rPr>
              <a:t>μ):          4.5052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Structural Behavior Coefficient (R): 5.0036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Structural Ductility Damage Index in Y Direction: -27.7048 (%)</a:t>
            </a:r>
          </a:p>
          <a:p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379550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1371E-9F67-33FD-0F1F-99F0841D2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638B8B-B147-D31C-FF16-ED07F1491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96021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497D4-75AC-291F-8856-A5D67CE76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A0097F-58EF-E639-E730-257FE191B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82935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A1245-834A-760B-5786-31BF15614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B81A9A-DE06-B4F8-F171-AD1F051D4A54}"/>
              </a:ext>
            </a:extLst>
          </p:cNvPr>
          <p:cNvSpPr txBox="1"/>
          <p:nvPr/>
        </p:nvSpPr>
        <p:spPr>
          <a:xfrm>
            <a:off x="1" y="1874728"/>
            <a:ext cx="1219199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3"/>
                </a:solidFill>
              </a:rPr>
              <a:t>Dissipated Energy from Earthquake= 23060.93 </a:t>
            </a:r>
            <a:r>
              <a:rPr lang="en-US" sz="2800" b="1" dirty="0" err="1">
                <a:solidFill>
                  <a:schemeClr val="accent3"/>
                </a:solidFill>
              </a:rPr>
              <a:t>N·mm</a:t>
            </a:r>
            <a:endParaRPr lang="fa-IR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Dissipated Energy from Cyclic Displacement= 52934861.63 </a:t>
            </a:r>
            <a:r>
              <a:rPr lang="en-US" sz="2800" b="1" dirty="0" err="1">
                <a:solidFill>
                  <a:schemeClr val="accent3"/>
                </a:solidFill>
              </a:rPr>
              <a:t>N·mm</a:t>
            </a:r>
            <a:endParaRPr lang="en-US" sz="2800" b="1" dirty="0">
              <a:solidFill>
                <a:schemeClr val="accent3"/>
              </a:solidFill>
            </a:endParaRPr>
          </a:p>
          <a:p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	</a:t>
            </a:r>
            <a:r>
              <a:rPr lang="en-US" sz="2800" b="1" dirty="0">
                <a:solidFill>
                  <a:srgbClr val="FF0000"/>
                </a:solidFill>
              </a:rPr>
              <a:t>DISSIPATED ENERGY CAPACITY INDEX: 0.044 [%]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	ZONE 1: VERY MINOR DAMAGE</a:t>
            </a:r>
          </a:p>
        </p:txBody>
      </p:sp>
    </p:spTree>
    <p:extLst>
      <p:ext uri="{BB962C8B-B14F-4D97-AF65-F5344CB8AC3E}">
        <p14:creationId xmlns:p14="http://schemas.microsoft.com/office/powerpoint/2010/main" val="365305463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0CF86-AD93-A242-A909-1DCF30760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A3C75A-0B37-8292-E7EE-D410F2406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732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218</Words>
  <Application>Microsoft Office PowerPoint</Application>
  <PresentationFormat>Widescreen</PresentationFormat>
  <Paragraphs>37</Paragraphs>
  <Slides>76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161</cp:revision>
  <cp:lastPrinted>2026-10-27T08:48:27Z</cp:lastPrinted>
  <dcterms:created xsi:type="dcterms:W3CDTF">2025-06-03T10:37:48Z</dcterms:created>
  <dcterms:modified xsi:type="dcterms:W3CDTF">2026-10-27T08:49:39Z</dcterms:modified>
</cp:coreProperties>
</file>