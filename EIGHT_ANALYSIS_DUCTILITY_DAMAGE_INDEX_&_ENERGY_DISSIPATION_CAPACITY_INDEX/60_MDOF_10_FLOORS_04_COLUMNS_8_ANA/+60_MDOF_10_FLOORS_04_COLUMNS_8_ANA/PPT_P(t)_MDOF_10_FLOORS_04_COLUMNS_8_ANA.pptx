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69" r:id="rId4"/>
    <p:sldId id="352" r:id="rId5"/>
    <p:sldId id="380" r:id="rId6"/>
    <p:sldId id="381" r:id="rId7"/>
    <p:sldId id="382" r:id="rId8"/>
    <p:sldId id="383" r:id="rId9"/>
    <p:sldId id="259" r:id="rId10"/>
    <p:sldId id="323" r:id="rId11"/>
    <p:sldId id="302" r:id="rId12"/>
    <p:sldId id="324" r:id="rId13"/>
    <p:sldId id="306" r:id="rId14"/>
    <p:sldId id="336" r:id="rId15"/>
    <p:sldId id="346" r:id="rId16"/>
    <p:sldId id="354" r:id="rId17"/>
    <p:sldId id="355" r:id="rId18"/>
    <p:sldId id="368" r:id="rId19"/>
    <p:sldId id="367" r:id="rId20"/>
    <p:sldId id="304" r:id="rId21"/>
    <p:sldId id="261" r:id="rId22"/>
    <p:sldId id="325" r:id="rId23"/>
    <p:sldId id="337" r:id="rId24"/>
    <p:sldId id="347" r:id="rId25"/>
    <p:sldId id="356" r:id="rId26"/>
    <p:sldId id="357" r:id="rId27"/>
    <p:sldId id="387" r:id="rId28"/>
    <p:sldId id="308" r:id="rId29"/>
    <p:sldId id="265" r:id="rId30"/>
    <p:sldId id="326" r:id="rId31"/>
    <p:sldId id="266" r:id="rId32"/>
    <p:sldId id="309" r:id="rId33"/>
    <p:sldId id="348" r:id="rId34"/>
    <p:sldId id="358" r:id="rId35"/>
    <p:sldId id="359" r:id="rId36"/>
    <p:sldId id="391" r:id="rId37"/>
    <p:sldId id="311" r:id="rId38"/>
    <p:sldId id="312" r:id="rId39"/>
    <p:sldId id="327" r:id="rId40"/>
    <p:sldId id="313" r:id="rId41"/>
    <p:sldId id="314" r:id="rId42"/>
    <p:sldId id="315" r:id="rId43"/>
    <p:sldId id="349" r:id="rId44"/>
    <p:sldId id="360" r:id="rId45"/>
    <p:sldId id="361" r:id="rId46"/>
    <p:sldId id="392" r:id="rId47"/>
    <p:sldId id="263" r:id="rId48"/>
    <p:sldId id="329" r:id="rId49"/>
    <p:sldId id="268" r:id="rId50"/>
    <p:sldId id="269" r:id="rId51"/>
    <p:sldId id="342" r:id="rId52"/>
    <p:sldId id="374" r:id="rId53"/>
    <p:sldId id="375" r:id="rId54"/>
    <p:sldId id="363" r:id="rId55"/>
    <p:sldId id="376" r:id="rId56"/>
    <p:sldId id="378" r:id="rId57"/>
    <p:sldId id="320" r:id="rId58"/>
    <p:sldId id="393" r:id="rId59"/>
    <p:sldId id="394" r:id="rId60"/>
    <p:sldId id="397" r:id="rId61"/>
    <p:sldId id="384" r:id="rId62"/>
    <p:sldId id="275" r:id="rId63"/>
    <p:sldId id="328" r:id="rId64"/>
    <p:sldId id="276" r:id="rId65"/>
    <p:sldId id="343" r:id="rId66"/>
    <p:sldId id="350" r:id="rId67"/>
    <p:sldId id="362" r:id="rId68"/>
    <p:sldId id="364" r:id="rId69"/>
    <p:sldId id="386" r:id="rId70"/>
    <p:sldId id="366" r:id="rId71"/>
    <p:sldId id="395" r:id="rId72"/>
    <p:sldId id="396" r:id="rId73"/>
    <p:sldId id="371" r:id="rId74"/>
    <p:sldId id="398" r:id="rId75"/>
    <p:sldId id="373" r:id="rId76"/>
    <p:sldId id="365" r:id="rId77"/>
    <p:sldId id="385" r:id="rId78"/>
    <p:sldId id="388" r:id="rId79"/>
    <p:sldId id="372" r:id="rId80"/>
    <p:sldId id="390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4660"/>
  </p:normalViewPr>
  <p:slideViewPr>
    <p:cSldViewPr snapToGrid="0">
      <p:cViewPr varScale="1">
        <p:scale>
          <a:sx n="67" d="100"/>
          <a:sy n="67" d="100"/>
        </p:scale>
        <p:origin x="77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58B20A0-BB54-8C05-4883-84DD448D638B}"/>
              </a:ext>
            </a:extLst>
          </p:cNvPr>
          <p:cNvSpPr txBox="1"/>
          <p:nvPr/>
        </p:nvSpPr>
        <p:spPr>
          <a:xfrm>
            <a:off x="952500" y="212735"/>
            <a:ext cx="10287000" cy="643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4800" b="1" dirty="0">
                <a:solidFill>
                  <a:schemeClr val="accent5"/>
                </a:solidFill>
              </a:rPr>
              <a:t>COMPREHENSIVE NONLINEAR SEISMIC ASSESSMENT OF A MULTI-DEGREE-FREEDOM (MDOF) STRUCTURE: AN OPENSEES FRAMEWORK FOR STATIC PUSHOVER, CYCLIC DEGRADATION, STATIC TIME-HISTORY AND DYNAMIC TIME-HISTORY ANALYSIS        </a:t>
            </a:r>
            <a:r>
              <a:rPr lang="en-US" sz="1200" b="1" dirty="0">
                <a:solidFill>
                  <a:schemeClr val="accent3"/>
                </a:solidFill>
              </a:rPr>
              <a:t>THIS </a:t>
            </a:r>
            <a:r>
              <a:rPr lang="en-US" sz="1200" b="1">
                <a:solidFill>
                  <a:schemeClr val="accent3"/>
                </a:solidFill>
              </a:rPr>
              <a:t>PROGRAM IS WRITTEN </a:t>
            </a:r>
            <a:r>
              <a:rPr lang="en-US" sz="1200" b="1" dirty="0">
                <a:solidFill>
                  <a:schemeClr val="accent3"/>
                </a:solidFill>
              </a:rPr>
              <a:t>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C0FBB4-266A-BA38-6585-513480712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680"/>
            <a:ext cx="12192000" cy="6746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6ACF3-78E5-1F20-3A96-CF9C38C85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216FD7-1521-C6C5-86A5-A28055F0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762" y="1754897"/>
            <a:ext cx="2295525" cy="838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F7C493-2D3D-768B-97B4-7C9CBD228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923" y="2814137"/>
            <a:ext cx="1885950" cy="14287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0E25A7-EA7C-30FA-8B1D-AA48ED2C3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239" y="1671077"/>
            <a:ext cx="2644141" cy="10058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446245-8DEA-21AE-D24B-F41F54A72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2039" y="2897957"/>
            <a:ext cx="2644666" cy="10058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904E1-DBE7-076E-D7DF-276E40271C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903797"/>
            <a:ext cx="3684335" cy="28346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57F3AC5-11EF-FB47-317E-C231791EC5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7071" y="0"/>
            <a:ext cx="4014812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CC80E77-3C5B-3D42-C423-DF1D75133BB6}"/>
              </a:ext>
            </a:extLst>
          </p:cNvPr>
          <p:cNvSpPr txBox="1"/>
          <p:nvPr/>
        </p:nvSpPr>
        <p:spPr>
          <a:xfrm>
            <a:off x="3603256" y="185237"/>
            <a:ext cx="78261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5"/>
                </a:solidFill>
              </a:rPr>
              <a:t>Displacement-based seismic analysis transformation,</a:t>
            </a:r>
          </a:p>
          <a:p>
            <a:r>
              <a:rPr lang="en-US" sz="2400" b="1" dirty="0">
                <a:solidFill>
                  <a:schemeClr val="accent5"/>
                </a:solidFill>
              </a:rPr>
              <a:t> converting a multi-degree-of-freedom (MDOF) system</a:t>
            </a:r>
          </a:p>
          <a:p>
            <a:r>
              <a:rPr lang="en-US" sz="2400" b="1" dirty="0">
                <a:solidFill>
                  <a:schemeClr val="accent5"/>
                </a:solidFill>
              </a:rPr>
              <a:t> into an equivalent single-degree-of-freedom (SDOF)</a:t>
            </a:r>
          </a:p>
          <a:p>
            <a:r>
              <a:rPr lang="en-US" sz="2400" b="1" dirty="0">
                <a:solidFill>
                  <a:schemeClr val="accent5"/>
                </a:solidFill>
              </a:rPr>
              <a:t> system for seismic assessment</a:t>
            </a:r>
          </a:p>
        </p:txBody>
      </p:sp>
    </p:spTree>
    <p:extLst>
      <p:ext uri="{BB962C8B-B14F-4D97-AF65-F5344CB8AC3E}">
        <p14:creationId xmlns:p14="http://schemas.microsoft.com/office/powerpoint/2010/main" val="4191165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8C9F-FE7E-F42E-780C-601561043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3C9B74-CD13-1446-1326-91903F1FA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849"/>
            <a:ext cx="12192000" cy="6566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890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7D81-437E-CD66-E907-596CBB53C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839C4D-E105-5D21-D04C-04597E1A3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0B35B9-678F-FBB1-3D5D-07CD0C768B90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01</a:t>
            </a:r>
          </a:p>
        </p:txBody>
      </p:sp>
    </p:spTree>
    <p:extLst>
      <p:ext uri="{BB962C8B-B14F-4D97-AF65-F5344CB8AC3E}">
        <p14:creationId xmlns:p14="http://schemas.microsoft.com/office/powerpoint/2010/main" val="1387389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759E2-F012-4E41-3343-A51CCB8DF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A4F6A4-8607-5951-4AA3-891FB2E6D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BEFE2A-B1E3-2478-1ECF-17F5BCB697E1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02</a:t>
            </a:r>
          </a:p>
        </p:txBody>
      </p:sp>
    </p:spTree>
    <p:extLst>
      <p:ext uri="{BB962C8B-B14F-4D97-AF65-F5344CB8AC3E}">
        <p14:creationId xmlns:p14="http://schemas.microsoft.com/office/powerpoint/2010/main" val="1235629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FF7A4-C61A-5F38-6683-E265FB1D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112492-1B4E-07E2-F869-4579B9390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2572DE-ACB2-F449-7B69-B78A3105D5C7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03</a:t>
            </a:r>
          </a:p>
        </p:txBody>
      </p:sp>
    </p:spTree>
    <p:extLst>
      <p:ext uri="{BB962C8B-B14F-4D97-AF65-F5344CB8AC3E}">
        <p14:creationId xmlns:p14="http://schemas.microsoft.com/office/powerpoint/2010/main" val="3727533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52F22-C8B0-8A85-DF7F-E4767D66A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5B92AD-5FB8-E12B-7149-2ACCA54F9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8781DF-922D-0FDE-14BE-38A96132CF78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04</a:t>
            </a:r>
          </a:p>
        </p:txBody>
      </p:sp>
    </p:spTree>
    <p:extLst>
      <p:ext uri="{BB962C8B-B14F-4D97-AF65-F5344CB8AC3E}">
        <p14:creationId xmlns:p14="http://schemas.microsoft.com/office/powerpoint/2010/main" val="2816626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F8AF4-F71D-1920-08A4-7FFFAC020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72B964-3094-74F1-711C-527BD9CB5E8E}"/>
              </a:ext>
            </a:extLst>
          </p:cNvPr>
          <p:cNvSpPr txBox="1"/>
          <p:nvPr/>
        </p:nvSpPr>
        <p:spPr>
          <a:xfrm>
            <a:off x="1943100" y="2902506"/>
            <a:ext cx="89439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STATIC ANALYSIS</a:t>
            </a:r>
          </a:p>
        </p:txBody>
      </p:sp>
    </p:spTree>
    <p:extLst>
      <p:ext uri="{BB962C8B-B14F-4D97-AF65-F5344CB8AC3E}">
        <p14:creationId xmlns:p14="http://schemas.microsoft.com/office/powerpoint/2010/main" val="1068325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90C22-AA40-AB9A-9761-537B21628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4130DB-98E4-4AB2-210B-C1220E4F3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538"/>
            <a:ext cx="12192000" cy="6564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779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D3619-7286-F4EC-EE51-7221FC922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5A9AE0-54D8-DDD3-2CB5-62CDD961B7A7}"/>
              </a:ext>
            </a:extLst>
          </p:cNvPr>
          <p:cNvSpPr txBox="1"/>
          <p:nvPr/>
        </p:nvSpPr>
        <p:spPr>
          <a:xfrm>
            <a:off x="1943100" y="2902506"/>
            <a:ext cx="89439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PUSHOVER ANALYSIS</a:t>
            </a:r>
          </a:p>
        </p:txBody>
      </p:sp>
    </p:spTree>
    <p:extLst>
      <p:ext uri="{BB962C8B-B14F-4D97-AF65-F5344CB8AC3E}">
        <p14:creationId xmlns:p14="http://schemas.microsoft.com/office/powerpoint/2010/main" val="90624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E365-FCCC-FF67-C4EE-3B976A789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21042F-71CD-60DB-9354-95F9AEF81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849"/>
            <a:ext cx="12192000" cy="6566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3865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598A-E1FD-6CB3-81ED-DEDA30E99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5DC4774-4712-B732-F6CE-75A55E478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82" y="234786"/>
            <a:ext cx="9430235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3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D373D-9C8C-5B94-1A02-E3E3C005B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916606B-C6F2-9E63-F7BB-471C0699E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541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5696-57B9-1595-E925-344B167E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3333C5A-5CCA-5985-4431-6D0B681BE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461" y="0"/>
            <a:ext cx="79130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8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5DC99-2425-4A35-D093-E249B198E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AAE1DB-55B4-AD51-7E3E-35D385A74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946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27706-AE6A-C56F-2A6F-573755742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39B200-5815-7475-1E4D-C8FFF1662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539" y="234786"/>
            <a:ext cx="9188922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654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8D50B-E437-2A2F-1212-622F94B66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5D9C42-7BEB-A1BC-07A5-F8C1B8EA5A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018"/>
            <a:ext cx="12192000" cy="657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9661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5C03C-0A81-28ED-C827-04D4E985D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E24A5B-05E3-8867-DA4C-8C13861B1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5960" y="396739"/>
            <a:ext cx="2295525" cy="838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236636-5982-5FEC-4061-4CBCE07BE3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747" y="5032511"/>
            <a:ext cx="1885950" cy="14287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44E75E-9524-1F3A-6EB0-A3F721339C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5960" y="1936656"/>
            <a:ext cx="2644141" cy="10058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FE7277-9876-D9A9-C843-C48041C3C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5435" y="3644213"/>
            <a:ext cx="2644666" cy="1005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E4EAD7-D9A0-7888-846D-8A13F90DD7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515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024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26642-CFC3-3863-C174-585452CCD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CE8190-0CAD-1F63-AA6A-3E9111BF0796}"/>
              </a:ext>
            </a:extLst>
          </p:cNvPr>
          <p:cNvSpPr txBox="1"/>
          <p:nvPr/>
        </p:nvSpPr>
        <p:spPr>
          <a:xfrm>
            <a:off x="1843087" y="2459504"/>
            <a:ext cx="8943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CYCLIC DISPLACEMENT ANALYSIS</a:t>
            </a:r>
          </a:p>
        </p:txBody>
      </p:sp>
    </p:spTree>
    <p:extLst>
      <p:ext uri="{BB962C8B-B14F-4D97-AF65-F5344CB8AC3E}">
        <p14:creationId xmlns:p14="http://schemas.microsoft.com/office/powerpoint/2010/main" val="6866364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0A545-5A10-9F1B-45A2-F44A2616C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EA5165-0474-23E7-8365-D3D815781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018"/>
            <a:ext cx="12192000" cy="657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3736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FB424-8A93-DAB4-EA03-8FA2907BE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35A509-9281-86AB-93DE-1949C986E5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905" y="234786"/>
            <a:ext cx="953819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278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ED8F3-9803-93BD-8AD1-72F549BED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914D0B1-C382-FF35-2195-5D15DC1AE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8802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29D20-4CB6-F3FD-0D39-057F99D00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CA112A-8F42-CA04-06E8-EF4DE2E933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461" y="0"/>
            <a:ext cx="79130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4556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4782B-A32A-DA0A-1D41-49370115E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96D943-CA90-8EB3-44C8-670124B5D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658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2E9BA-3D74-A0FE-8076-B9244850B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2821A3E-CC66-750E-EB62-00E2A8828E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539" y="234786"/>
            <a:ext cx="9188922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7593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2D5E4-947E-CB9C-F4CE-2E84BFF3E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BFCFBB-697A-6845-F647-6C24C9486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063" y="733286"/>
            <a:ext cx="630587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3364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D3F20-B8F0-61CD-7105-05376A6A1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C8AE3F-60FB-913F-ADE8-ADED74306ACB}"/>
              </a:ext>
            </a:extLst>
          </p:cNvPr>
          <p:cNvSpPr txBox="1"/>
          <p:nvPr/>
        </p:nvSpPr>
        <p:spPr>
          <a:xfrm>
            <a:off x="452437" y="1997839"/>
            <a:ext cx="112871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STATIC TIME-HISTORY WITH EXTERNAL TIME-DEPENDENT LOADING ANALYSIS</a:t>
            </a:r>
          </a:p>
        </p:txBody>
      </p:sp>
    </p:spTree>
    <p:extLst>
      <p:ext uri="{BB962C8B-B14F-4D97-AF65-F5344CB8AC3E}">
        <p14:creationId xmlns:p14="http://schemas.microsoft.com/office/powerpoint/2010/main" val="37179889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5BD7-E78D-605C-1FC7-03F79B040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AB34DF-B594-8B2B-CA83-A04D2D4ED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849"/>
            <a:ext cx="12192000" cy="6566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636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D9EB2-C6F0-F914-10C6-156783722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C4953C6-887F-3541-F78D-4A2845A15C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797" y="936497"/>
            <a:ext cx="7874405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241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808B4-C346-204E-0B48-325AC4B77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F23069F-32FF-4C66-1B96-043E19470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459" y="234786"/>
            <a:ext cx="9373082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3344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6F178-E24E-09B7-2171-2646FA404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286EC0E-483B-692D-917B-254452BF2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488" y="234786"/>
            <a:ext cx="922702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8479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89911-636D-8A77-A96F-6955F5E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E3A433-21A9-9EC2-1F5E-E003A36B1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461" y="0"/>
            <a:ext cx="79130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6022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AD4FA-7169-82A7-2D24-8FB47B1D4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863F081-207A-0796-3370-BACABD1C32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327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949BF-7DE9-B8FE-6439-0C38D7A21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D7DC13-7522-57F4-0F0B-56BF709745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510" y="234786"/>
            <a:ext cx="933498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3834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19F0F-8DE1-7C9D-CAB9-E14C5011D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AAA82A-D7B2-1894-7E60-3729B2576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948" y="733286"/>
            <a:ext cx="689010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4154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209FD-35F5-599A-B427-EC8AD8777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F7AE19-CDDA-1A77-970E-F2F26F7C4C2A}"/>
              </a:ext>
            </a:extLst>
          </p:cNvPr>
          <p:cNvSpPr txBox="1"/>
          <p:nvPr/>
        </p:nvSpPr>
        <p:spPr>
          <a:xfrm>
            <a:off x="452437" y="1997839"/>
            <a:ext cx="112871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DYNAMIC TIME-HISTORY WITH EXTERNAL TIME-DEPENDENT LOADING ANALYSIS</a:t>
            </a:r>
          </a:p>
        </p:txBody>
      </p:sp>
    </p:spTree>
    <p:extLst>
      <p:ext uri="{BB962C8B-B14F-4D97-AF65-F5344CB8AC3E}">
        <p14:creationId xmlns:p14="http://schemas.microsoft.com/office/powerpoint/2010/main" val="27379884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E973F-8B3E-8A16-ACAA-110E58B18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165D5C-0D53-AFA8-C01A-FCB5F231D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777"/>
            <a:ext cx="12192000" cy="659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7911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CC92-E997-32E8-E0AA-FE03B2D2B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36094B-FC21-6EA6-3912-6A3A48CCC2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797" y="936497"/>
            <a:ext cx="7874405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7472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13723-ED21-A546-332D-5526EF29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E9C055-8C7D-1606-3A19-04BC0571D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131" y="234786"/>
            <a:ext cx="949373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4972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E82A1-DB42-FD79-C9BD-8DAEB0B64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042394-6D95-7C53-E660-3FB451823E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6713"/>
            <a:ext cx="12192000" cy="5044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7800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2C96F-B711-87A9-6F5E-8E468382B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BF9CBA-DB0C-7F13-9BD6-3C3F70293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437" y="234786"/>
            <a:ext cx="9265126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9295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6E30-6B79-9269-BEE3-E1BE4B2A6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E07968-098C-9546-C8AE-3A7EA9A02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461" y="0"/>
            <a:ext cx="79130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1122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7AFA-1857-4098-506E-B7C6D98F4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AEA1DD-75DF-3246-C358-77E37078F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8467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FD32F-C164-398E-E13F-87E6E1E0D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AC239C3-EF53-04D3-0348-7471075120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634" y="234786"/>
            <a:ext cx="9366731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9942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A6541-1F69-FABE-C30A-C21576995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D4D620-BB02-3E18-CF45-71CF89AA7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444" y="733286"/>
            <a:ext cx="7017111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6599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4D0C3-33BC-8AC0-7546-EC996A27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C8780A-4FC2-F497-BE34-B2C16E7CF8E0}"/>
              </a:ext>
            </a:extLst>
          </p:cNvPr>
          <p:cNvSpPr txBox="1"/>
          <p:nvPr/>
        </p:nvSpPr>
        <p:spPr>
          <a:xfrm>
            <a:off x="885826" y="2902506"/>
            <a:ext cx="100012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FREE-VIBRATION ANALYSIS</a:t>
            </a:r>
          </a:p>
        </p:txBody>
      </p:sp>
    </p:spTree>
    <p:extLst>
      <p:ext uri="{BB962C8B-B14F-4D97-AF65-F5344CB8AC3E}">
        <p14:creationId xmlns:p14="http://schemas.microsoft.com/office/powerpoint/2010/main" val="34252430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1CAC-4795-E846-F7DF-A53A4F370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EC5E51-A72C-0D22-922E-B2B862D1F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8557"/>
            <a:ext cx="12192000" cy="6520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1965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F80FA-5CC6-10B0-6A40-DC8DB514D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6F8ACA-D0C2-1F47-D4F5-412069485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182" y="234786"/>
            <a:ext cx="9455636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3440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A79D-7B6D-8641-127E-91A35B4FE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7CDE55-586F-D538-B59D-842BC860A4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9657"/>
            <a:ext cx="12192000" cy="505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4323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3CF93-E546-5385-3D34-9DCB050AA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C16762C-C048-C890-842D-F6FEDC337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488" y="234786"/>
            <a:ext cx="922702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40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AC234-7D52-78C4-CB39-394D676DB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97B21C-F5C3-E0F5-AFF7-FE3ED5E59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461" y="0"/>
            <a:ext cx="79130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74197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92D43-838B-09BE-5292-CCF1DBF54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468134-1B28-15F3-66C8-F39AAB00B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2027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07967-924B-69E6-8B34-877E342F7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2071D1-C263-3670-A3EE-B1DB7F618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510" y="234786"/>
            <a:ext cx="933498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3564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58952-E1C9-525C-DBE9-45784BB9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20F5D0-5379-227F-54CC-E180AEB181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765"/>
            <a:ext cx="12192000" cy="6530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469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5C03C-0A81-28ED-C827-04D4E985D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E24A5B-05E3-8867-DA4C-8C13861B1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5435" y="130128"/>
            <a:ext cx="2295525" cy="838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236636-5982-5FEC-4061-4CBCE07BE3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626" y="3793469"/>
            <a:ext cx="1885950" cy="14287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44E75E-9524-1F3A-6EB0-A3F721339C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5435" y="1332912"/>
            <a:ext cx="2644141" cy="10058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FE7277-9876-D9A9-C843-C48041C3C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4910" y="2512643"/>
            <a:ext cx="2644666" cy="10058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F4C739-9857-D221-E51B-555276500A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1626" y="5222219"/>
            <a:ext cx="2647950" cy="10572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533670-BD0E-8DAE-0870-FB4B90EFA6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65760"/>
            <a:ext cx="9216546" cy="612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45558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6411-5370-8D0E-D82B-643AFEAC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35E1C2-CFF3-52C4-E059-48AAB2505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063" y="733286"/>
            <a:ext cx="630587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9869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AC801-71E5-04E1-0D4D-16DC47543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37C6E8D-9C4E-173E-D8CF-E2696A56B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848" y="936497"/>
            <a:ext cx="783630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8856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D9731-3169-16CA-0F61-918FC8978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4FB132-5E70-C8DB-5672-A17D95602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826" y="869818"/>
            <a:ext cx="7728347" cy="511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7599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9563-3C0C-2F4C-09FC-7B3E710E3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B5893A-C4FD-D012-EA8B-137BBD77F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339" y="936497"/>
            <a:ext cx="8217322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3723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3589C-5D42-E374-FBA6-3C3A5EF28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E57A82-6DC6-DDDE-A155-4312150F97B2}"/>
              </a:ext>
            </a:extLst>
          </p:cNvPr>
          <p:cNvSpPr txBox="1"/>
          <p:nvPr/>
        </p:nvSpPr>
        <p:spPr>
          <a:xfrm>
            <a:off x="885826" y="2902506"/>
            <a:ext cx="100012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SEISMIC ANALYSIS</a:t>
            </a:r>
          </a:p>
        </p:txBody>
      </p:sp>
    </p:spTree>
    <p:extLst>
      <p:ext uri="{BB962C8B-B14F-4D97-AF65-F5344CB8AC3E}">
        <p14:creationId xmlns:p14="http://schemas.microsoft.com/office/powerpoint/2010/main" val="17569967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CDBA9-C54B-300B-2CD4-0907A3676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833AB2-E827-374A-EB14-8C702EB1D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3334"/>
            <a:ext cx="12192000" cy="6511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88525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FA42C-A453-6104-5A0F-C920D0078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865CDD-9992-5B00-6412-0570A6E2D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905" y="234786"/>
            <a:ext cx="953819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9446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ABDFB-049D-3FA7-32D9-44B5AB004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5225A3-5403-684B-7F00-596994163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9657"/>
            <a:ext cx="12192000" cy="505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57682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563C0-B049-0039-4236-03262F0DE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78A5DA-211F-C00A-956D-11525A60B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488" y="234786"/>
            <a:ext cx="922702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51579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9941F-53F2-A531-18B3-E49D51122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C8EEDA-A6FB-2399-45B8-DE7C7B507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461" y="0"/>
            <a:ext cx="79130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67131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08B10-90E0-2E32-FD77-02CA0595A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12C662-D14C-0940-1E14-E92AB3824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65788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11D55-5E77-23A8-19E3-43647EA18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461587-D8F1-F8F2-EFD8-C8FD93593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79565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9182F-2AE2-7F6C-3844-739E4DCF8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31FFCB-2AD0-1D0D-AC89-51A7CDA3B5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549" y="936497"/>
            <a:ext cx="781090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05257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64E96-CC8E-BD2D-1C34-EDA5F61EB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833844F-FA1C-DA20-F36F-9D1203D06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2273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AC589-A20E-B76B-6575-7053BE909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045D66-83A1-939E-C42C-3B374DBCC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922" y="936497"/>
            <a:ext cx="7906156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9323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C78C5-4344-4CD8-6D87-3B4B24B94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D5C58-98DE-FF2C-F561-8B845A597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063" y="733286"/>
            <a:ext cx="630587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8226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6907E-D7E9-88E6-0CC8-667EF3F31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CA3AC9-4D28-F6A3-96BD-642A672F4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063" y="733286"/>
            <a:ext cx="630587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51354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16CE2-51F2-4C93-A7D1-9C1C29A29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47FCFA-B43B-6741-9FFB-23BB69856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063" y="733286"/>
            <a:ext cx="630587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71561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5FF1A-66D3-13C2-AD34-189443283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F8FCFB2-939E-F82F-65D1-AACB418614DA}"/>
              </a:ext>
            </a:extLst>
          </p:cNvPr>
          <p:cNvSpPr txBox="1"/>
          <p:nvPr/>
        </p:nvSpPr>
        <p:spPr>
          <a:xfrm>
            <a:off x="0" y="2151727"/>
            <a:ext cx="12192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3"/>
                </a:solidFill>
              </a:rPr>
              <a:t>Dissipated Energy from Earthquake= 7928.94 </a:t>
            </a:r>
            <a:r>
              <a:rPr lang="en-US" sz="3200" b="1" dirty="0" err="1">
                <a:solidFill>
                  <a:schemeClr val="accent3"/>
                </a:solidFill>
              </a:rPr>
              <a:t>N·m</a:t>
            </a:r>
            <a:endParaRPr lang="en-US" sz="3200" b="1" dirty="0">
              <a:solidFill>
                <a:schemeClr val="accent3"/>
              </a:solidFill>
            </a:endParaRPr>
          </a:p>
          <a:p>
            <a:r>
              <a:rPr lang="en-US" sz="3200" b="1" dirty="0">
                <a:solidFill>
                  <a:schemeClr val="accent3"/>
                </a:solidFill>
              </a:rPr>
              <a:t>Dissipated Energy from Cyclic Displacement= 729273.42 </a:t>
            </a:r>
            <a:r>
              <a:rPr lang="en-US" sz="3200" b="1" dirty="0" err="1">
                <a:solidFill>
                  <a:schemeClr val="accent3"/>
                </a:solidFill>
              </a:rPr>
              <a:t>N·m</a:t>
            </a:r>
            <a:endParaRPr lang="en-US" sz="3200" b="1" dirty="0">
              <a:solidFill>
                <a:schemeClr val="accent3"/>
              </a:solidFill>
            </a:endParaRPr>
          </a:p>
          <a:p>
            <a:endParaRPr lang="en-US" sz="3200" b="1" dirty="0">
              <a:solidFill>
                <a:schemeClr val="accent3"/>
              </a:solidFill>
            </a:endParaRPr>
          </a:p>
          <a:p>
            <a:r>
              <a:rPr lang="en-US" sz="3200" b="1" dirty="0">
                <a:solidFill>
                  <a:schemeClr val="accent3"/>
                </a:solidFill>
              </a:rPr>
              <a:t>	</a:t>
            </a:r>
            <a:r>
              <a:rPr lang="en-US" sz="3200" b="1" dirty="0">
                <a:solidFill>
                  <a:srgbClr val="FF0000"/>
                </a:solidFill>
              </a:rPr>
              <a:t>DISSIPATED ENERGY CAPACITY INDEX: 1.087 [%]</a:t>
            </a:r>
          </a:p>
          <a:p>
            <a:r>
              <a:rPr lang="en-US" sz="3200" b="1" dirty="0">
                <a:solidFill>
                  <a:srgbClr val="FF0000"/>
                </a:solidFill>
              </a:rPr>
              <a:t>	ZONE 1: VERY MINOR DAMAGE</a:t>
            </a:r>
          </a:p>
        </p:txBody>
      </p:sp>
    </p:spTree>
    <p:extLst>
      <p:ext uri="{BB962C8B-B14F-4D97-AF65-F5344CB8AC3E}">
        <p14:creationId xmlns:p14="http://schemas.microsoft.com/office/powerpoint/2010/main" val="62065390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5AA78-BE7D-F1F6-9E56-FC94D0A95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E595E35-CE54-0093-35FE-E688916E2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82" y="234786"/>
            <a:ext cx="9430235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588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A092A-0470-9070-5C27-FBB0989A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98E1493-55DF-4AD3-8056-AA99AF51D1BB}"/>
              </a:ext>
            </a:extLst>
          </p:cNvPr>
          <p:cNvSpPr txBox="1"/>
          <p:nvPr/>
        </p:nvSpPr>
        <p:spPr>
          <a:xfrm>
            <a:off x="3067285" y="305068"/>
            <a:ext cx="7529513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3"/>
                </a:solidFill>
              </a:rPr>
              <a:t>+==========================+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=   Analysis curve fitted =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     </a:t>
            </a:r>
            <a:r>
              <a:rPr lang="en-US" sz="2000" b="1" dirty="0" err="1">
                <a:solidFill>
                  <a:schemeClr val="accent3"/>
                </a:solidFill>
              </a:rPr>
              <a:t>Disp</a:t>
            </a:r>
            <a:r>
              <a:rPr lang="en-US" sz="2000" b="1" dirty="0">
                <a:solidFill>
                  <a:schemeClr val="accent3"/>
                </a:solidFill>
              </a:rPr>
              <a:t>        Base Shear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----------------------------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[[0.00000000e+00 0.00000000e+00]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 [1.00669128e-01 3.20310863e+05]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 [3.60000000e-01 3.57591396e+05]]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+==========================+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+----------------------------------------------------+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 Structure Elastic Stiffness :     3181818.18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 Structure Plastic Stiffness :     993309.43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 Structure Tangent Stiffness :     143756.63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 Structure Ductility Ratio :       3.58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 Structure Over Strength Factor:   1.12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+----------------------------------------------------+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Over Strength Coefficient (</a:t>
            </a:r>
            <a:r>
              <a:rPr lang="el-GR" sz="2000" b="1" dirty="0">
                <a:solidFill>
                  <a:schemeClr val="accent3"/>
                </a:solidFill>
              </a:rPr>
              <a:t>Ω0):      1.1164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Displacement Ductility Ratio (</a:t>
            </a:r>
            <a:r>
              <a:rPr lang="el-GR" sz="2000" b="1" dirty="0">
                <a:solidFill>
                  <a:schemeClr val="accent3"/>
                </a:solidFill>
              </a:rPr>
              <a:t>μ):    3.5761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Ductility Coefficient (R</a:t>
            </a:r>
            <a:r>
              <a:rPr lang="el-GR" sz="2000" b="1" dirty="0">
                <a:solidFill>
                  <a:schemeClr val="accent3"/>
                </a:solidFill>
              </a:rPr>
              <a:t>μ):          3.5761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Structural Behavior Coefficient (R): 3.9923</a:t>
            </a:r>
          </a:p>
          <a:p>
            <a:r>
              <a:rPr lang="en-US" sz="2000" b="1" dirty="0">
                <a:solidFill>
                  <a:schemeClr val="accent3"/>
                </a:solidFill>
              </a:rPr>
              <a:t>Structural Ductility Damage Index in X Direction: -20.1835 (%)</a:t>
            </a:r>
          </a:p>
        </p:txBody>
      </p:sp>
    </p:spTree>
    <p:extLst>
      <p:ext uri="{BB962C8B-B14F-4D97-AF65-F5344CB8AC3E}">
        <p14:creationId xmlns:p14="http://schemas.microsoft.com/office/powerpoint/2010/main" val="325532539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6037A-B7F7-6A8D-9C7D-A8A9C35C7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7AA4AE-6DAA-3390-F86A-A7F5A8B8E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707" y="733286"/>
            <a:ext cx="943658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15024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0FB10-D2A6-2554-D30D-415268191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01083A-57DD-17D1-A710-31041FEEB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137" y="733286"/>
            <a:ext cx="923972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02136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E38C3-70C1-0CBF-D138-07FFFA213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2F0062-0343-656E-E473-58C8D9A28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567" y="733286"/>
            <a:ext cx="904286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977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253</Words>
  <Application>Microsoft Office PowerPoint</Application>
  <PresentationFormat>Widescreen</PresentationFormat>
  <Paragraphs>42</Paragraphs>
  <Slides>80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171</cp:revision>
  <cp:lastPrinted>2026-03-23T10:01:33Z</cp:lastPrinted>
  <dcterms:created xsi:type="dcterms:W3CDTF">2025-06-03T10:37:48Z</dcterms:created>
  <dcterms:modified xsi:type="dcterms:W3CDTF">2026-09-05T14:23:59Z</dcterms:modified>
</cp:coreProperties>
</file>