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7" r:id="rId3"/>
    <p:sldId id="258" r:id="rId4"/>
    <p:sldId id="388" r:id="rId5"/>
    <p:sldId id="322" r:id="rId6"/>
    <p:sldId id="381" r:id="rId7"/>
    <p:sldId id="359" r:id="rId8"/>
    <p:sldId id="362" r:id="rId9"/>
    <p:sldId id="361" r:id="rId10"/>
    <p:sldId id="360" r:id="rId11"/>
    <p:sldId id="363" r:id="rId12"/>
    <p:sldId id="364" r:id="rId13"/>
    <p:sldId id="365" r:id="rId14"/>
    <p:sldId id="367" r:id="rId15"/>
    <p:sldId id="368" r:id="rId16"/>
    <p:sldId id="369" r:id="rId17"/>
    <p:sldId id="366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2" r:id="rId30"/>
    <p:sldId id="383" r:id="rId31"/>
    <p:sldId id="384" r:id="rId32"/>
    <p:sldId id="389" r:id="rId33"/>
    <p:sldId id="390" r:id="rId34"/>
    <p:sldId id="391" r:id="rId35"/>
    <p:sldId id="392" r:id="rId36"/>
    <p:sldId id="393" r:id="rId37"/>
    <p:sldId id="385" r:id="rId38"/>
    <p:sldId id="394" r:id="rId39"/>
    <p:sldId id="395" r:id="rId40"/>
    <p:sldId id="396" r:id="rId41"/>
    <p:sldId id="386" r:id="rId42"/>
    <p:sldId id="397" r:id="rId43"/>
    <p:sldId id="398" r:id="rId44"/>
    <p:sldId id="399" r:id="rId45"/>
    <p:sldId id="4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>
        <p:scale>
          <a:sx n="50" d="100"/>
          <a:sy n="50" d="100"/>
        </p:scale>
        <p:origin x="157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6F0034-52AE-13E7-4E51-225D660549F3}"/>
              </a:ext>
            </a:extLst>
          </p:cNvPr>
          <p:cNvSpPr txBox="1"/>
          <p:nvPr/>
        </p:nvSpPr>
        <p:spPr>
          <a:xfrm>
            <a:off x="0" y="951398"/>
            <a:ext cx="121920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7200" b="1" dirty="0">
                <a:solidFill>
                  <a:schemeClr val="accent5"/>
                </a:solidFill>
              </a:rPr>
              <a:t>SENSITIVITY ANALYSIS OF COLUMN DUCTILITY RATIO  AND OPENSEES VIA 20 SEISMIC GROUND MOTIONS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6675-3E09-3C16-7BE2-B99B0E32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DA0F11-3265-2B1A-7159-7E85F07D44D9}"/>
              </a:ext>
            </a:extLst>
          </p:cNvPr>
          <p:cNvSpPr txBox="1"/>
          <p:nvPr/>
        </p:nvSpPr>
        <p:spPr>
          <a:xfrm>
            <a:off x="724693" y="1582340"/>
            <a:ext cx="107426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Assume that a multi-degree-of-freedom structure is subjected to nonlinear dynamic analysis under</a:t>
            </a:r>
          </a:p>
          <a:p>
            <a:pPr algn="ctr"/>
            <a:r>
              <a:rPr lang="en-US" b="1" dirty="0"/>
              <a:t> twenty different ground motion records. To investigate the influence of column ductility on</a:t>
            </a:r>
          </a:p>
          <a:p>
            <a:pPr algn="ctr"/>
            <a:r>
              <a:rPr lang="en-US" b="1" dirty="0"/>
              <a:t> seismic performance, a sensitivity analysis is performed by systematically varying each column’s</a:t>
            </a:r>
          </a:p>
          <a:p>
            <a:pPr algn="ctr"/>
            <a:r>
              <a:rPr lang="en-US" b="1" dirty="0"/>
              <a:t> ductility ratio from 20 to 50 in 21 steps. For each ductility level, a pushover analysis provides</a:t>
            </a:r>
          </a:p>
          <a:p>
            <a:pPr algn="ctr"/>
            <a:r>
              <a:rPr lang="en-US" b="1" dirty="0"/>
              <a:t> the capacity curve and equivalent SDOF parameters, a cyclic displacement analysis establishes a</a:t>
            </a:r>
          </a:p>
          <a:p>
            <a:pPr algn="ctr"/>
            <a:r>
              <a:rPr lang="en-US" b="1" dirty="0"/>
              <a:t> reference hysteretic energy, and twenty nonlinear time-history analyses are conducted using</a:t>
            </a:r>
          </a:p>
          <a:p>
            <a:pPr algn="ctr"/>
            <a:r>
              <a:rPr lang="en-US" b="1" dirty="0"/>
              <a:t> different ground motions. From these analyses, the Energy Dissipation Capacity Index (EDCI)</a:t>
            </a:r>
          </a:p>
          <a:p>
            <a:pPr algn="ctr"/>
            <a:r>
              <a:rPr lang="en-US" b="1" dirty="0"/>
              <a:t> and other response metrics such as maximum displacement, velocity, acceleration, damage index,</a:t>
            </a:r>
          </a:p>
          <a:p>
            <a:pPr algn="ctr"/>
            <a:r>
              <a:rPr lang="en-US" b="1" dirty="0"/>
              <a:t> over-strength factor, ductility ratio, and equivalent viscous damping ratio are computed.</a:t>
            </a:r>
          </a:p>
          <a:p>
            <a:pPr algn="ctr"/>
            <a:r>
              <a:rPr lang="en-US" b="1" dirty="0"/>
              <a:t> The median response over the twenty ground motions is then evaluated for each ductility level.</a:t>
            </a:r>
          </a:p>
          <a:p>
            <a:pPr algn="ctr"/>
            <a:r>
              <a:rPr lang="en-US" b="1" dirty="0"/>
              <a:t> Finally, the results are assessed through trend plots, 3D contour surfaces, correlation heatmaps,</a:t>
            </a:r>
          </a:p>
          <a:p>
            <a:pPr algn="ctr"/>
            <a:r>
              <a:rPr lang="en-US" b="1" dirty="0"/>
              <a:t> Random Forest regression, and ANOVA sensitivity analysis to identify the optimal column ductility</a:t>
            </a:r>
          </a:p>
          <a:p>
            <a:pPr algn="ctr"/>
            <a:r>
              <a:rPr lang="en-US" b="1" dirty="0"/>
              <a:t> ratio that maximizes energy dissipation capacity while maintaining structural safety.</a:t>
            </a:r>
          </a:p>
        </p:txBody>
      </p:sp>
    </p:spTree>
    <p:extLst>
      <p:ext uri="{BB962C8B-B14F-4D97-AF65-F5344CB8AC3E}">
        <p14:creationId xmlns:p14="http://schemas.microsoft.com/office/powerpoint/2010/main" val="1640632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AFBE3-71C0-2C54-2D30-E400EBF77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5" y="0"/>
            <a:ext cx="11803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E39D-6DB1-A985-0D16-B9CC8FC5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3081B3-94EE-3A10-D793-F3E1EA94E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802" y="0"/>
            <a:ext cx="26303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0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6F2714-C7C2-9DBA-2363-28CF4BCF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12" y="0"/>
            <a:ext cx="11457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21E3-B939-6C84-F5A2-9A7915BA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D45402-DF53-F573-2DE3-6125DB2D8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682"/>
            <a:ext cx="12192000" cy="64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5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0F48A7-1BF0-26EB-D4D9-B4B4AC1A1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145881"/>
            <a:ext cx="9430235" cy="656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19C35-1399-32BB-EB33-16F18F91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50F8A-FF3D-0911-9B93-330A2B88B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8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69AE-CF78-5074-0ADB-A4739E5A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994B1-F384-424D-FA16-CA8591598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6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929AC-01BA-CCFD-C32A-9C6A1289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F5DAC-70F6-60A9-773B-BDF85366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A6930-1C70-6F48-2DB3-9F860AA5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850767"/>
            <a:ext cx="7810901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5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F587F-D093-83B3-E10F-F0874E095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7C3FE-7689-00C1-9980-13144385E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784089"/>
            <a:ext cx="7810901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03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C5B5D-DCD9-29F3-9D69-EE675718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6E063-7080-677B-7CE1-3F296F21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26" y="784089"/>
            <a:ext cx="7728347" cy="528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3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BAC70-A77A-EE9B-9310-381D25A0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82585A-B242-FCAE-B9B0-10854D3D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850767"/>
            <a:ext cx="7690245" cy="51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464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2C47-ADF9-8B19-AE16-22FC7725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88FC77-588F-22D2-843D-3BABA3FB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379" y="936497"/>
            <a:ext cx="955724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463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CA296-E2DD-C8C5-0971-00D1A0F97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3DBDF-CB34-F084-71DA-19EFD677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70" y="936497"/>
            <a:ext cx="89412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919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30E0-A52E-95DE-D242-1A4D792F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4167F2-0AA3-F4CF-3A4D-6AA1D1C2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35" y="936497"/>
            <a:ext cx="934133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830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4FAA-2AA3-BB73-CB01-B328E4A2E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0FCA3-322C-43F6-D4D3-9E2A00778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46" y="936497"/>
            <a:ext cx="988110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69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3854C-D64F-161C-652D-23476F63C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274E5-176A-C600-662B-AE5C095DB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87" y="936497"/>
            <a:ext cx="1022402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17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5F6BC-3DDF-F207-153E-7776F041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EEBB12-6B30-2070-7EC6-7391E536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84" y="936497"/>
            <a:ext cx="1129723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65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399D-1BEA-5ED5-5D42-0005CDFA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1840CC-C6D9-3967-202A-206748BF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95" y="936497"/>
            <a:ext cx="892220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52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A10C-3E9B-2F4A-C057-9A58E6F0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A3565-3CC4-C774-7F25-7B809F331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03" y="936497"/>
            <a:ext cx="864279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42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14B78-B448-9052-4EB2-67D4E7DD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9E735D-017C-2A31-BC59-0A15EC836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12" y="869818"/>
            <a:ext cx="9258776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5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E415-3969-8B48-C0B3-9067772F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65B19-DE4D-35EB-CA3D-081CC9686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10" y="936497"/>
            <a:ext cx="103065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5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3A70-1A98-248C-124F-903F46895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FE787-A3A8-0E1F-24AF-6C583326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672" y="936497"/>
            <a:ext cx="98366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60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AB27-E539-9DA0-123A-4789B43D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42003-D582-BCCA-37F1-E32E077F8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83" y="936497"/>
            <a:ext cx="1037643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79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5210-EEF2-C261-E1F5-ECBA86FC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43C6A-E029-C882-3DE7-BCDB86E6C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36" y="936497"/>
            <a:ext cx="1026212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13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D4CD-5301-8E49-F438-11E17F89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02641-7F42-5F45-A8C6-92B89CB48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758" y="936497"/>
            <a:ext cx="939848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69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C53E-A627-F6DA-F24F-74554249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57848-E9A7-C2B0-5A92-6A8349BA1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936497"/>
            <a:ext cx="902381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91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2A8E-71E3-F612-2663-2DF6583FB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A2CE7-3D3E-89D6-03B0-CDF5CC983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297" y="936497"/>
            <a:ext cx="887140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91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852B-BA29-B6D3-4EDA-A0D2FC6C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25485-5046-F8DC-BE8D-4915EA4D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777738"/>
            <a:ext cx="8217322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83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1E899-F77A-06CE-EFA0-8DA05BA4A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D7F690-4DA4-9A34-A227-9AD81032F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71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F222-B33C-F282-D3C7-B1F99487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EC3607-B80A-547D-D33B-46E482BE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263" y="777738"/>
            <a:ext cx="727747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564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AE7D-8FB9-BFA7-B091-2340C9EBB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BAB8A9-97E8-BEAC-FCFE-52CAD0D97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866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C321-557A-F4A2-3E69-525B9A26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EA6E9-B988-F845-6C7B-AEFB02A93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301" y="777738"/>
            <a:ext cx="774739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57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5A69-7214-06F2-BA04-5D69853C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2B92AE-0923-D146-8EB3-28FF0A6A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60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F616-1900-C7B7-7FDE-8A7049D0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5B536-BD74-5501-4630-83080B80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658" y="777738"/>
            <a:ext cx="7480684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44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69638-D9C8-EDB4-BB18-971C9DB5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B362C0-BBDD-2E51-44B9-1E5707FD3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734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9657-134A-7B76-1539-C7EC67F3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4C162-6E9E-B3AA-7E64-FDB7E10E8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192" y="777738"/>
            <a:ext cx="807761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12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ED8CF-3296-A28A-F2B6-9A96F160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BD2A8-F8D9-E017-2678-F913AE236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128" y="276063"/>
            <a:ext cx="86237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17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C2B4-28C5-EB33-8020-50914C614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D423FE-02AE-2324-A15E-AD293365E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17" y="914400"/>
            <a:ext cx="854776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55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2135-C785-1C90-44F2-8BEFEC18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4B071E-76F3-ABD8-EF83-A824E4B29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82" y="0"/>
            <a:ext cx="6853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01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3187-022D-6FB5-1603-E0FCB913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9667FD-72CF-E71B-EF42-013AD112A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12" y="733286"/>
            <a:ext cx="7315576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167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E8771-B2D6-861E-F0CD-A03C52A1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2B9388-95AC-58B3-059E-A5DC7A655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30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757B-B469-9F13-A8C4-C98F1B70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375E02-C731-9511-813F-FB46DC99F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238</Words>
  <Application>Microsoft Office PowerPoint</Application>
  <PresentationFormat>Widescreen</PresentationFormat>
  <Paragraphs>16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140</cp:revision>
  <cp:lastPrinted>2026-04-12T08:11:55Z</cp:lastPrinted>
  <dcterms:created xsi:type="dcterms:W3CDTF">2025-06-03T10:37:48Z</dcterms:created>
  <dcterms:modified xsi:type="dcterms:W3CDTF">2026-09-28T13:23:07Z</dcterms:modified>
</cp:coreProperties>
</file>