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369" r:id="rId4"/>
    <p:sldId id="352" r:id="rId5"/>
    <p:sldId id="380" r:id="rId6"/>
    <p:sldId id="381" r:id="rId7"/>
    <p:sldId id="382" r:id="rId8"/>
    <p:sldId id="383" r:id="rId9"/>
    <p:sldId id="302" r:id="rId10"/>
    <p:sldId id="324" r:id="rId11"/>
    <p:sldId id="306" r:id="rId12"/>
    <p:sldId id="384" r:id="rId13"/>
    <p:sldId id="368" r:id="rId14"/>
    <p:sldId id="367" r:id="rId15"/>
    <p:sldId id="386" r:id="rId16"/>
    <p:sldId id="387" r:id="rId17"/>
    <p:sldId id="388" r:id="rId18"/>
    <p:sldId id="390" r:id="rId19"/>
    <p:sldId id="391" r:id="rId20"/>
    <p:sldId id="392" r:id="rId21"/>
    <p:sldId id="393" r:id="rId22"/>
    <p:sldId id="394" r:id="rId23"/>
    <p:sldId id="411" r:id="rId24"/>
    <p:sldId id="412" r:id="rId25"/>
    <p:sldId id="402" r:id="rId26"/>
    <p:sldId id="398" r:id="rId27"/>
    <p:sldId id="399" r:id="rId28"/>
    <p:sldId id="400" r:id="rId29"/>
    <p:sldId id="401" r:id="rId30"/>
    <p:sldId id="403" r:id="rId31"/>
    <p:sldId id="404" r:id="rId32"/>
    <p:sldId id="405" r:id="rId33"/>
    <p:sldId id="406" r:id="rId34"/>
    <p:sldId id="407" r:id="rId35"/>
    <p:sldId id="408" r:id="rId36"/>
    <p:sldId id="409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32" autoAdjust="0"/>
    <p:restoredTop sz="94660"/>
  </p:normalViewPr>
  <p:slideViewPr>
    <p:cSldViewPr snapToGrid="0">
      <p:cViewPr varScale="1">
        <p:scale>
          <a:sx n="67" d="100"/>
          <a:sy n="67" d="100"/>
        </p:scale>
        <p:origin x="77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6F19-96B3-4F13-35FC-4C10EA15B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54475-7BA8-25EF-1CFC-6CD765732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133B1-CFEB-D001-3747-C35328F2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554BF-FEFC-F4F4-7D7B-7920E7FF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AD913-BD93-93CE-A775-2003F45E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77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E314-D5C2-3D8B-66C5-8C04C8EE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A1D6D-0944-FD5C-61EE-88C56D0CC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E38C9-F2E3-E438-888A-79911E67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D91B-B219-07DC-D0F4-997D63E8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C8B21-6104-B689-B956-BFEBA0CB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4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BEA3-A996-90BC-61CF-A9E8C705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DE84B-6C6E-0F03-B7CA-AE7251441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07A1-2B55-F570-8543-AF3F1A18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DF31-B49C-528A-C664-A4965876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BE76D-A87B-DA18-8479-B8301D68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2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1208-B198-1F22-B7DA-898B8513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100EE-A9D5-8996-3B8D-D5C2FD431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4A0BA-F482-8A2F-69DA-93924ACCF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E56A1-FDF7-04A0-ED99-D5834334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5502C-B44E-3200-D036-AD1124B4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585DB-3C44-B39A-644C-3F6EAB78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3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ECB78-B4D2-F23F-64BD-C802FC0B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1A3BD-9AE3-6221-8F14-D02D3448B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2E2D9-E913-3697-2AE1-5DA127417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C9B34-F075-3C3C-A7E8-D635F590E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D6DC1-8965-9603-46B6-9AD98D085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FDEA5-35A1-A318-5266-2834BAF35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C9092-5D9A-9E11-005C-C6A1BE62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F392C-5BDE-B1D7-2EA9-B7A04755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6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F55C-4097-72FF-48B2-B56474D3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83B87-B7B5-54F9-A06C-271130C3D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681D4-63E7-2F19-7B22-EBFB4BC8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7F270-B9A2-DE4C-B46D-F62DCDA0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9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D5D6D-2585-E7FC-FB39-DE3E61D7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E21F8-D01F-C069-E9A3-8E305BA6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E1E19-44C5-A381-C1F6-8A7150F4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3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C389-B78C-B2CD-2C77-60FB75B9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DF69-B172-3093-9B71-21E9EF817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3A7C3-F528-1D0F-A50E-EA44F42D9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68BD8-8500-71ED-EA5A-CC6BE90C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146E5-BC7F-015F-BA30-09404FF7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7EF81-5823-6FEC-027F-08378430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2397-66BF-38D3-5200-5C117040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9C5F01-F6D3-C44A-367D-63103EE24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08A42-B9F7-32DA-F543-E07609EA2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26F43-E67A-6BB5-E035-3630FA185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3D92E-BB12-D139-35FC-5C5AA677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3186E-8782-AB5D-90E2-4B86C777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4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C78A-1446-3920-67C0-32803C7E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50D9E-F838-CDDF-A73E-301B576CB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94C8-E136-DF00-DB32-89EDD460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BF00D-D0FC-834E-D935-77CA41FA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8F43A-949B-DD39-6782-1C9DC5B7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8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7D68F-F8E6-E1B4-9A2E-6296A7524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D167E-7F88-0DED-889D-64070DEA4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CB663-5F1A-C8B2-DAB0-6695A93D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037D-75E8-A82D-0717-D1D16F11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1895C-947D-DEE2-731B-86239A3C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E371A-ED9B-F859-8DFE-E88B2FA9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FF3AD-6AF8-0FEC-35CB-99ED597C3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356C9-0DD8-62A7-8D4B-61CCC3AFE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8DA24-7C00-4CB3-BA06-557152E755C0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8E712-AE42-63F8-BAB5-1739C5649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EA66-660E-1F2A-60C0-D4CA0AEB6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4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8B20A0-BB54-8C05-4883-84DD448D638B}"/>
              </a:ext>
            </a:extLst>
          </p:cNvPr>
          <p:cNvSpPr txBox="1"/>
          <p:nvPr/>
        </p:nvSpPr>
        <p:spPr>
          <a:xfrm>
            <a:off x="952500" y="397401"/>
            <a:ext cx="10287000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4000" b="1" dirty="0">
                <a:solidFill>
                  <a:schemeClr val="accent5"/>
                </a:solidFill>
              </a:rPr>
              <a:t>SENSITIVITY ANALYSIS OF COLUMN YIELD STRENGTH, ELASTIC STIFFNESS, DUCTILITY RATIO, OVER-STRENGTH FACTOR AND OPENSEES VIA PUSHOVER ANALYSIS OF A MULTI-DEGREE-OF-FREEDOM STRUCTURE AND EVALUATION OF A MULTILINEAR FITTING CURVE FOR STRUCTURAL ELASTIC STIFFNESS, PLASTIC STIFFNESS, DUCTILITY RATIO, AND OVER-STRENGTH FACTOR</a:t>
            </a:r>
          </a:p>
          <a:p>
            <a:pPr algn="ctr"/>
            <a:r>
              <a:rPr lang="en-US" sz="1200" b="1" dirty="0">
                <a:solidFill>
                  <a:schemeClr val="accent3"/>
                </a:solidFill>
              </a:rPr>
              <a:t>THIS PYTHON SCRIPT IS WRITTEN BY SALAR DELAVAR GHASHGHAEI (QASHQAI)</a:t>
            </a:r>
          </a:p>
        </p:txBody>
      </p:sp>
    </p:spTree>
    <p:extLst>
      <p:ext uri="{BB962C8B-B14F-4D97-AF65-F5344CB8AC3E}">
        <p14:creationId xmlns:p14="http://schemas.microsoft.com/office/powerpoint/2010/main" val="2561539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759B-40F4-A8DE-D64C-E72E1EEE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807BFF-27A0-F02D-E04A-6D595414E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107"/>
            <a:ext cx="12192000" cy="6719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771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6ACF3-78E5-1F20-3A96-CF9C38C85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216FD7-1521-C6C5-86A5-A28055F00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7762" y="1754897"/>
            <a:ext cx="2295525" cy="838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F7C493-2D3D-768B-97B4-7C9CBD2289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2923" y="2814137"/>
            <a:ext cx="1885950" cy="1428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0E25A7-EA7C-30FA-8B1D-AA48ED2C3B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5239" y="1671077"/>
            <a:ext cx="2644141" cy="10058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446245-8DEA-21AE-D24B-F41F54A72D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2039" y="2897957"/>
            <a:ext cx="2644666" cy="10058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D904E1-DBE7-076E-D7DF-276E40271C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3903797"/>
            <a:ext cx="3684335" cy="28346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57F3AC5-11EF-FB47-317E-C231791EC5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7071" y="0"/>
            <a:ext cx="4014812" cy="685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CC80E77-3C5B-3D42-C423-DF1D75133BB6}"/>
              </a:ext>
            </a:extLst>
          </p:cNvPr>
          <p:cNvSpPr txBox="1"/>
          <p:nvPr/>
        </p:nvSpPr>
        <p:spPr>
          <a:xfrm>
            <a:off x="3603256" y="185237"/>
            <a:ext cx="782612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5"/>
                </a:solidFill>
              </a:rPr>
              <a:t>Displacement-based seismic analysis transformation,</a:t>
            </a:r>
          </a:p>
          <a:p>
            <a:r>
              <a:rPr lang="en-US" sz="2400" b="1" dirty="0">
                <a:solidFill>
                  <a:schemeClr val="accent5"/>
                </a:solidFill>
              </a:rPr>
              <a:t> converting a multi-degree-of-freedom (MDOF) system</a:t>
            </a:r>
          </a:p>
          <a:p>
            <a:r>
              <a:rPr lang="en-US" sz="2400" b="1" dirty="0">
                <a:solidFill>
                  <a:schemeClr val="accent5"/>
                </a:solidFill>
              </a:rPr>
              <a:t> into an equivalent single-degree-of-freedom (SDOF)</a:t>
            </a:r>
          </a:p>
          <a:p>
            <a:r>
              <a:rPr lang="en-US" sz="2400" b="1" dirty="0">
                <a:solidFill>
                  <a:schemeClr val="accent5"/>
                </a:solidFill>
              </a:rPr>
              <a:t> system for seismic assessment</a:t>
            </a:r>
          </a:p>
        </p:txBody>
      </p:sp>
    </p:spTree>
    <p:extLst>
      <p:ext uri="{BB962C8B-B14F-4D97-AF65-F5344CB8AC3E}">
        <p14:creationId xmlns:p14="http://schemas.microsoft.com/office/powerpoint/2010/main" val="4191165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D8C9F-FE7E-F42E-780C-601561043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785048-8B55-6ED7-4846-55B89C867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187"/>
            <a:ext cx="12192000" cy="6603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890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07D81-437E-CD66-E907-596CBB53C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839C4D-E105-5D21-D04C-04597E1A3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897" y="0"/>
            <a:ext cx="8388205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10B35B9-678F-FBB1-3D5D-07CD0C768B90}"/>
              </a:ext>
            </a:extLst>
          </p:cNvPr>
          <p:cNvSpPr txBox="1"/>
          <p:nvPr/>
        </p:nvSpPr>
        <p:spPr>
          <a:xfrm>
            <a:off x="3343276" y="1285876"/>
            <a:ext cx="2857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/>
                </a:solidFill>
              </a:rPr>
              <a:t>ELEMENT 01</a:t>
            </a:r>
          </a:p>
        </p:txBody>
      </p:sp>
    </p:spTree>
    <p:extLst>
      <p:ext uri="{BB962C8B-B14F-4D97-AF65-F5344CB8AC3E}">
        <p14:creationId xmlns:p14="http://schemas.microsoft.com/office/powerpoint/2010/main" val="1387389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759E2-F012-4E41-3343-A51CCB8DF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A4F6A4-8607-5951-4AA3-891FB2E6D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897" y="0"/>
            <a:ext cx="8388205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BEFE2A-B1E3-2478-1ECF-17F5BCB697E1}"/>
              </a:ext>
            </a:extLst>
          </p:cNvPr>
          <p:cNvSpPr txBox="1"/>
          <p:nvPr/>
        </p:nvSpPr>
        <p:spPr>
          <a:xfrm>
            <a:off x="3343276" y="1285876"/>
            <a:ext cx="2857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/>
                </a:solidFill>
              </a:rPr>
              <a:t>ELEMENT 02</a:t>
            </a:r>
          </a:p>
        </p:txBody>
      </p:sp>
    </p:spTree>
    <p:extLst>
      <p:ext uri="{BB962C8B-B14F-4D97-AF65-F5344CB8AC3E}">
        <p14:creationId xmlns:p14="http://schemas.microsoft.com/office/powerpoint/2010/main" val="1235629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FF7A4-C61A-5F38-6683-E265FB1DF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112492-1B4E-07E2-F869-4579B9390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897" y="0"/>
            <a:ext cx="8388205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F2572DE-ACB2-F449-7B69-B78A3105D5C7}"/>
              </a:ext>
            </a:extLst>
          </p:cNvPr>
          <p:cNvSpPr txBox="1"/>
          <p:nvPr/>
        </p:nvSpPr>
        <p:spPr>
          <a:xfrm>
            <a:off x="3343276" y="1285876"/>
            <a:ext cx="2857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/>
                </a:solidFill>
              </a:rPr>
              <a:t>ELEMENT 03</a:t>
            </a:r>
          </a:p>
        </p:txBody>
      </p:sp>
    </p:spTree>
    <p:extLst>
      <p:ext uri="{BB962C8B-B14F-4D97-AF65-F5344CB8AC3E}">
        <p14:creationId xmlns:p14="http://schemas.microsoft.com/office/powerpoint/2010/main" val="3727533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52F22-C8B0-8A85-DF7F-E4767D66A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5B92AD-5FB8-E12B-7149-2ACCA54F9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897" y="0"/>
            <a:ext cx="8388205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8781DF-922D-0FDE-14BE-38A96132CF78}"/>
              </a:ext>
            </a:extLst>
          </p:cNvPr>
          <p:cNvSpPr txBox="1"/>
          <p:nvPr/>
        </p:nvSpPr>
        <p:spPr>
          <a:xfrm>
            <a:off x="3343276" y="1285876"/>
            <a:ext cx="2857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/>
                </a:solidFill>
              </a:rPr>
              <a:t>ELEMENT 04</a:t>
            </a:r>
          </a:p>
        </p:txBody>
      </p:sp>
    </p:spTree>
    <p:extLst>
      <p:ext uri="{BB962C8B-B14F-4D97-AF65-F5344CB8AC3E}">
        <p14:creationId xmlns:p14="http://schemas.microsoft.com/office/powerpoint/2010/main" val="2816626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D3619-7286-F4EC-EE51-7221FC922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5A9AE0-54D8-DDD3-2CB5-62CDD961B7A7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PUSHOVER ANALYSIS</a:t>
            </a:r>
          </a:p>
        </p:txBody>
      </p:sp>
    </p:spTree>
    <p:extLst>
      <p:ext uri="{BB962C8B-B14F-4D97-AF65-F5344CB8AC3E}">
        <p14:creationId xmlns:p14="http://schemas.microsoft.com/office/powerpoint/2010/main" val="90624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CE365-FCCC-FF67-C4EE-3B976A78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E9359EA-C422-FF0D-4710-3CA698D3A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891"/>
            <a:ext cx="12192000" cy="658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386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C598A-E1FD-6CB3-81ED-DEDA30E99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A1A44D4-BDB5-FF88-E1FF-00583A8F3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13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255CC-8CA8-E5B9-8A8C-AA21A48CD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A07632-6C08-C9E8-A9F5-F095CE36A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132" y="0"/>
            <a:ext cx="85837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98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8D50B-E437-2A2F-1212-622F94B66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141728E-3620-6467-18C6-A450197928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046"/>
            <a:ext cx="12192000" cy="6593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966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5C03C-0A81-28ED-C827-04D4E985D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E24A5B-05E3-8867-DA4C-8C13861B1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960" y="396739"/>
            <a:ext cx="2295525" cy="838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236636-5982-5FEC-4061-4CBCE07BE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0747" y="5032511"/>
            <a:ext cx="1885950" cy="1428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44E75E-9524-1F3A-6EB0-A3F721339C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960" y="1936656"/>
            <a:ext cx="2644141" cy="10058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FE7277-9876-D9A9-C843-C48041C3CF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5435" y="3644213"/>
            <a:ext cx="2644666" cy="10058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1CCFFB5-8A67-FD10-169D-584093372A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268" y="0"/>
            <a:ext cx="8244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1024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B3D8F-80C9-96D9-FE86-08A307ABE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FF9440-05A3-1B17-BD24-25E314E4F134}"/>
              </a:ext>
            </a:extLst>
          </p:cNvPr>
          <p:cNvSpPr txBox="1"/>
          <p:nvPr/>
        </p:nvSpPr>
        <p:spPr>
          <a:xfrm>
            <a:off x="2924410" y="962293"/>
            <a:ext cx="7529513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>
                <a:solidFill>
                  <a:srgbClr val="FF0000"/>
                </a:solidFill>
              </a:rPr>
              <a:t>BILINEAR CURVE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=   Analysis curve fitted =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    </a:t>
            </a:r>
            <a:r>
              <a:rPr lang="en-US" sz="2000" b="1" dirty="0" err="1">
                <a:solidFill>
                  <a:schemeClr val="accent3"/>
                </a:solidFill>
              </a:rPr>
              <a:t>Disp</a:t>
            </a:r>
            <a:r>
              <a:rPr lang="en-US" sz="2000" b="1" dirty="0">
                <a:solidFill>
                  <a:schemeClr val="accent3"/>
                </a:solidFill>
              </a:rPr>
              <a:t>        Base Shear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----------------------------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[[0.00000000e+00 0.00000000e+00]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[1.05586496e-01 3.45555806e+05]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[9.44000000e-01 3.86740624e+05]]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Elastic Stiffness :     3272727.27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Plastic Stiffness :     409682.86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Tangent Stiffness :     [3272727.27   49122.32]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Ductility Ratio :       8.94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Over Strength Factor:   1.12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+----------------------------------------------------+</a:t>
            </a:r>
          </a:p>
        </p:txBody>
      </p:sp>
    </p:spTree>
    <p:extLst>
      <p:ext uri="{BB962C8B-B14F-4D97-AF65-F5344CB8AC3E}">
        <p14:creationId xmlns:p14="http://schemas.microsoft.com/office/powerpoint/2010/main" val="10116137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6BC4C-492C-F180-7E7F-2CD2B40CA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4CA9A0-59B4-7829-218E-EED0AF5CF164}"/>
              </a:ext>
            </a:extLst>
          </p:cNvPr>
          <p:cNvSpPr txBox="1"/>
          <p:nvPr/>
        </p:nvSpPr>
        <p:spPr>
          <a:xfrm>
            <a:off x="1561982" y="633681"/>
            <a:ext cx="9068035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>
                <a:solidFill>
                  <a:srgbClr val="FF0000"/>
                </a:solidFill>
              </a:rPr>
              <a:t>TRILINEAR CURVE</a:t>
            </a:r>
            <a:endParaRPr lang="en-US" sz="2000" b="1" dirty="0">
              <a:solidFill>
                <a:schemeClr val="accent3"/>
              </a:solidFill>
            </a:endParaRPr>
          </a:p>
          <a:p>
            <a:r>
              <a:rPr lang="en-US" sz="2000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=   Analysis curve fitted =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    </a:t>
            </a:r>
            <a:r>
              <a:rPr lang="en-US" sz="2000" b="1" dirty="0" err="1">
                <a:solidFill>
                  <a:schemeClr val="accent3"/>
                </a:solidFill>
              </a:rPr>
              <a:t>Disp</a:t>
            </a:r>
            <a:r>
              <a:rPr lang="en-US" sz="2000" b="1" dirty="0">
                <a:solidFill>
                  <a:schemeClr val="accent3"/>
                </a:solidFill>
              </a:rPr>
              <a:t>        Base Shear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----------------------------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[[0.00000000e+00 0.00000000e+00]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[1.04512702e-01 3.42041571e+05]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[5.67000000e-01 3.70124071e+05]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[9.44000000e-01 3.86740624e+05]]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Elastic Stiffness :     3272727.27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Plastic Stiffness :     409682.86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Tangent Stiffness :     [3272727.27   60720.59   44075.74]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Ductility Ratio :       9.03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Over Strength Factor:   1.13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+----------------------------------------------------+</a:t>
            </a:r>
          </a:p>
        </p:txBody>
      </p:sp>
    </p:spTree>
    <p:extLst>
      <p:ext uri="{BB962C8B-B14F-4D97-AF65-F5344CB8AC3E}">
        <p14:creationId xmlns:p14="http://schemas.microsoft.com/office/powerpoint/2010/main" val="27783730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E0B7F-CAED-5CB1-438F-167B507A6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7CE0BA-FBAD-91E1-B63C-81807721EBA2}"/>
              </a:ext>
            </a:extLst>
          </p:cNvPr>
          <p:cNvSpPr txBox="1"/>
          <p:nvPr/>
        </p:nvSpPr>
        <p:spPr>
          <a:xfrm>
            <a:off x="571501" y="305068"/>
            <a:ext cx="1002529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>
                <a:solidFill>
                  <a:srgbClr val="FF0000"/>
                </a:solidFill>
              </a:rPr>
              <a:t>QUADRILINEAR CURVE</a:t>
            </a:r>
            <a:endParaRPr lang="en-US" sz="2000" b="1" dirty="0">
              <a:solidFill>
                <a:schemeClr val="accent3"/>
              </a:solidFill>
            </a:endParaRPr>
          </a:p>
          <a:p>
            <a:r>
              <a:rPr lang="en-US" sz="2000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=   Analysis curve fitted =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    </a:t>
            </a:r>
            <a:r>
              <a:rPr lang="en-US" sz="2000" b="1" dirty="0" err="1">
                <a:solidFill>
                  <a:schemeClr val="accent3"/>
                </a:solidFill>
              </a:rPr>
              <a:t>Disp</a:t>
            </a:r>
            <a:r>
              <a:rPr lang="en-US" sz="2000" b="1" dirty="0">
                <a:solidFill>
                  <a:schemeClr val="accent3"/>
                </a:solidFill>
              </a:rPr>
              <a:t>        Base Shear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----------------------------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[[0.00000000e+00 0.00000000e+00]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[1.04262557e-01 3.41222915e+05]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[5.67000000e-01 3.70124071e+05]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[6.14000000e-01 3.73181289e+05]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[9.44000000e-01 3.86740624e+05]]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Elastic Stiffness :     3272727.27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Plastic Stiffness :     409682.86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Tangent Stiffness :     [3272727.27   62456.92   65047.18   41088.89]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Ductility Ratio :       9.05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Over Strength Factor:   1.13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+----------------------------------------------------+</a:t>
            </a:r>
          </a:p>
        </p:txBody>
      </p:sp>
    </p:spTree>
    <p:extLst>
      <p:ext uri="{BB962C8B-B14F-4D97-AF65-F5344CB8AC3E}">
        <p14:creationId xmlns:p14="http://schemas.microsoft.com/office/powerpoint/2010/main" val="26600472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67D0F-475A-5F07-6A7B-D605CCA41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89288C-A1E8-6996-0B9F-F57931D08A89}"/>
              </a:ext>
            </a:extLst>
          </p:cNvPr>
          <p:cNvSpPr txBox="1"/>
          <p:nvPr/>
        </p:nvSpPr>
        <p:spPr>
          <a:xfrm>
            <a:off x="571501" y="305068"/>
            <a:ext cx="10025298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>
                <a:solidFill>
                  <a:srgbClr val="FF0000"/>
                </a:solidFill>
              </a:rPr>
              <a:t>PENTALINEAR CURVE</a:t>
            </a:r>
            <a:endParaRPr lang="en-US" sz="2000" b="1" dirty="0">
              <a:solidFill>
                <a:schemeClr val="accent3"/>
              </a:solidFill>
            </a:endParaRPr>
          </a:p>
          <a:p>
            <a:r>
              <a:rPr lang="en-US" sz="2000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=   Analysis curve fitted =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    </a:t>
            </a:r>
            <a:r>
              <a:rPr lang="en-US" sz="2000" b="1" dirty="0" err="1">
                <a:solidFill>
                  <a:schemeClr val="accent3"/>
                </a:solidFill>
              </a:rPr>
              <a:t>Disp</a:t>
            </a:r>
            <a:r>
              <a:rPr lang="en-US" sz="2000" b="1" dirty="0">
                <a:solidFill>
                  <a:schemeClr val="accent3"/>
                </a:solidFill>
              </a:rPr>
              <a:t>        Base Shear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----------------------------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[[0.00000000e+00 0.00000000e+00]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[1.04126239e-01 3.40776781e+05]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[5.67000000e-01 3.70124071e+05]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[6.14000000e-01 3.73181289e+05]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[8.50000000e-01 3.83491914e+05]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[9.44000000e-01 3.86740624e+05]]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Elastic Stiffness :     3272727.27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Plastic Stiffness :     409682.86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Tangent Stiffness :     [3272727.27   63402.36   65047.18   43689.09   34560.74]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Ductility Ratio :       9.07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Over Strength Factor:   1.13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+----------------------------------------------------+</a:t>
            </a:r>
          </a:p>
        </p:txBody>
      </p:sp>
    </p:spTree>
    <p:extLst>
      <p:ext uri="{BB962C8B-B14F-4D97-AF65-F5344CB8AC3E}">
        <p14:creationId xmlns:p14="http://schemas.microsoft.com/office/powerpoint/2010/main" val="27863831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2DD93-4248-D78A-A98F-16772ACDB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81467E-3C64-5545-B3FB-E7804D366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826" y="850767"/>
            <a:ext cx="7728347" cy="5156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9690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E7AB2-8024-99F1-1109-38412ECDD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80D4D3-C9E5-D0B1-5E0B-224D211CF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272" y="784089"/>
            <a:ext cx="7893456" cy="5289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5096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6AFBD-E81F-36C6-6A55-3E9FA882A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79F3AF9-0853-197F-72F8-34AB35E5BC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154" y="784089"/>
            <a:ext cx="7607691" cy="5289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9973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BB10D-D8E1-5A21-3186-D442A3745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6B42C21-5D46-4431-27F1-9DD594D38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877" y="850767"/>
            <a:ext cx="7690245" cy="5156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2817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5687A-CDBE-CD1B-C126-D7D354CDD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ABDBB3-3BD3-3C10-CFEF-4E365AFDD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600" y="936497"/>
            <a:ext cx="7772799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3665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6DC82-CE81-09DB-47B6-7C12E5B1B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B90A49-291A-A907-17B7-89C23E8D9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871" y="936497"/>
            <a:ext cx="7944258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1224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4B26B-ED77-E2A4-B873-A5ECCDFC2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5A1EC9-CD96-924C-AC52-F471BB9B86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686" y="777738"/>
            <a:ext cx="7334627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8776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F5564-FD1C-1789-0F28-84031421D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79A8EAB-F421-9F85-A452-42471252C2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132" y="771388"/>
            <a:ext cx="7499735" cy="531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098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DA3FB-0AD0-EF50-A042-8BB410210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044E1EA-E6A5-93F7-17CA-A39119ABF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358" y="777738"/>
            <a:ext cx="7455283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2069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57C9A-C472-0AEA-D48E-A381F1A80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FD872C6-B90A-946B-B5A1-3F8CB9B87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0075" y="777738"/>
            <a:ext cx="7791850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1457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2C7A2-D7C2-7FB2-4768-DEB647AA0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92F4AC-3F73-CF54-7088-2E1450A13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5950" y="777738"/>
            <a:ext cx="7760099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6152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F1FDB-201F-7B04-A40F-46059CA75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0D25EA-4C24-9802-B775-E7CA0A129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2336" y="777738"/>
            <a:ext cx="7347328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357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97A6A-8196-BFD4-BA59-0617513EA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129DA56-5F7F-DDFE-BC50-EFDECF044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691" y="718155"/>
            <a:ext cx="10600618" cy="542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5906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39EF6-7726-4547-2075-A562AAAA1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683E1C5-03DA-1340-8DF4-8E3AF9756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4031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48EC3-F6B3-EB78-2CBE-ACDED8255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05F0586-9E60-2777-C394-B822B718E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365" y="733286"/>
            <a:ext cx="7201270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7468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2ED76-FCF7-AB10-7740-4292857CB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3BBC013-A301-F749-C6B7-0BA2FEB37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3590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C5A05-77B2-1585-CF53-6905BEFC5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A42830B-4C72-39CD-B17B-C6627942C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567" y="733286"/>
            <a:ext cx="904286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0511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79640-8D2A-CC97-64B2-6DC937EA9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8E4ED9-3A9E-B925-4EA2-4ACE13360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82135"/>
            <a:ext cx="12192000" cy="2693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565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467</TotalTime>
  <Words>444</Words>
  <Application>Microsoft Office PowerPoint</Application>
  <PresentationFormat>Widescreen</PresentationFormat>
  <Paragraphs>82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201</cp:revision>
  <cp:lastPrinted>2026-03-23T10:01:33Z</cp:lastPrinted>
  <dcterms:created xsi:type="dcterms:W3CDTF">2025-06-03T10:37:48Z</dcterms:created>
  <dcterms:modified xsi:type="dcterms:W3CDTF">2026-10-07T08:53:33Z</dcterms:modified>
</cp:coreProperties>
</file>