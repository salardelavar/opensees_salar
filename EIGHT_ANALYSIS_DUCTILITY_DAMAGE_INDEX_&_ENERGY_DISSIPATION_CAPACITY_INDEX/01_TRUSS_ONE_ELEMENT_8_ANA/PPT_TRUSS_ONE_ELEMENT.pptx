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322" r:id="rId4"/>
    <p:sldId id="259" r:id="rId5"/>
    <p:sldId id="323" r:id="rId6"/>
    <p:sldId id="303" r:id="rId7"/>
    <p:sldId id="302" r:id="rId8"/>
    <p:sldId id="324" r:id="rId9"/>
    <p:sldId id="306" r:id="rId10"/>
    <p:sldId id="336" r:id="rId11"/>
    <p:sldId id="305" r:id="rId12"/>
    <p:sldId id="304" r:id="rId13"/>
    <p:sldId id="261" r:id="rId14"/>
    <p:sldId id="325" r:id="rId15"/>
    <p:sldId id="337" r:id="rId16"/>
    <p:sldId id="342" r:id="rId17"/>
    <p:sldId id="307" r:id="rId18"/>
    <p:sldId id="308" r:id="rId19"/>
    <p:sldId id="265" r:id="rId20"/>
    <p:sldId id="326" r:id="rId21"/>
    <p:sldId id="266" r:id="rId22"/>
    <p:sldId id="309" r:id="rId23"/>
    <p:sldId id="310" r:id="rId24"/>
    <p:sldId id="311" r:id="rId25"/>
    <p:sldId id="312" r:id="rId26"/>
    <p:sldId id="327" r:id="rId27"/>
    <p:sldId id="313" r:id="rId28"/>
    <p:sldId id="314" r:id="rId29"/>
    <p:sldId id="315" r:id="rId30"/>
    <p:sldId id="330" r:id="rId31"/>
    <p:sldId id="331" r:id="rId32"/>
    <p:sldId id="338" r:id="rId33"/>
    <p:sldId id="316" r:id="rId34"/>
    <p:sldId id="317" r:id="rId35"/>
    <p:sldId id="318" r:id="rId36"/>
    <p:sldId id="319" r:id="rId37"/>
    <p:sldId id="263" r:id="rId38"/>
    <p:sldId id="268" r:id="rId39"/>
    <p:sldId id="329" r:id="rId40"/>
    <p:sldId id="269" r:id="rId41"/>
    <p:sldId id="270" r:id="rId42"/>
    <p:sldId id="332" r:id="rId43"/>
    <p:sldId id="333" r:id="rId44"/>
    <p:sldId id="339" r:id="rId45"/>
    <p:sldId id="271" r:id="rId46"/>
    <p:sldId id="272" r:id="rId47"/>
    <p:sldId id="273" r:id="rId48"/>
    <p:sldId id="343" r:id="rId49"/>
    <p:sldId id="274" r:id="rId50"/>
    <p:sldId id="320" r:id="rId51"/>
    <p:sldId id="275" r:id="rId52"/>
    <p:sldId id="328" r:id="rId53"/>
    <p:sldId id="276" r:id="rId54"/>
    <p:sldId id="277" r:id="rId55"/>
    <p:sldId id="334" r:id="rId56"/>
    <p:sldId id="335" r:id="rId57"/>
    <p:sldId id="340" r:id="rId58"/>
    <p:sldId id="278" r:id="rId59"/>
    <p:sldId id="279" r:id="rId60"/>
    <p:sldId id="341" r:id="rId61"/>
    <p:sldId id="344" r:id="rId62"/>
    <p:sldId id="321" r:id="rId63"/>
    <p:sldId id="280" r:id="rId64"/>
    <p:sldId id="345" r:id="rId65"/>
    <p:sldId id="347" r:id="rId66"/>
    <p:sldId id="348" r:id="rId67"/>
    <p:sldId id="346" r:id="rId6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32" autoAdjust="0"/>
    <p:restoredTop sz="94660"/>
  </p:normalViewPr>
  <p:slideViewPr>
    <p:cSldViewPr snapToGrid="0">
      <p:cViewPr varScale="1">
        <p:scale>
          <a:sx n="67" d="100"/>
          <a:sy n="67" d="100"/>
        </p:scale>
        <p:origin x="77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06F19-96B3-4F13-35FC-4C10EA15B5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354475-7BA8-25EF-1CFC-6CD765732E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133B1-CFEB-D001-3747-C35328F26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554BF-FEFC-F4F4-7D7B-7920E7FFF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AD913-BD93-93CE-A775-2003F45ED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377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8E314-D5C2-3D8B-66C5-8C04C8EEF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A1D6D-0944-FD5C-61EE-88C56D0CC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E38C9-F2E3-E438-888A-79911E678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DD91B-B219-07DC-D0F4-997D63E8D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C8B21-6104-B689-B956-BFEBA0CBC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448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BBEA3-A996-90BC-61CF-A9E8C7053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DE84B-6C6E-0F03-B7CA-AE7251441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907A1-2B55-F570-8543-AF3F1A187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EDF31-B49C-528A-C664-A49658765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BE76D-A87B-DA18-8479-B8301D683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22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A1208-B198-1F22-B7DA-898B85137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100EE-A9D5-8996-3B8D-D5C2FD4310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34A0BA-F482-8A2F-69DA-93924ACCFF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E56A1-FDF7-04A0-ED99-D5834334B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35502C-B44E-3200-D036-AD1124B44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E585DB-3C44-B39A-644C-3F6EAB789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936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ECB78-B4D2-F23F-64BD-C802FC0BD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F1A3BD-9AE3-6221-8F14-D02D3448B5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B2E2D9-E913-3697-2AE1-5DA127417D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5C9B34-F075-3C3C-A7E8-D635F590EB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2D6DC1-8965-9603-46B6-9AD98D0853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EFDEA5-35A1-A318-5266-2834BAF35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EC9092-5D9A-9E11-005C-C6A1BE621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3F392C-5BDE-B1D7-2EA9-B7A047553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368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EF55C-4097-72FF-48B2-B56474D34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E83B87-B7B5-54F9-A06C-271130C3D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0681D4-63E7-2F19-7B22-EBFB4BC8C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87F270-B9A2-DE4C-B46D-F62DCDA0A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896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3D5D6D-2585-E7FC-FB39-DE3E61D7B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BE21F8-D01F-C069-E9A3-8E305BA63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E1E19-44C5-A381-C1F6-8A7150F49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734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6C389-B78C-B2CD-2C77-60FB75B9D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CDF69-B172-3093-9B71-21E9EF8170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3A7C3-F528-1D0F-A50E-EA44F42D92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F68BD8-8500-71ED-EA5A-CC6BE90C6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F146E5-BC7F-015F-BA30-09404FF7D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7EF81-5823-6FEC-027F-083784305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642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C2397-66BF-38D3-5200-5C1170407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9C5F01-F6D3-C44A-367D-63103EE249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D08A42-B9F7-32DA-F543-E07609EA2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226F43-E67A-6BB5-E035-3630FA185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C3D92E-BB12-D139-35FC-5C5AA677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03186E-8782-AB5D-90E2-4B86C7778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342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DC78A-1446-3920-67C0-32803C7E7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950D9E-F838-CDDF-A73E-301B576CB9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394C8-E136-DF00-DB32-89EDD4605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5BF00D-D0FC-834E-D935-77CA41FAF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8F43A-949B-DD39-6782-1C9DC5B7E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884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37D68F-F8E6-E1B4-9A2E-6296A75244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AD167E-7F88-0DED-889D-64070DEA4E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CB663-5F1A-C8B2-DAB0-6695A93DF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9037D-75E8-A82D-0717-D1D16F115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1895C-947D-DEE2-731B-86239A3CC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6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CE371A-ED9B-F859-8DFE-E88B2FA96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2FF3AD-6AF8-0FEC-35CB-99ED597C3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356C9-0DD8-62A7-8D4B-61CCC3AFE0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38DA24-7C00-4CB3-BA06-557152E755C0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8E712-AE42-63F8-BAB5-1739C56497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6EA66-660E-1F2A-60C0-D4CA0AEB6F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443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58B20A0-BB54-8C05-4883-84DD448D638B}"/>
              </a:ext>
            </a:extLst>
          </p:cNvPr>
          <p:cNvSpPr txBox="1"/>
          <p:nvPr/>
        </p:nvSpPr>
        <p:spPr>
          <a:xfrm>
            <a:off x="952500" y="582067"/>
            <a:ext cx="1028700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3"/>
                </a:solidFill>
              </a:rPr>
              <a:t>&gt;&gt; IN THE NAME OF ALLAH, THE MOST GRACIOUS, THE MOST MERCIFUL &lt;&lt;</a:t>
            </a:r>
          </a:p>
          <a:p>
            <a:pPr algn="ctr"/>
            <a:r>
              <a:rPr lang="en-US" sz="4800" b="1" dirty="0">
                <a:solidFill>
                  <a:schemeClr val="accent5"/>
                </a:solidFill>
              </a:rPr>
              <a:t>COMPREHENSIVE NONLINEAR SEISMIC ASSESSMENT OF STEEL A TRUSS ELEMENT: AN OPENSEES FRAMEWORK FOR STATIC PUSHOVER, CYCLIC DEGRADATION, STATIC TIME-HISTORY AND DYNAMIC TIME-HISTORY ANALYSIS        </a:t>
            </a:r>
            <a:r>
              <a:rPr lang="en-US" sz="1200" b="1" dirty="0">
                <a:solidFill>
                  <a:schemeClr val="accent3"/>
                </a:solidFill>
              </a:rPr>
              <a:t>THIS PROGRAM IS WRITTEN BY SALAR DELAVAR GHASHGHAEI (QASHQAI)</a:t>
            </a:r>
          </a:p>
        </p:txBody>
      </p:sp>
    </p:spTree>
    <p:extLst>
      <p:ext uri="{BB962C8B-B14F-4D97-AF65-F5344CB8AC3E}">
        <p14:creationId xmlns:p14="http://schemas.microsoft.com/office/powerpoint/2010/main" val="2561539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0759B-40F4-A8DE-D64C-E72E1EEE8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B9685B0-74C4-F576-A034-5B848C181D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6912"/>
            <a:ext cx="12192000" cy="622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771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6EEF4-8787-065C-13DE-5F327E105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B0E86B-461F-B8B4-A945-891C38005A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8414"/>
            <a:ext cx="12192000" cy="664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235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F8AF4-F71D-1920-08A4-7FFFAC020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72B964-3094-74F1-711C-527BD9CB5E8E}"/>
              </a:ext>
            </a:extLst>
          </p:cNvPr>
          <p:cNvSpPr txBox="1"/>
          <p:nvPr/>
        </p:nvSpPr>
        <p:spPr>
          <a:xfrm>
            <a:off x="1943100" y="2902506"/>
            <a:ext cx="89439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STATIC ANALYSIS</a:t>
            </a:r>
          </a:p>
        </p:txBody>
      </p:sp>
    </p:spTree>
    <p:extLst>
      <p:ext uri="{BB962C8B-B14F-4D97-AF65-F5344CB8AC3E}">
        <p14:creationId xmlns:p14="http://schemas.microsoft.com/office/powerpoint/2010/main" val="1068325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90C22-AA40-AB9A-9761-537B21628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3BE28B0-DBCA-B867-1498-422B27F48D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9989"/>
            <a:ext cx="12192000" cy="6558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7798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6117B-CD12-A128-A9F4-EBB15AF42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33A0E17-75F0-9E60-5748-B5B55D0575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5637" y="0"/>
            <a:ext cx="85607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355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D3619-7286-F4EC-EE51-7221FC922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5A9AE0-54D8-DDD3-2CB5-62CDD961B7A7}"/>
              </a:ext>
            </a:extLst>
          </p:cNvPr>
          <p:cNvSpPr txBox="1"/>
          <p:nvPr/>
        </p:nvSpPr>
        <p:spPr>
          <a:xfrm>
            <a:off x="1943100" y="2902506"/>
            <a:ext cx="89439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PUSHOVER ANALYSIS</a:t>
            </a:r>
          </a:p>
        </p:txBody>
      </p:sp>
    </p:spTree>
    <p:extLst>
      <p:ext uri="{BB962C8B-B14F-4D97-AF65-F5344CB8AC3E}">
        <p14:creationId xmlns:p14="http://schemas.microsoft.com/office/powerpoint/2010/main" val="906246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CE365-FCCC-FF67-C4EE-3B976A789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6BD6046-E904-5C86-E59A-36F43347BC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5470"/>
            <a:ext cx="12192000" cy="6547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3865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C598A-E1FD-6CB3-81ED-DEDA30E99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BF757D4-2218-36D8-1A1A-94C076787E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765" y="234786"/>
            <a:ext cx="914447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130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D373D-9C8C-5B94-1A02-E3E3C005B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F8BFF1C-C48D-25E0-FA50-921B24F6B0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488" y="234786"/>
            <a:ext cx="9227024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5412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FFB88-23EF-2C70-41A4-3F7554EE6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4DE19ED-FC0B-D58D-33E5-3E2899D6B6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5637" y="0"/>
            <a:ext cx="85607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6975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26642-CFC3-3863-C174-585452CCD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CE8190-0CAD-1F63-AA6A-3E9111BF0796}"/>
              </a:ext>
            </a:extLst>
          </p:cNvPr>
          <p:cNvSpPr txBox="1"/>
          <p:nvPr/>
        </p:nvSpPr>
        <p:spPr>
          <a:xfrm>
            <a:off x="1843087" y="2459504"/>
            <a:ext cx="894397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CYCLIC DISPLACEMENT ANALYSIS</a:t>
            </a:r>
          </a:p>
        </p:txBody>
      </p:sp>
    </p:spTree>
    <p:extLst>
      <p:ext uri="{BB962C8B-B14F-4D97-AF65-F5344CB8AC3E}">
        <p14:creationId xmlns:p14="http://schemas.microsoft.com/office/powerpoint/2010/main" val="6866364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0A545-5A10-9F1B-45A2-F44A2616C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03DA42F-C8A4-6273-81A2-FA09D5042E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4807"/>
            <a:ext cx="12192000" cy="6548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3736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FB424-8A93-DAB4-EA03-8FA2907BE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4E801A-21B5-3C16-30B8-FC64AF389A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510" y="234786"/>
            <a:ext cx="933498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2785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ED8F3-9803-93BD-8AD1-72F549BED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9EE147-43FF-55C5-CC16-F276E19ECC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488" y="234786"/>
            <a:ext cx="9227024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8802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2D97C-A7EA-4013-B570-1090601A0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C4C4B3C-07EF-3BBD-9939-353D30EF93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9620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A9F5F-3F08-460B-95CE-E74CA5BD5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8306F79-786C-A8D7-508B-03CB2CF7E3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5637" y="0"/>
            <a:ext cx="85607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7195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D3F20-B8F0-61CD-7105-05376A6A1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C8AE3F-60FB-913F-ADE8-ADED74306ACB}"/>
              </a:ext>
            </a:extLst>
          </p:cNvPr>
          <p:cNvSpPr txBox="1"/>
          <p:nvPr/>
        </p:nvSpPr>
        <p:spPr>
          <a:xfrm>
            <a:off x="552450" y="1997839"/>
            <a:ext cx="112871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STATIC TIME-HISTORY WITH EXTERNAL TIME-DEPENDENT LOADING ANALYSIS</a:t>
            </a:r>
          </a:p>
        </p:txBody>
      </p:sp>
    </p:spTree>
    <p:extLst>
      <p:ext uri="{BB962C8B-B14F-4D97-AF65-F5344CB8AC3E}">
        <p14:creationId xmlns:p14="http://schemas.microsoft.com/office/powerpoint/2010/main" val="37179889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25BD7-E78D-605C-1FC7-03F79B040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B899D23-A02E-25B5-BD30-3AA32FA1E8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4318"/>
            <a:ext cx="12192000" cy="6649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636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D9EB2-C6F0-F914-10C6-156783722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C4953C6-887F-3541-F78D-4A2845A15C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797" y="936497"/>
            <a:ext cx="7874405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241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808B4-C346-204E-0B48-325AC4B77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9A632B-4962-6BC4-A7E3-67C68EC64D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561" y="234786"/>
            <a:ext cx="929687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3344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6F178-E24E-09B7-2171-2646FA404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07D16D-4455-E92A-5958-0C227137C5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211" y="234786"/>
            <a:ext cx="930957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8479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EC418-E5BC-8617-2C8C-83DB5D0FA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233C878-D796-EE87-D3E9-CB050DFA88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5637" y="0"/>
            <a:ext cx="85607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9463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209FD-35F5-599A-B427-EC8AD8777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F7AE19-CDDA-1A77-970E-F2F26F7C4C2A}"/>
              </a:ext>
            </a:extLst>
          </p:cNvPr>
          <p:cNvSpPr txBox="1"/>
          <p:nvPr/>
        </p:nvSpPr>
        <p:spPr>
          <a:xfrm>
            <a:off x="452437" y="1997839"/>
            <a:ext cx="112871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DYNAMIC TIME-HISTORY WITH EXTERNAL TIME-DEPENDENT LOADING ANALYSIS</a:t>
            </a:r>
          </a:p>
        </p:txBody>
      </p:sp>
    </p:spTree>
    <p:extLst>
      <p:ext uri="{BB962C8B-B14F-4D97-AF65-F5344CB8AC3E}">
        <p14:creationId xmlns:p14="http://schemas.microsoft.com/office/powerpoint/2010/main" val="27379884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E973F-8B3E-8A16-ACAA-110E58B18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39DDFE-DE59-54B4-8E7A-B6329064C5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2313"/>
            <a:ext cx="12192000" cy="6613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7911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1CC92-E997-32E8-E0AA-FE03B2D2B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36094B-FC21-6EA6-3912-6A3A48CCC2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797" y="936497"/>
            <a:ext cx="7874405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7472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13723-ED21-A546-332D-5526EF294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7D1CE7-B257-230F-1C1B-B1D7D07936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561" y="234786"/>
            <a:ext cx="929687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4972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E82A1-DB42-FD79-C9BD-8DAEB0B64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DBB6D4-45B4-A72B-5621-BBFB457CF5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2243" y="0"/>
            <a:ext cx="85875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7800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2C96F-B711-87A9-6F5E-8E468382B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D26E3F-3E56-75D0-3958-67B02A3281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488" y="733286"/>
            <a:ext cx="922702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9295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66AB4-1EF3-AF97-DE08-B9054916D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45B8A76-B874-3875-C8E9-75FD80273D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0736" y="733286"/>
            <a:ext cx="9290527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6831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0D85D-ACDE-BD19-76BA-33C4B4CC5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D7FB900-AD21-4B6D-F24A-2B66A87FB9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714" y="733286"/>
            <a:ext cx="9182572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8881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36A6F-686C-EF33-EA84-2516774EF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661D097-45C3-5569-5332-0161B8CCA8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1978" y="733286"/>
            <a:ext cx="960804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8179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58FBB-9C91-A446-D06B-EB26E899A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A22562-AD00-3650-6F24-9DFC6C4638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5481" y="733286"/>
            <a:ext cx="9481037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7405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992D3-BDA7-B112-D452-BB88F03FA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C9DC0E-4727-7935-922E-2045B7472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7707" y="733286"/>
            <a:ext cx="943658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44236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C21C8-AAD5-C741-387B-56427E5C8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6BB4BB-98BA-198A-8546-BA2448E2FD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211" y="234786"/>
            <a:ext cx="930957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5149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4E615-CBBB-BDD8-E9B3-C55DFB6C2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6225E18-E8E4-60CA-A89E-A505B88F8B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5637" y="0"/>
            <a:ext cx="85607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77654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4D0C3-33BC-8AC0-7546-EC996A27D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C8780A-4FC2-F497-BE34-B2C16E7CF8E0}"/>
              </a:ext>
            </a:extLst>
          </p:cNvPr>
          <p:cNvSpPr txBox="1"/>
          <p:nvPr/>
        </p:nvSpPr>
        <p:spPr>
          <a:xfrm>
            <a:off x="885826" y="2902506"/>
            <a:ext cx="100012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FREE-VIBRATION ANALYSIS</a:t>
            </a:r>
          </a:p>
        </p:txBody>
      </p:sp>
    </p:spTree>
    <p:extLst>
      <p:ext uri="{BB962C8B-B14F-4D97-AF65-F5344CB8AC3E}">
        <p14:creationId xmlns:p14="http://schemas.microsoft.com/office/powerpoint/2010/main" val="342524307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F80FA-5CC6-10B0-6A40-DC8DB514D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3AAEA6F-4C1F-B6B4-283C-D3932E937C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8202"/>
            <a:ext cx="12192000" cy="6621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34403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E1CAC-4795-E846-F7DF-A53A4F370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69FFD9A-0873-31CD-852A-624AFDCE90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510" y="234786"/>
            <a:ext cx="933498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19655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5A79D-7B6D-8641-127E-91A35B4FE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2374DBC-6653-437D-F499-770C11317A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2243" y="0"/>
            <a:ext cx="85875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43234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C2584-B6F1-E4AA-2324-111A7CEC6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E86502-2EC5-4AC3-CDCB-C8F207264F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22433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D1BEF-3325-33A6-3892-CF99FA7D0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025A80-EDB0-0698-F1CE-5BDD15D190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63717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0380E-CAE8-1CF1-4C2F-213CEC8A1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547FA8-675A-4D3B-CF33-B7C05BA4CE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00517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E8919-6457-5149-94BC-A88EE7431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F729407-8789-953C-0E3E-9D8399512A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02109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49D1D-A3EC-2938-502A-DC646EEBF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7DB3B32-EBDF-7505-CC14-99DE5C1EA3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73084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87B60-E10D-E4DE-617A-11E247A71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0DE0803-74A4-F1F9-A990-96AA9DE773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74025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27920-A997-0EF3-B994-2238D571C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8D1E2FE-9A5C-D973-04A9-8E39C725E0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488" y="234786"/>
            <a:ext cx="9227024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12303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0F7A5-7333-16E9-F1C5-F547A30AE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63C862-8573-C32E-FDE6-95D0FBA6F8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99965"/>
            <a:ext cx="6305874" cy="5258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72476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43421-63C1-6532-6914-A005C0DB8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9284C4-9F12-2DB4-83C7-56798E827C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5637" y="0"/>
            <a:ext cx="85607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40775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A6411-5370-8D0E-D82B-643AFEAC4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2FD87F-FA27-4F3D-9880-2DB81CE0CF95}"/>
              </a:ext>
            </a:extLst>
          </p:cNvPr>
          <p:cNvSpPr txBox="1"/>
          <p:nvPr/>
        </p:nvSpPr>
        <p:spPr>
          <a:xfrm>
            <a:off x="885826" y="2902506"/>
            <a:ext cx="100012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SEISMIC ANALYSIS</a:t>
            </a:r>
          </a:p>
        </p:txBody>
      </p:sp>
    </p:spTree>
    <p:extLst>
      <p:ext uri="{BB962C8B-B14F-4D97-AF65-F5344CB8AC3E}">
        <p14:creationId xmlns:p14="http://schemas.microsoft.com/office/powerpoint/2010/main" val="181498690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CDBA9-C54B-300B-2CD4-0907A3676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8351E2-2681-1FCF-A899-8F2493C739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2313"/>
            <a:ext cx="12192000" cy="6613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88525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FA42C-A453-6104-5A0F-C920D0078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0E6596-8BC2-EDC1-62C6-3B37BDA25A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510" y="234786"/>
            <a:ext cx="933498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94466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ABDFB-049D-3FA7-32D9-44B5AB004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7810D2-1D70-9ACE-A892-B05F2FC8C5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2243" y="0"/>
            <a:ext cx="85875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57682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4BAB1-6E46-ACDE-FA5F-37B22EC1D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FFAA84-5567-DA64-858B-15B25146CD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17807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83218-27CC-B807-95A3-EE38736E0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5EA8F5E-3324-310B-2441-4A0E33ADF6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44943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401FB-1D70-4FCD-A0D0-0A69453C1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4FCE893-7DE1-1FCF-C6E8-CBA7BBDF47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14932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C2C77-D83F-5750-9369-787FCB84A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8C95227-3903-053A-5DE2-B2D63BB581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81750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D7807-1698-909C-7453-FC19B883B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DC4FCC8-48A5-D555-018A-D8D120A427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46044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C88F2-F10A-DD8C-0424-DDFF46AE4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825860A-2CEC-7413-7309-9914D4ECCB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80195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16378-4D9F-7E3E-7BE4-F94247604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427A46-258F-F1A2-0B0B-30219892B2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211" y="234786"/>
            <a:ext cx="930957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30677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B08C2-E633-151D-D9B6-5109F7D93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AAD1F76-D9D8-86A4-8555-1C9FFB395C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38290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D045D-230D-9245-CFCE-9F2977DCD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96341FF-B944-F6AB-28DD-19604FB55F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5637" y="0"/>
            <a:ext cx="85607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89187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75E49-0A4F-BF35-F96E-B40EDEF0E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D33AE8-E537-38FC-5260-074842BCBF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765" y="234786"/>
            <a:ext cx="914447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71759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654A3-046B-38F4-15C4-A6DB1EA00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FD117DC-45C5-5C8E-9CEF-F5FA4A4E2584}"/>
              </a:ext>
            </a:extLst>
          </p:cNvPr>
          <p:cNvSpPr txBox="1"/>
          <p:nvPr/>
        </p:nvSpPr>
        <p:spPr>
          <a:xfrm>
            <a:off x="2767246" y="612844"/>
            <a:ext cx="7529513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3"/>
                </a:solidFill>
              </a:rPr>
              <a:t>+==========================+</a:t>
            </a:r>
          </a:p>
          <a:p>
            <a:r>
              <a:rPr lang="en-US" b="1" dirty="0">
                <a:solidFill>
                  <a:schemeClr val="accent3"/>
                </a:solidFill>
              </a:rPr>
              <a:t>=   Analysis curve fitted =</a:t>
            </a:r>
          </a:p>
          <a:p>
            <a:r>
              <a:rPr lang="en-US" b="1" dirty="0">
                <a:solidFill>
                  <a:schemeClr val="accent3"/>
                </a:solidFill>
              </a:rPr>
              <a:t>     </a:t>
            </a:r>
            <a:r>
              <a:rPr lang="en-US" b="1" dirty="0" err="1">
                <a:solidFill>
                  <a:schemeClr val="accent3"/>
                </a:solidFill>
              </a:rPr>
              <a:t>Disp</a:t>
            </a:r>
            <a:r>
              <a:rPr lang="en-US" b="1" dirty="0">
                <a:solidFill>
                  <a:schemeClr val="accent3"/>
                </a:solidFill>
              </a:rPr>
              <a:t>        Base Shear</a:t>
            </a:r>
          </a:p>
          <a:p>
            <a:r>
              <a:rPr lang="en-US" b="1" dirty="0">
                <a:solidFill>
                  <a:schemeClr val="accent3"/>
                </a:solidFill>
              </a:rPr>
              <a:t>----------------------------</a:t>
            </a:r>
          </a:p>
          <a:p>
            <a:r>
              <a:rPr lang="en-US" b="1" dirty="0">
                <a:solidFill>
                  <a:schemeClr val="accent3"/>
                </a:solidFill>
              </a:rPr>
              <a:t>[[0.00000000e+00 0.00000000e+00]</a:t>
            </a:r>
          </a:p>
          <a:p>
            <a:r>
              <a:rPr lang="en-US" b="1" dirty="0">
                <a:solidFill>
                  <a:schemeClr val="accent3"/>
                </a:solidFill>
              </a:rPr>
              <a:t> [3.59999784e+00 9.79199413e+05]</a:t>
            </a:r>
          </a:p>
          <a:p>
            <a:r>
              <a:rPr lang="en-US" b="1" dirty="0">
                <a:solidFill>
                  <a:schemeClr val="accent3"/>
                </a:solidFill>
              </a:rPr>
              <a:t> [5.00000000e+01 1.00237638e+06]]</a:t>
            </a:r>
          </a:p>
          <a:p>
            <a:r>
              <a:rPr lang="en-US" b="1" dirty="0">
                <a:solidFill>
                  <a:schemeClr val="accent3"/>
                </a:solidFill>
              </a:rPr>
              <a:t>+==========================+</a:t>
            </a:r>
          </a:p>
          <a:p>
            <a:r>
              <a:rPr lang="en-US" b="1" dirty="0">
                <a:solidFill>
                  <a:schemeClr val="accent3"/>
                </a:solidFill>
              </a:rPr>
              <a:t>+----------------------------------------------------+</a:t>
            </a:r>
          </a:p>
          <a:p>
            <a:r>
              <a:rPr lang="en-US" b="1" dirty="0">
                <a:solidFill>
                  <a:schemeClr val="accent3"/>
                </a:solidFill>
              </a:rPr>
              <a:t> Structure Elastic Stiffness :     272000.00</a:t>
            </a:r>
          </a:p>
          <a:p>
            <a:r>
              <a:rPr lang="en-US" b="1" dirty="0">
                <a:solidFill>
                  <a:schemeClr val="accent3"/>
                </a:solidFill>
              </a:rPr>
              <a:t> Structure Plastic Stiffness :     20047.53</a:t>
            </a:r>
          </a:p>
          <a:p>
            <a:r>
              <a:rPr lang="en-US" b="1" dirty="0">
                <a:solidFill>
                  <a:schemeClr val="accent3"/>
                </a:solidFill>
              </a:rPr>
              <a:t> Structure Tangent Stiffness :     499.50</a:t>
            </a:r>
          </a:p>
          <a:p>
            <a:r>
              <a:rPr lang="en-US" b="1" dirty="0">
                <a:solidFill>
                  <a:schemeClr val="accent3"/>
                </a:solidFill>
              </a:rPr>
              <a:t> Structure Ductility Ratio :       13.89</a:t>
            </a:r>
          </a:p>
          <a:p>
            <a:r>
              <a:rPr lang="en-US" b="1" dirty="0">
                <a:solidFill>
                  <a:schemeClr val="accent3"/>
                </a:solidFill>
              </a:rPr>
              <a:t> Structure Over Strength Factor:   1.02</a:t>
            </a:r>
          </a:p>
          <a:p>
            <a:r>
              <a:rPr lang="en-US" b="1" dirty="0">
                <a:solidFill>
                  <a:schemeClr val="accent3"/>
                </a:solidFill>
              </a:rPr>
              <a:t>+----------------------------------------------------+</a:t>
            </a:r>
          </a:p>
          <a:p>
            <a:r>
              <a:rPr lang="en-US" b="1" dirty="0">
                <a:solidFill>
                  <a:schemeClr val="accent3"/>
                </a:solidFill>
              </a:rPr>
              <a:t>Over Strength Coefficient (</a:t>
            </a:r>
            <a:r>
              <a:rPr lang="el-GR" b="1" dirty="0">
                <a:solidFill>
                  <a:schemeClr val="accent3"/>
                </a:solidFill>
              </a:rPr>
              <a:t>Ω0):      1.0237</a:t>
            </a:r>
          </a:p>
          <a:p>
            <a:r>
              <a:rPr lang="en-US" b="1" dirty="0">
                <a:solidFill>
                  <a:schemeClr val="accent3"/>
                </a:solidFill>
              </a:rPr>
              <a:t>Displacement Ductility Ratio (</a:t>
            </a:r>
            <a:r>
              <a:rPr lang="el-GR" b="1" dirty="0">
                <a:solidFill>
                  <a:schemeClr val="accent3"/>
                </a:solidFill>
              </a:rPr>
              <a:t>μ):    13.8889</a:t>
            </a:r>
          </a:p>
          <a:p>
            <a:r>
              <a:rPr lang="en-US" b="1" dirty="0">
                <a:solidFill>
                  <a:schemeClr val="accent3"/>
                </a:solidFill>
              </a:rPr>
              <a:t>Ductility Coefficient (R</a:t>
            </a:r>
            <a:r>
              <a:rPr lang="el-GR" b="1" dirty="0">
                <a:solidFill>
                  <a:schemeClr val="accent3"/>
                </a:solidFill>
              </a:rPr>
              <a:t>μ):          13.8889</a:t>
            </a:r>
          </a:p>
          <a:p>
            <a:r>
              <a:rPr lang="en-US" b="1" dirty="0">
                <a:solidFill>
                  <a:schemeClr val="accent3"/>
                </a:solidFill>
              </a:rPr>
              <a:t>Structural Behavior Coefficient (R): 14.2176</a:t>
            </a:r>
          </a:p>
          <a:p>
            <a:r>
              <a:rPr lang="en-US" b="1" dirty="0">
                <a:solidFill>
                  <a:schemeClr val="accent3"/>
                </a:solidFill>
              </a:rPr>
              <a:t>Structural Ductility Damage Index in X Direction: 29.8445 (%)</a:t>
            </a:r>
          </a:p>
        </p:txBody>
      </p:sp>
    </p:spTree>
    <p:extLst>
      <p:ext uri="{BB962C8B-B14F-4D97-AF65-F5344CB8AC3E}">
        <p14:creationId xmlns:p14="http://schemas.microsoft.com/office/powerpoint/2010/main" val="77991778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35D07-AD48-E6D2-A3F2-9E0F80ACC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8CE8FFE-0F89-B780-30F3-05D4896732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18129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1E999-5FB1-2C06-BD8C-25D472B0F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8A7EE2-F0B8-82E9-A55A-40B939424D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46015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93761-8914-068B-30F3-29CF040AA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8E9A1B4-8907-622C-43F8-520130620828}"/>
              </a:ext>
            </a:extLst>
          </p:cNvPr>
          <p:cNvSpPr txBox="1"/>
          <p:nvPr/>
        </p:nvSpPr>
        <p:spPr>
          <a:xfrm>
            <a:off x="0" y="2828835"/>
            <a:ext cx="12192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3"/>
                </a:solidFill>
              </a:rPr>
              <a:t>Dissipated Energy from Earthquake= 0.00 </a:t>
            </a:r>
            <a:r>
              <a:rPr lang="en-US" sz="2800" b="1" dirty="0" err="1">
                <a:solidFill>
                  <a:schemeClr val="accent3"/>
                </a:solidFill>
              </a:rPr>
              <a:t>N·mm</a:t>
            </a:r>
            <a:endParaRPr lang="en-US" sz="2800" b="1" dirty="0">
              <a:solidFill>
                <a:schemeClr val="accent3"/>
              </a:solidFill>
            </a:endParaRPr>
          </a:p>
          <a:p>
            <a:r>
              <a:rPr lang="en-US" sz="2800" b="1" dirty="0">
                <a:solidFill>
                  <a:schemeClr val="accent3"/>
                </a:solidFill>
              </a:rPr>
              <a:t>Dissipated Energy from Cyclic Displacement= 316448840.18 </a:t>
            </a:r>
            <a:r>
              <a:rPr lang="en-US" sz="2800" b="1" dirty="0" err="1">
                <a:solidFill>
                  <a:schemeClr val="accent3"/>
                </a:solidFill>
              </a:rPr>
              <a:t>N·mm</a:t>
            </a:r>
            <a:endParaRPr lang="en-US" sz="2800" b="1" dirty="0">
              <a:solidFill>
                <a:schemeClr val="accent3"/>
              </a:solidFill>
            </a:endParaRPr>
          </a:p>
          <a:p>
            <a:endParaRPr lang="en-US" sz="2800" b="1" dirty="0">
              <a:solidFill>
                <a:schemeClr val="accent3"/>
              </a:solidFill>
            </a:endParaRPr>
          </a:p>
          <a:p>
            <a:r>
              <a:rPr lang="en-US" sz="2800" b="1" dirty="0">
                <a:solidFill>
                  <a:schemeClr val="accent3"/>
                </a:solidFill>
              </a:rPr>
              <a:t>	</a:t>
            </a:r>
            <a:r>
              <a:rPr lang="en-US" sz="2800" b="1" dirty="0">
                <a:solidFill>
                  <a:srgbClr val="FF0000"/>
                </a:solidFill>
              </a:rPr>
              <a:t>DISSIPATED ENERGY CAPACITY INDEX: 0.000 [%]</a:t>
            </a:r>
          </a:p>
          <a:p>
            <a:r>
              <a:rPr lang="en-US" sz="2800" b="1" dirty="0">
                <a:solidFill>
                  <a:srgbClr val="FF0000"/>
                </a:solidFill>
              </a:rPr>
              <a:t>	ZONE 1: VERY MINOR DAMAGE</a:t>
            </a:r>
          </a:p>
        </p:txBody>
      </p:sp>
    </p:spTree>
    <p:extLst>
      <p:ext uri="{BB962C8B-B14F-4D97-AF65-F5344CB8AC3E}">
        <p14:creationId xmlns:p14="http://schemas.microsoft.com/office/powerpoint/2010/main" val="34965962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</TotalTime>
  <Words>220</Words>
  <Application>Microsoft Office PowerPoint</Application>
  <PresentationFormat>Widescreen</PresentationFormat>
  <Paragraphs>34</Paragraphs>
  <Slides>67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98</cp:revision>
  <cp:lastPrinted>2026-03-22T10:00:43Z</cp:lastPrinted>
  <dcterms:created xsi:type="dcterms:W3CDTF">2025-06-03T10:37:48Z</dcterms:created>
  <dcterms:modified xsi:type="dcterms:W3CDTF">2026-08-23T21:03:38Z</dcterms:modified>
</cp:coreProperties>
</file>