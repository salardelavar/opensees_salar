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59" r:id="rId4"/>
    <p:sldId id="322" r:id="rId5"/>
    <p:sldId id="341" r:id="rId6"/>
    <p:sldId id="360" r:id="rId7"/>
    <p:sldId id="259" r:id="rId8"/>
    <p:sldId id="323" r:id="rId9"/>
    <p:sldId id="303" r:id="rId10"/>
    <p:sldId id="302" r:id="rId11"/>
    <p:sldId id="324" r:id="rId12"/>
    <p:sldId id="306" r:id="rId13"/>
    <p:sldId id="336" r:id="rId14"/>
    <p:sldId id="342" r:id="rId15"/>
    <p:sldId id="375" r:id="rId16"/>
    <p:sldId id="376" r:id="rId17"/>
    <p:sldId id="384" r:id="rId18"/>
    <p:sldId id="304" r:id="rId19"/>
    <p:sldId id="261" r:id="rId20"/>
    <p:sldId id="325" r:id="rId21"/>
    <p:sldId id="337" r:id="rId22"/>
    <p:sldId id="343" r:id="rId23"/>
    <p:sldId id="377" r:id="rId24"/>
    <p:sldId id="378" r:id="rId25"/>
    <p:sldId id="307" r:id="rId26"/>
    <p:sldId id="388" r:id="rId27"/>
    <p:sldId id="308" r:id="rId28"/>
    <p:sldId id="265" r:id="rId29"/>
    <p:sldId id="326" r:id="rId30"/>
    <p:sldId id="266" r:id="rId31"/>
    <p:sldId id="309" r:id="rId32"/>
    <p:sldId id="349" r:id="rId33"/>
    <p:sldId id="310" r:id="rId34"/>
    <p:sldId id="311" r:id="rId35"/>
    <p:sldId id="312" r:id="rId36"/>
    <p:sldId id="327" r:id="rId37"/>
    <p:sldId id="313" r:id="rId38"/>
    <p:sldId id="314" r:id="rId39"/>
    <p:sldId id="366" r:id="rId40"/>
    <p:sldId id="367" r:id="rId41"/>
    <p:sldId id="368" r:id="rId42"/>
    <p:sldId id="369" r:id="rId43"/>
    <p:sldId id="370" r:id="rId44"/>
    <p:sldId id="371" r:id="rId45"/>
    <p:sldId id="372" r:id="rId46"/>
    <p:sldId id="373" r:id="rId47"/>
    <p:sldId id="263" r:id="rId48"/>
    <p:sldId id="268" r:id="rId49"/>
    <p:sldId id="329" r:id="rId50"/>
    <p:sldId id="269" r:id="rId51"/>
    <p:sldId id="270" r:id="rId52"/>
    <p:sldId id="332" r:id="rId53"/>
    <p:sldId id="333" r:id="rId54"/>
    <p:sldId id="339" r:id="rId55"/>
    <p:sldId id="271" r:id="rId56"/>
    <p:sldId id="274" r:id="rId57"/>
    <p:sldId id="351" r:id="rId58"/>
    <p:sldId id="379" r:id="rId59"/>
    <p:sldId id="380" r:id="rId60"/>
    <p:sldId id="385" r:id="rId61"/>
    <p:sldId id="361" r:id="rId62"/>
    <p:sldId id="320" r:id="rId63"/>
    <p:sldId id="275" r:id="rId64"/>
    <p:sldId id="328" r:id="rId65"/>
    <p:sldId id="276" r:id="rId66"/>
    <p:sldId id="277" r:id="rId67"/>
    <p:sldId id="344" r:id="rId68"/>
    <p:sldId id="279" r:id="rId69"/>
    <p:sldId id="345" r:id="rId70"/>
    <p:sldId id="346" r:id="rId71"/>
    <p:sldId id="353" r:id="rId72"/>
    <p:sldId id="374" r:id="rId73"/>
    <p:sldId id="381" r:id="rId74"/>
    <p:sldId id="382" r:id="rId75"/>
    <p:sldId id="386" r:id="rId76"/>
    <p:sldId id="383" r:id="rId77"/>
    <p:sldId id="354" r:id="rId78"/>
    <p:sldId id="363" r:id="rId79"/>
    <p:sldId id="356" r:id="rId80"/>
    <p:sldId id="364" r:id="rId81"/>
    <p:sldId id="365" r:id="rId82"/>
    <p:sldId id="387" r:id="rId83"/>
    <p:sldId id="362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88" autoAdjust="0"/>
    <p:restoredTop sz="94660"/>
  </p:normalViewPr>
  <p:slideViewPr>
    <p:cSldViewPr snapToGrid="0">
      <p:cViewPr varScale="1">
        <p:scale>
          <a:sx n="71" d="100"/>
          <a:sy n="71" d="100"/>
        </p:scale>
        <p:origin x="5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582067"/>
            <a:ext cx="10287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A CONCRETE COLUMN: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</a:t>
            </a:r>
            <a:r>
              <a:rPr lang="en-US" sz="1200" b="1">
                <a:solidFill>
                  <a:schemeClr val="accent3"/>
                </a:solidFill>
              </a:rPr>
              <a:t>PROGRAM IS WRITTEN </a:t>
            </a:r>
            <a:r>
              <a:rPr lang="en-US" sz="1200" b="1" dirty="0">
                <a:solidFill>
                  <a:schemeClr val="accent3"/>
                </a:solidFill>
              </a:rPr>
              <a:t>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82677B-8DC1-FD86-6BB6-1647006E0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83" y="0"/>
            <a:ext cx="11798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61443-0D68-F191-B64D-FF4B5B00C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308073-088A-655C-7E42-260FC07F2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49" y="1143000"/>
            <a:ext cx="984830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17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1B1A29-9C58-9B77-AF7A-7FB7617FE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10" y="234786"/>
            <a:ext cx="64201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08E511-189D-0C42-0C18-0469416D5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052"/>
            <a:ext cx="12192000" cy="657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3AA9-868D-F4DC-823A-10F4CCD9E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05238C-77AA-6F99-5830-96C3EE814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71"/>
            <a:ext cx="12192000" cy="65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30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01EB08-310B-7582-3C00-2646F0125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F0DF70-0F5C-2DCB-7D7F-9A103B995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6EABB1-7516-E884-003C-3FE519B06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459"/>
            <a:ext cx="12192000" cy="656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6E72F7-DE8E-7AE1-428A-020DEA45B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34A244-F7DC-7046-8477-C8DB5D610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9514-A27A-2C9F-6D01-0B2CFAED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E6253-3F0C-1DD7-51E0-F012F99F9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18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A804D-49CE-546E-3C03-D93E28548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F482BD-0160-7CC8-C141-B1A660B02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109" y="234786"/>
            <a:ext cx="93857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51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E9F92-23FC-D551-BA82-B707B6545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9F3B19-AE1E-5CB0-17CC-DB888CE88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077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97958-D0A8-B597-B34F-FE6C30BC2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D50D7-41CD-96E3-7979-EB818944D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47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202435-85E9-A97C-9944-7E96717E4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71"/>
            <a:ext cx="12192000" cy="65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D11E5F-9918-FF49-C896-B523E2E0D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CCBC84-5421-FC07-DB9A-2ED5A7014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09847B-B37C-D701-8F75-055563F28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39744-0F9D-D3B6-B930-3B909B20B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F5010C-6CFE-F44C-9E8E-1AD32A8C3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43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28476-DB13-DF4E-54DE-5FDD058F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43ABD1-C61D-050F-8414-06DA1875C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57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EC8D21-48C7-E453-9176-272BA73B8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2CEC3-B920-7E77-9E58-A564E9EEA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B5E8DC-E5D4-B5BE-94C0-5B230880B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29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BFBEFC-D7DC-3C4B-EFB8-E84339E59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17"/>
            <a:ext cx="12192000" cy="65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7E52E5-CE17-4FEB-D52A-54AE0BC18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04" y="234786"/>
            <a:ext cx="9563591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A67494-BB0D-CC59-82AC-99F97C276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56" y="234786"/>
            <a:ext cx="950008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4A2F-1835-D9F2-F83F-C0B1C5EA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11BE70-D0B6-A5E6-6A43-7F14FD285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408" y="234786"/>
            <a:ext cx="941118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518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D957F6-C578-CDCC-FC31-8D1C1E14B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8D9D95-298D-8B1D-7C97-B4BF28A0E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596"/>
            <a:ext cx="12192000" cy="657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9C94A5-1EAA-851B-B175-C3B265DB1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04" y="234786"/>
            <a:ext cx="9563591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85C17C-4D24-FB63-6612-3A4942DDD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FED38-FAE8-EB9D-C3BB-1ED22AFEA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E4162D-B2C9-E618-CBC3-4E4DCB741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733286"/>
            <a:ext cx="923972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190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7931A-7726-6DC3-118B-DC41BC3CE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331E23-5D7D-BF4E-4775-B335E076A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641" y="733286"/>
            <a:ext cx="9112718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36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5D589-4244-2EEA-1915-BD6BEA51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DA84CF-7354-C8ED-E02B-6F44C2805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516" y="733286"/>
            <a:ext cx="908096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1444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1708D-DC91-3BA4-1D57-0E7FA067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1F5430-A35E-32AE-CA62-B6AE986B3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984" y="733286"/>
            <a:ext cx="9354031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736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33354-FBA4-160D-7D43-DAB3B2AFB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6E2594-B810-0D94-2076-A70E0F990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62" y="733286"/>
            <a:ext cx="9271476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550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B0BB9-D4A7-E4F4-2660-FCA69F851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FF0FFE-6D4F-6DF4-2B1D-67D6E44DA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31" y="234786"/>
            <a:ext cx="949373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020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52F6B-A8B7-F4D4-D408-8CD23A795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A1E93A-12DC-6723-ED2F-561217B48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760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AEF19-ADE9-97E1-0F3D-A7DF8EC82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9043ED-053B-DA5E-5294-08A852F61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368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5FFF0E-0AF2-E966-4F4B-CF6DE4386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71"/>
            <a:ext cx="12192000" cy="65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7A07A2-2722-2A2C-DB73-5BD77099C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0102E3-5CE2-F0B8-ED99-37D3EA432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CA10DE-A9ED-82EC-FC16-FE5689887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608228-6C06-95ED-A835-50EEBE9B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8A216F-0E06-F909-C9E2-E8C9AA38A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402FA7-C4D8-F607-E622-7006FF807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891100-3AA8-9C00-41C9-BFF657BDC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8E415-2FBA-8FD7-A7A4-475E2489F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933" y="234786"/>
            <a:ext cx="9392133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CB262-1775-2367-51F0-490A5D60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D59B51-CACF-A931-5E17-D0A88D2E7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896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41790-8016-0E9E-D54E-6925BDC8B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1CD50E-0D91-61D8-239F-415050ADF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222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A9280-125A-1E26-5388-7703C61B1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DBFA81-67AC-E17B-B886-8289D5A92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5136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269D5-A919-EECD-3C42-055D586B5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5DEB88-A293-7FEA-0178-B0FC8CFCD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221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24E7B-CF18-89DD-FB07-FA2EA723B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5D5AD4-197B-D81E-6AC8-80B5E881F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8764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1827E6-DE25-64EB-BE56-470BF329A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47"/>
            <a:ext cx="12192000" cy="661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EB098E-B5BE-8DB0-5EC0-E4BACDCC2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2A7103-17E5-738E-C4F0-2DD799935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B57D5A-8515-BC95-3273-C3AEEFAA6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439C-D815-251C-AA57-6D0ADF7C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9CD5DA-96CB-01B6-1B75-8BA70DAB2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003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88F2-F10A-DD8C-0424-DDFF46AE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45673B-FC56-4D15-29BC-D0C05E1CC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019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3C31-4FDF-8CB5-DFE0-0D48E7B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39FF67-3125-B747-C5F4-C28FB0C4D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0303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80A0-82D3-7D61-9718-F9191EC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66C5A1-5EDA-97CC-B1E3-9B107E047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300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BF8C-4B91-5CAE-8A2B-1129879B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8110F2-F7FE-8B7A-5E9D-AF30DB2E7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109" y="234786"/>
            <a:ext cx="93857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67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4A612-E61B-F010-A3B7-4259987C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21588A-B548-9B8C-42A5-498B36C12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233" y="234786"/>
            <a:ext cx="941753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7625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1E38C-3E5F-3657-1F67-57B48B472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625E1D-D050-550B-5EB8-1D1C1FCC7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0204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496C-25F4-B36E-D739-F42EE504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747905-56CD-3180-B851-4393137AA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933" y="234786"/>
            <a:ext cx="9392133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881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DE201-EA2D-EAAF-4BFA-54D4467B4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A4488A-53CE-F1BF-5BEC-2100E497A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446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007B-9D50-8205-2B50-7EE48B37D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304CE8-7630-49C8-9FAA-9D3490F0B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51" y="228600"/>
            <a:ext cx="1206684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1568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E5E8-41D4-E413-1FC2-3B9FA321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F47F50-9B87-3EA8-A5B6-FC03961BE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46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E26C4-D0A6-B7E3-963F-73EF10E2D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23B9BB-6B9B-2903-A16A-DE153510F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702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42007-8BCD-9537-049D-1644D811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AAFAE4-558A-8B4D-42E1-931B22A8A764}"/>
              </a:ext>
            </a:extLst>
          </p:cNvPr>
          <p:cNvSpPr txBox="1"/>
          <p:nvPr/>
        </p:nvSpPr>
        <p:spPr>
          <a:xfrm>
            <a:off x="2331243" y="658906"/>
            <a:ext cx="75295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</a:t>
            </a:r>
            <a:r>
              <a:rPr lang="en-US" b="1" dirty="0" err="1">
                <a:solidFill>
                  <a:schemeClr val="accent3"/>
                </a:solidFill>
              </a:rPr>
              <a:t>Disp</a:t>
            </a:r>
            <a:r>
              <a:rPr lang="en-US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b="1" dirty="0">
                <a:solidFill>
                  <a:schemeClr val="accent3"/>
                </a:solidFill>
              </a:rPr>
              <a:t>[[    0.             0.        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  538.23218671 73528.95054126]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[ 2500.         83552.50874925]]</a:t>
            </a:r>
          </a:p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Elastic Stiffness :     136.61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Plastic Stiffness :     33.42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Tangent Stiffness :     5.11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Ductility Ratio :       4.64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Over Strength Factor:   1.14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Over Strength Coefficient (</a:t>
            </a:r>
            <a:r>
              <a:rPr lang="el-GR" b="1" dirty="0">
                <a:solidFill>
                  <a:schemeClr val="accent3"/>
                </a:solidFill>
              </a:rPr>
              <a:t>Ω0):      1.1363</a:t>
            </a:r>
          </a:p>
          <a:p>
            <a:r>
              <a:rPr lang="en-US" b="1" dirty="0">
                <a:solidFill>
                  <a:schemeClr val="accent3"/>
                </a:solidFill>
              </a:rPr>
              <a:t>Displacement Ductility Ratio (</a:t>
            </a:r>
            <a:r>
              <a:rPr lang="el-GR" b="1" dirty="0">
                <a:solidFill>
                  <a:schemeClr val="accent3"/>
                </a:solidFill>
              </a:rPr>
              <a:t>μ):    4.6448</a:t>
            </a:r>
          </a:p>
          <a:p>
            <a:r>
              <a:rPr lang="en-US" b="1" dirty="0">
                <a:solidFill>
                  <a:schemeClr val="accent3"/>
                </a:solidFill>
              </a:rPr>
              <a:t>Ductility Coefficient (R</a:t>
            </a:r>
            <a:r>
              <a:rPr lang="el-GR" b="1" dirty="0">
                <a:solidFill>
                  <a:schemeClr val="accent3"/>
                </a:solidFill>
              </a:rPr>
              <a:t>μ):          4.6448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Behavior Coefficient (R): 5.2780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Ductility Damage Index in X Direction: -27.4286 (%)</a:t>
            </a:r>
          </a:p>
        </p:txBody>
      </p:sp>
    </p:spTree>
    <p:extLst>
      <p:ext uri="{BB962C8B-B14F-4D97-AF65-F5344CB8AC3E}">
        <p14:creationId xmlns:p14="http://schemas.microsoft.com/office/powerpoint/2010/main" val="27012985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2EA16-E069-E79E-AF4F-F7E7AA323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8D8BA5-E999-74B3-9A26-3A8672A7F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7596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9D855-0B1F-A50A-154C-272F09C15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7010ED-7BAC-FE67-B324-D8BD82175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7442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4426B-3B41-D6CE-EA52-B65509C18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142037-7D91-F57E-C2A0-00040A0E63C2}"/>
              </a:ext>
            </a:extLst>
          </p:cNvPr>
          <p:cNvSpPr txBox="1"/>
          <p:nvPr/>
        </p:nvSpPr>
        <p:spPr>
          <a:xfrm>
            <a:off x="0" y="2305615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0.00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833721831.26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	</a:t>
            </a:r>
            <a:r>
              <a:rPr lang="en-US" sz="2800" b="1" dirty="0">
                <a:solidFill>
                  <a:srgbClr val="FF0000"/>
                </a:solidFill>
              </a:rPr>
              <a:t>DISSIPATED ENERGY CAPACITY INDEX: 0.000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9557471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6B384-BD4D-F927-2EE6-2A861A635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725201-F3FD-F27A-3863-73BEA4CD5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74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211</Words>
  <Application>Microsoft Office PowerPoint</Application>
  <PresentationFormat>Widescreen</PresentationFormat>
  <Paragraphs>34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173</cp:revision>
  <cp:lastPrinted>2026-04-01T21:12:44Z</cp:lastPrinted>
  <dcterms:created xsi:type="dcterms:W3CDTF">2025-06-03T10:37:48Z</dcterms:created>
  <dcterms:modified xsi:type="dcterms:W3CDTF">2026-08-23T08:31:39Z</dcterms:modified>
</cp:coreProperties>
</file>