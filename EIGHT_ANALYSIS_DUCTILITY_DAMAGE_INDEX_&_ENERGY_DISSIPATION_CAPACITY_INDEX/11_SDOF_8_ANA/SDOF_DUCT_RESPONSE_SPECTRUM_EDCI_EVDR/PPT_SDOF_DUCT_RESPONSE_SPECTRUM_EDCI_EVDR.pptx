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91" r:id="rId5"/>
    <p:sldId id="277" r:id="rId6"/>
    <p:sldId id="280" r:id="rId7"/>
    <p:sldId id="281" r:id="rId8"/>
    <p:sldId id="282" r:id="rId9"/>
    <p:sldId id="258" r:id="rId10"/>
    <p:sldId id="262" r:id="rId11"/>
    <p:sldId id="263" r:id="rId12"/>
    <p:sldId id="264" r:id="rId13"/>
    <p:sldId id="266" r:id="rId14"/>
    <p:sldId id="278" r:id="rId15"/>
    <p:sldId id="265" r:id="rId16"/>
    <p:sldId id="286" r:id="rId17"/>
    <p:sldId id="267" r:id="rId18"/>
    <p:sldId id="284" r:id="rId19"/>
    <p:sldId id="268" r:id="rId20"/>
    <p:sldId id="285" r:id="rId21"/>
    <p:sldId id="261" r:id="rId22"/>
    <p:sldId id="269" r:id="rId23"/>
    <p:sldId id="270" r:id="rId24"/>
    <p:sldId id="271" r:id="rId25"/>
    <p:sldId id="272" r:id="rId26"/>
    <p:sldId id="273" r:id="rId27"/>
    <p:sldId id="274" r:id="rId28"/>
    <p:sldId id="279" r:id="rId29"/>
    <p:sldId id="287" r:id="rId30"/>
    <p:sldId id="288" r:id="rId31"/>
    <p:sldId id="289" r:id="rId32"/>
    <p:sldId id="29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81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428178"/>
            <a:ext cx="121920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PARAMETRIC NONLINEAR SEISMIC DEMAND SPECTRA OF A SINGLE-DEGREE-OF-FREEDOM (SDOF) SYSTEMS WITH VARIABLE DUCTILITY CAPACITY IN OPENSEES</a:t>
            </a:r>
            <a:endParaRPr lang="en-US" sz="5400" b="1" dirty="0">
              <a:solidFill>
                <a:schemeClr val="accent5"/>
              </a:solidFill>
            </a:endParaRP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D7A49F-C96B-3846-5031-25FFD0C0173F}"/>
              </a:ext>
            </a:extLst>
          </p:cNvPr>
          <p:cNvSpPr txBox="1"/>
          <p:nvPr/>
        </p:nvSpPr>
        <p:spPr>
          <a:xfrm>
            <a:off x="1" y="1166842"/>
            <a:ext cx="121920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This Python/</a:t>
            </a:r>
            <a:r>
              <a:rPr lang="en-US" sz="2000" b="1" dirty="0" err="1"/>
              <a:t>OpenSeesPy</a:t>
            </a:r>
            <a:r>
              <a:rPr lang="en-US" sz="2000" b="1" dirty="0"/>
              <a:t> script performs a parametric nonlinear time-history analysis of</a:t>
            </a:r>
          </a:p>
          <a:p>
            <a:r>
              <a:rPr lang="en-US" sz="2000" b="1" dirty="0"/>
              <a:t> single-degree-of-freedom (SDOF) systems with constant yield strength and variable</a:t>
            </a:r>
          </a:p>
          <a:p>
            <a:r>
              <a:rPr lang="en-US" sz="2000" b="1" dirty="0"/>
              <a:t> ductility capacity, first running a cyclic displacement protocol to establish a baseline</a:t>
            </a:r>
          </a:p>
          <a:p>
            <a:r>
              <a:rPr lang="en-US" sz="2000" b="1" dirty="0"/>
              <a:t> dissipated energy capacity, then subjecting the same system to a selected ground motion</a:t>
            </a:r>
          </a:p>
          <a:p>
            <a:r>
              <a:rPr lang="en-US" sz="2000" b="1" dirty="0"/>
              <a:t> while sweeping mass (and therefore period) to generate inelastic response spectra for</a:t>
            </a:r>
          </a:p>
          <a:p>
            <a:r>
              <a:rPr lang="en-US" sz="2000" b="1" dirty="0"/>
              <a:t> displacement, velocity, acceleration, base reaction, ductility damage index, stiffness,</a:t>
            </a:r>
          </a:p>
          <a:p>
            <a:r>
              <a:rPr lang="en-US" sz="2000" b="1" dirty="0"/>
              <a:t> damping ratio, energy dissipation capacity index, and equivalent viscous damping ratio;</a:t>
            </a:r>
          </a:p>
          <a:p>
            <a:r>
              <a:rPr lang="en-US" sz="2000" b="1" dirty="0"/>
              <a:t> it computes damage and energy-based metrics, exports the peak response data to Excel,</a:t>
            </a:r>
          </a:p>
          <a:p>
            <a:r>
              <a:rPr lang="en-US" sz="2000" b="1" dirty="0"/>
              <a:t> visualizes spectra with statistical summaries (mean, median, quartiles, standard deviation),</a:t>
            </a:r>
          </a:p>
          <a:p>
            <a:r>
              <a:rPr lang="en-US" sz="2000" b="1" dirty="0"/>
              <a:t> performs fragility and machine-learning/correlation analyses, and plots time histories and </a:t>
            </a:r>
          </a:p>
          <a:p>
            <a:r>
              <a:rPr lang="en-US" sz="2000" b="1" dirty="0"/>
              <a:t> hysteresis loops. Note, however, that despite the original header calling it </a:t>
            </a:r>
          </a:p>
          <a:p>
            <a:r>
              <a:rPr lang="en-US" sz="2000" b="1" dirty="0"/>
              <a:t> a “constant ductility” response spectrum, the code does not iteratively scale the ground</a:t>
            </a:r>
          </a:p>
          <a:p>
            <a:r>
              <a:rPr lang="en-US" sz="2000" b="1" dirty="0"/>
              <a:t> motion to enforce a target ductility demand; instead, it varies the ductility capacity of</a:t>
            </a:r>
          </a:p>
          <a:p>
            <a:r>
              <a:rPr lang="en-US" sz="2000" b="1" dirty="0"/>
              <a:t> the backbone curve while keeping the seismic intensity and yield strength fixed, so it is</a:t>
            </a:r>
          </a:p>
          <a:p>
            <a:r>
              <a:rPr lang="en-US" sz="2000" b="1" dirty="0"/>
              <a:t> more accurately described as a parametric nonlinear seismic demand spectrum study with</a:t>
            </a:r>
          </a:p>
          <a:p>
            <a:r>
              <a:rPr lang="en-US" sz="2000" b="1" dirty="0"/>
              <a:t> variable ductility capacity.</a:t>
            </a:r>
          </a:p>
        </p:txBody>
      </p:sp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44588F-BD52-FC93-B139-6E1DA3123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83979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2224F9-89F1-65EF-D4B9-94003876A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35" y="910389"/>
            <a:ext cx="5706465" cy="503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BEACE-2D9B-979F-4F46-CCC9A2ED0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B083FAEE-3992-22B7-1EB8-02990E7DC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562" y="2085975"/>
            <a:ext cx="8524875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32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C5B33-FE65-F366-A7AF-FED24F27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801E5F-A915-3849-6B06-364C21924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621"/>
            <a:ext cx="12192000" cy="656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066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8C38B-17E3-4D5A-9963-7E8574F0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CC92B86-7432-11AD-BC1B-CAC7119C4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42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A3D33-DE37-E425-FC47-4E9C2D9E4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E53716-F3EB-4733-F7D9-54A13D443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016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24AFA-0CCF-A951-5D23-8BC371F0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F49706-5726-9647-C0EA-798F0DA0A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209" y="733286"/>
            <a:ext cx="6445581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72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CCE331-5FF3-26DD-B2E4-04B9DC2ED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D32EEB-89E6-E352-7602-F62E9C57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379CC1D-C726-A734-E5EE-C6D936B67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1D6758-BA46-742D-7D37-630C14527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059C58-F319-B93A-B58E-66D15A2DD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5BCF86-7E78-15BB-8759-DC983D763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320" y="3963834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3BA65-0246-62FE-A69C-F7DA4043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1A9C07-2A47-44FC-D7E2-F8F1ED6DE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377292-A687-846C-2ED1-E9B439298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45" y="4364514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16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944FAD-7372-B8D9-6F99-A2AF13BF2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05A29F-3A86-F2C2-1675-85529E818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901" y="2535237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DD51D-60CE-7422-AEE9-BD6602F10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965827-1FF0-D6BE-D3B8-DF86CF70C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899" y="936497"/>
            <a:ext cx="779820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098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2C8D69-BAC0-5647-8075-9137A1341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D819A-1928-18D7-41BB-26159F85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3460B6-5400-D99F-1CDD-EAD4D6299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5EF7C5-DD09-C4FB-8479-44E737C27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575" y="2957298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567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D39E9-333E-1D35-17EC-65EC6750A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564262-5C76-E899-9E22-59134AB8B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83" y="1458577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678-C004-44B8-4B1E-DA38E6699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4306D3-CC45-5E7F-60CD-C8790E97C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D993B8-9995-16E0-0410-0E687D4F0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3154" y="1299996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6574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F83896-B42E-7FBE-096F-478A62534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048470-2A41-E3F3-0034-0BF8D26CD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3A33E8-18EB-7AB7-6D24-3CA38810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10" y="936497"/>
            <a:ext cx="642018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953FDA-BC08-A9A7-F76B-F863EC79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136" y="936497"/>
            <a:ext cx="637572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30D19A-EEA8-E317-9DA6-1AB9C67A6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10" y="936497"/>
            <a:ext cx="642018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59D9C8-9D16-16FF-7311-179CD4375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00" y="936497"/>
            <a:ext cx="777279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B2717C-61BB-8124-8784-9EBE69B8F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775" y="936497"/>
            <a:ext cx="776644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0CD49-6CB3-DF0F-ECA4-2ADB41D1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B62773-5895-B4A1-E30B-A43E6D99F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826" y="936497"/>
            <a:ext cx="77283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693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4930C-C097-B051-3E36-3F4503519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799300-4DC6-08AC-2888-42418324F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826" y="936497"/>
            <a:ext cx="77283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2368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EB8F9-0A2D-8C8B-F7AD-963530EA2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515885-E2B9-B434-AF61-23FBAA7C4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9524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BBED7-54D5-9738-797E-4CCF7DD1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9502A3-F174-A1DA-E798-D87FF02F9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84" y="765767"/>
            <a:ext cx="10891431" cy="532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750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53C17-FC95-D67C-0EC1-10A9F17A2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B304EF-110E-C265-E5DE-4222E2646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059" y="0"/>
            <a:ext cx="68538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472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270</Words>
  <Application>Microsoft Office PowerPoint</Application>
  <PresentationFormat>Widescreen</PresentationFormat>
  <Paragraphs>19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86</cp:revision>
  <cp:lastPrinted>2025-12-04T16:25:27Z</cp:lastPrinted>
  <dcterms:created xsi:type="dcterms:W3CDTF">2025-07-19T22:10:00Z</dcterms:created>
  <dcterms:modified xsi:type="dcterms:W3CDTF">2026-10-14T19:01:32Z</dcterms:modified>
</cp:coreProperties>
</file>