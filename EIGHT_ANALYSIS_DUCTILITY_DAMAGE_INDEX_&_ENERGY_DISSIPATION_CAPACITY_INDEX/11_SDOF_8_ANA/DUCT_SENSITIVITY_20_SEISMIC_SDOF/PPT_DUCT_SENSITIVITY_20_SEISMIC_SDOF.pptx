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87" r:id="rId3"/>
    <p:sldId id="258" r:id="rId4"/>
    <p:sldId id="322" r:id="rId5"/>
    <p:sldId id="381" r:id="rId6"/>
    <p:sldId id="359" r:id="rId7"/>
    <p:sldId id="362" r:id="rId8"/>
    <p:sldId id="361" r:id="rId9"/>
    <p:sldId id="360" r:id="rId10"/>
    <p:sldId id="363" r:id="rId11"/>
    <p:sldId id="368" r:id="rId12"/>
    <p:sldId id="369" r:id="rId13"/>
    <p:sldId id="366" r:id="rId14"/>
    <p:sldId id="370" r:id="rId15"/>
    <p:sldId id="371" r:id="rId16"/>
    <p:sldId id="372" r:id="rId17"/>
    <p:sldId id="373" r:id="rId18"/>
    <p:sldId id="374" r:id="rId19"/>
    <p:sldId id="375" r:id="rId20"/>
    <p:sldId id="376" r:id="rId21"/>
    <p:sldId id="377" r:id="rId22"/>
    <p:sldId id="378" r:id="rId23"/>
    <p:sldId id="379" r:id="rId24"/>
    <p:sldId id="380" r:id="rId25"/>
    <p:sldId id="382" r:id="rId26"/>
    <p:sldId id="384" r:id="rId27"/>
    <p:sldId id="389" r:id="rId28"/>
    <p:sldId id="390" r:id="rId29"/>
    <p:sldId id="391" r:id="rId30"/>
    <p:sldId id="392" r:id="rId31"/>
    <p:sldId id="393" r:id="rId32"/>
    <p:sldId id="385" r:id="rId33"/>
    <p:sldId id="394" r:id="rId34"/>
    <p:sldId id="395" r:id="rId35"/>
    <p:sldId id="396" r:id="rId36"/>
    <p:sldId id="386" r:id="rId37"/>
    <p:sldId id="397" r:id="rId38"/>
    <p:sldId id="398" r:id="rId39"/>
    <p:sldId id="399" r:id="rId40"/>
    <p:sldId id="400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162" autoAdjust="0"/>
    <p:restoredTop sz="94660"/>
  </p:normalViewPr>
  <p:slideViewPr>
    <p:cSldViewPr snapToGrid="0">
      <p:cViewPr varScale="1">
        <p:scale>
          <a:sx n="67" d="100"/>
          <a:sy n="67" d="100"/>
        </p:scale>
        <p:origin x="93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06F19-96B3-4F13-35FC-4C10EA15B5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354475-7BA8-25EF-1CFC-6CD765732E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3133B1-CFEB-D001-3747-C35328F26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554BF-FEFC-F4F4-7D7B-7920E7FFF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3AD913-BD93-93CE-A775-2003F45ED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377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8E314-D5C2-3D8B-66C5-8C04C8EEF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A1D6D-0944-FD5C-61EE-88C56D0CCC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2E38C9-F2E3-E438-888A-79911E678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FDD91B-B219-07DC-D0F4-997D63E8D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5C8B21-6104-B689-B956-BFEBA0CBC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448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BBEA3-A996-90BC-61CF-A9E8C7053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BDE84B-6C6E-0F03-B7CA-AE72514414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907A1-2B55-F570-8543-AF3F1A187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EDF31-B49C-528A-C664-A49658765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BE76D-A87B-DA18-8479-B8301D683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22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A1208-B198-1F22-B7DA-898B85137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100EE-A9D5-8996-3B8D-D5C2FD4310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34A0BA-F482-8A2F-69DA-93924ACCFF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3E56A1-FDF7-04A0-ED99-D5834334B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35502C-B44E-3200-D036-AD1124B44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E585DB-3C44-B39A-644C-3F6EAB789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936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ECB78-B4D2-F23F-64BD-C802FC0BD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F1A3BD-9AE3-6221-8F14-D02D3448B5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B2E2D9-E913-3697-2AE1-5DA127417D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5C9B34-F075-3C3C-A7E8-D635F590EB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2D6DC1-8965-9603-46B6-9AD98D0853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EFDEA5-35A1-A318-5266-2834BAF35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EC9092-5D9A-9E11-005C-C6A1BE621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3F392C-5BDE-B1D7-2EA9-B7A047553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368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EF55C-4097-72FF-48B2-B56474D34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E83B87-B7B5-54F9-A06C-271130C3D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0681D4-63E7-2F19-7B22-EBFB4BC8C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87F270-B9A2-DE4C-B46D-F62DCDA0A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896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3D5D6D-2585-E7FC-FB39-DE3E61D7B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BE21F8-D01F-C069-E9A3-8E305BA63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E1E19-44C5-A381-C1F6-8A7150F49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734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6C389-B78C-B2CD-2C77-60FB75B9D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CDF69-B172-3093-9B71-21E9EF8170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63A7C3-F528-1D0F-A50E-EA44F42D92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F68BD8-8500-71ED-EA5A-CC6BE90C6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F146E5-BC7F-015F-BA30-09404FF7D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7EF81-5823-6FEC-027F-083784305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642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C2397-66BF-38D3-5200-5C1170407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9C5F01-F6D3-C44A-367D-63103EE249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D08A42-B9F7-32DA-F543-E07609EA2F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226F43-E67A-6BB5-E035-3630FA185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C3D92E-BB12-D139-35FC-5C5AA677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03186E-8782-AB5D-90E2-4B86C7778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342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DC78A-1446-3920-67C0-32803C7E7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950D9E-F838-CDDF-A73E-301B576CB9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394C8-E136-DF00-DB32-89EDD4605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5BF00D-D0FC-834E-D935-77CA41FAF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B8F43A-949B-DD39-6782-1C9DC5B7E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884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37D68F-F8E6-E1B4-9A2E-6296A75244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AD167E-7F88-0DED-889D-64070DEA4E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9CB663-5F1A-C8B2-DAB0-6695A93DF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09037D-75E8-A82D-0717-D1D16F115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41895C-947D-DEE2-731B-86239A3CC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6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CE371A-ED9B-F859-8DFE-E88B2FA96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2FF3AD-6AF8-0FEC-35CB-99ED597C3A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356C9-0DD8-62A7-8D4B-61CCC3AFE0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38DA24-7C00-4CB3-BA06-557152E755C0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08E712-AE42-63F8-BAB5-1739C56497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6EA66-660E-1F2A-60C0-D4CA0AEB6F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443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96F0034-52AE-13E7-4E51-225D660549F3}"/>
              </a:ext>
            </a:extLst>
          </p:cNvPr>
          <p:cNvSpPr txBox="1"/>
          <p:nvPr/>
        </p:nvSpPr>
        <p:spPr>
          <a:xfrm>
            <a:off x="0" y="951398"/>
            <a:ext cx="12192000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3"/>
                </a:solidFill>
              </a:rPr>
              <a:t>&gt;&gt; IN THE NAME OF ALLAH, THE MOST GRACIOUS, THE MOST MERCIFUL &lt;&lt;</a:t>
            </a:r>
          </a:p>
          <a:p>
            <a:pPr algn="ctr"/>
            <a:r>
              <a:rPr lang="en-US" sz="7200" b="1" dirty="0">
                <a:solidFill>
                  <a:schemeClr val="accent5"/>
                </a:solidFill>
              </a:rPr>
              <a:t>SENSITIVITY ANALYSIS OF STRICTURE DUCTILITY RATIO  AND OPENSEES VIA 20 SEISMIC GROUND MOTIONS</a:t>
            </a:r>
          </a:p>
          <a:p>
            <a:pPr algn="ctr"/>
            <a:r>
              <a:rPr lang="en-US" sz="1200" b="1" dirty="0">
                <a:solidFill>
                  <a:schemeClr val="accent3"/>
                </a:solidFill>
              </a:rPr>
              <a:t>THIS PROGRAM WRITTEN BY SALAR DELAVAR GHASHGHAEI (QASHQAI)</a:t>
            </a:r>
          </a:p>
        </p:txBody>
      </p:sp>
    </p:spTree>
    <p:extLst>
      <p:ext uri="{BB962C8B-B14F-4D97-AF65-F5344CB8AC3E}">
        <p14:creationId xmlns:p14="http://schemas.microsoft.com/office/powerpoint/2010/main" val="2561539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F96675-3E09-3C16-7BE2-B99B0E324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1DA0F11-3265-2B1A-7159-7E85F07D44D9}"/>
              </a:ext>
            </a:extLst>
          </p:cNvPr>
          <p:cNvSpPr txBox="1"/>
          <p:nvPr/>
        </p:nvSpPr>
        <p:spPr>
          <a:xfrm>
            <a:off x="724693" y="1582340"/>
            <a:ext cx="1074261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Assume that a single-degree-of-freedom structure is subjected to nonlinear dynamic analysis under</a:t>
            </a:r>
          </a:p>
          <a:p>
            <a:pPr algn="ctr"/>
            <a:r>
              <a:rPr lang="en-US" b="1" dirty="0"/>
              <a:t> twenty different ground motion records. To investigate the influence of structure ductility on</a:t>
            </a:r>
          </a:p>
          <a:p>
            <a:pPr algn="ctr"/>
            <a:r>
              <a:rPr lang="en-US" b="1" dirty="0"/>
              <a:t> seismic performance, a sensitivity analysis is performed by systematically varying each column’s</a:t>
            </a:r>
          </a:p>
          <a:p>
            <a:pPr algn="ctr"/>
            <a:r>
              <a:rPr lang="en-US" b="1" dirty="0"/>
              <a:t> ductility ratio from 20 to 50 in 21 steps. For each ductility level, a pushover analysis provides a cyclic displacement analysis establishes a reference hysteretic energy, and twenty nonlinear time-history analyses are conducted using different ground motions. From these analyses, the Energy Dissipation Capacity Index (EDCI) and other response metrics such as maximum displacement, velocity, acceleration, damage index, over-strength factor, ductility ratio, and equivalent viscous damping ratio are computed.</a:t>
            </a:r>
          </a:p>
          <a:p>
            <a:pPr algn="ctr"/>
            <a:r>
              <a:rPr lang="en-US" b="1" dirty="0"/>
              <a:t> The median response over the twenty ground motions is then evaluated for each ductility level.</a:t>
            </a:r>
          </a:p>
          <a:p>
            <a:pPr algn="ctr"/>
            <a:r>
              <a:rPr lang="en-US" b="1" dirty="0"/>
              <a:t> Finally, the results are assessed through trend plots, 3D contour surfaces, correlation heatmaps,</a:t>
            </a:r>
          </a:p>
          <a:p>
            <a:pPr algn="ctr"/>
            <a:r>
              <a:rPr lang="en-US" b="1" dirty="0"/>
              <a:t> Random Forest regression, and ANOVA sensitivity analysis to identify the optimal column ductility</a:t>
            </a:r>
          </a:p>
          <a:p>
            <a:pPr algn="ctr"/>
            <a:r>
              <a:rPr lang="en-US" b="1" dirty="0"/>
              <a:t> ratio that maximizes energy dissipation capacity while maintaining structural safety.</a:t>
            </a:r>
          </a:p>
        </p:txBody>
      </p:sp>
    </p:spTree>
    <p:extLst>
      <p:ext uri="{BB962C8B-B14F-4D97-AF65-F5344CB8AC3E}">
        <p14:creationId xmlns:p14="http://schemas.microsoft.com/office/powerpoint/2010/main" val="16406326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0759B-40F4-A8DE-D64C-E72E1EEE8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8D88EC7-BFD9-783F-0C96-76A4832BF0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463"/>
            <a:ext cx="12192000" cy="6803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7719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6EEF4-8787-065C-13DE-5F327E105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E6F2714-C7C2-9DBA-2363-28CF4BCF13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212" y="0"/>
            <a:ext cx="114575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2351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621E3-B939-6C84-F5A2-9A7915BA1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2753251-E9EC-59D0-A23C-4A9E2F43A2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6171"/>
            <a:ext cx="12192000" cy="6585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1505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788EAA-C886-7D4C-F1C1-A0E4949E7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F18921D-CB03-F537-87AD-CB40522FA1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882" y="145881"/>
            <a:ext cx="9430235" cy="6566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5433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19C35-1399-32BB-EB33-16F18F91E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620DB79-CFDA-193B-E70E-05AD44879B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063" y="733286"/>
            <a:ext cx="6305874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681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F669AE-CF78-5074-0ADB-A4739E5AE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40C0099-E663-A539-9B94-B0513CC6F5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6238" y="733286"/>
            <a:ext cx="6299524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869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F45AE-1744-C216-CA6C-47EDBEDE1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ADD3EBD-5B7F-2D26-3833-7EDD7BF23E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063" y="733286"/>
            <a:ext cx="6305874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0521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F5DAC-70F6-60A9-773B-BDF85366E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2F134F9-47BF-6B76-6CE5-1C423790CB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7379" y="936497"/>
            <a:ext cx="9557241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4597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F12C47-ADF9-8B19-AE16-22FC7725F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E43B913-2F1F-6664-5465-8A13E81F38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794" y="869818"/>
            <a:ext cx="8998412" cy="5118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4635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DCA296-E2DD-C8C5-0971-00D1A0F97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13D9440-CDA6-4EE1-C966-7E347DA280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5335" y="936497"/>
            <a:ext cx="9341330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89190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3A30E0-A52E-95DE-D242-1A4D792FA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3FD37F9-A1BE-C96F-0517-80EDD05069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446" y="936497"/>
            <a:ext cx="9881108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8301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F4FAA-2AA3-BB73-CB01-B328E4A2E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DFCFBF4-8A35-DED5-7C6D-1D873F02AD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987" y="936497"/>
            <a:ext cx="10224025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95694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3854C-D64F-161C-652D-23476F63C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408BE91-50A3-A624-CCEA-7C440D4B96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961" y="936497"/>
            <a:ext cx="11240078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8171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45F6BC-3DDF-F207-153E-7776F041E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A0F31B9-C45D-4F38-ACEB-B217FD0E60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5845" y="936497"/>
            <a:ext cx="8960310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6533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A0399D-1BEA-5ED5-5D42-0005CDFA9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6C42382-FE3E-B0DC-42D6-0F9F03EB91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0478" y="869818"/>
            <a:ext cx="8611043" cy="5118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0529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8A10C-3E9B-2F4A-C057-9A58E6F06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A8C9F90-D4A1-319A-7F95-0EA3C3714B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6612" y="869818"/>
            <a:ext cx="9258776" cy="5118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2421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D14B78-B448-9052-4EB2-67D4E7DD7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ACC938E-D238-CD89-6C30-F584A8BF70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710" y="936497"/>
            <a:ext cx="10306580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1456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FE415-3969-8B48-C0B3-9067772FD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AF443DF-D6FD-0CB8-310B-41019A3CE2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672" y="936497"/>
            <a:ext cx="9836656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257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383A70-1A98-248C-124F-903F46895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A6A60AC-6900-BD35-46C5-9423C18D4C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411" y="936497"/>
            <a:ext cx="10281178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08608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4AB27-E539-9DA0-123A-4789B43D5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5941B2A-D516-45E1-A81D-1AB9A7A42C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936" y="936497"/>
            <a:ext cx="10262127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2797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B35210-EEF2-C261-E1F5-ECBA86FCC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8C2E77A-5FE8-4F6F-425D-1547D5F393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6758" y="936497"/>
            <a:ext cx="9398483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8137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0D4CD-5301-8E49-F438-11E17F893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5CEEBE4-B4F4-4EFA-58A8-47CED53013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093" y="936497"/>
            <a:ext cx="9023814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0699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9C53E-A627-F6DA-F24F-74554249A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C07ADCB-EB18-8EDE-8E9F-FF03C8E9EC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0297" y="936497"/>
            <a:ext cx="8871406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3919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F852B-BA29-B6D3-4EDA-A0D2FC6CC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B2F1439-4BD9-E543-2C7C-6A91BD4490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7339" y="777738"/>
            <a:ext cx="8217322" cy="5302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0839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B1E899-F77A-06CE-EFA0-8DA05BA4A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CB447D8-6609-B950-DBCB-7216FC1C8A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7778" y="276063"/>
            <a:ext cx="8636444" cy="6305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671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2F222-B33C-F282-D3C7-B1F99487B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4EDD378-158E-E48E-476A-BF6D3071FA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7263" y="777738"/>
            <a:ext cx="7277474" cy="5302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5645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BAE7D-8FB9-BFA7-B091-2340C9EBB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6B8DCD7-1287-8723-8C28-C6885C248F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7778" y="276063"/>
            <a:ext cx="8636444" cy="6305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8665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C7C321-557A-F4A2-3E69-525B9A263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A686CAA-4A54-92E3-4388-2C1C1D66C7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2301" y="777738"/>
            <a:ext cx="7747398" cy="5302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3573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A5A69-7214-06F2-BA04-5D69853CB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EAE4394-C46B-798F-9C83-453E9E4D71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7778" y="276063"/>
            <a:ext cx="8636444" cy="6305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2605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FF616-1900-C7B7-7FDE-8A7049D04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2FB4C7D-CCB6-494F-15B4-1768A02873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5658" y="777738"/>
            <a:ext cx="7480684" cy="5302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4488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69638-D9C8-EDB4-BB18-971C9DB54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BE2A65E-E6CA-2FA8-9D02-580F1E4B26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7778" y="276063"/>
            <a:ext cx="8636444" cy="6305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27349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19657-134A-7B76-1539-C7EC67F33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915751A-9D29-5903-002F-8EB9F6A57F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192" y="777738"/>
            <a:ext cx="8077615" cy="5302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31260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ED8CF-3296-A28A-F2B6-9A96F160C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8DF4142-9754-9E53-37F9-86A4CCF48C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7778" y="276063"/>
            <a:ext cx="8636444" cy="6305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11734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B4C2B4-28C5-EB33-8020-50914C614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964C244-4EE7-5DF9-8E29-3912201506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8996" y="777240"/>
            <a:ext cx="9014007" cy="530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85559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902135-C785-1C90-44F2-8BEFEC18E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4B071E-76F3-ABD8-EF83-A824E4B295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9082" y="0"/>
            <a:ext cx="685383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80195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63187-022D-6FB5-1603-E0FCB9130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D811314-07D2-1645-A763-A0C961EC29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212" y="733286"/>
            <a:ext cx="7315576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61674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E8771-B2D6-861E-F0CD-A03C52A13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8E6A326-8989-F09D-E8F6-098195FBC8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33089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38757B-B469-9F13-A8C4-C98F1B709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96C8030-43F2-7C17-8E12-AC7209921A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186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599</TotalTime>
  <Words>225</Words>
  <Application>Microsoft Office PowerPoint</Application>
  <PresentationFormat>Widescreen</PresentationFormat>
  <Paragraphs>11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salar dq</dc:creator>
  <cp:lastModifiedBy>salar dq</cp:lastModifiedBy>
  <cp:revision>147</cp:revision>
  <cp:lastPrinted>2026-09-29T09:40:02Z</cp:lastPrinted>
  <dcterms:created xsi:type="dcterms:W3CDTF">2025-06-03T10:37:48Z</dcterms:created>
  <dcterms:modified xsi:type="dcterms:W3CDTF">2026-09-29T09:41:04Z</dcterms:modified>
</cp:coreProperties>
</file>