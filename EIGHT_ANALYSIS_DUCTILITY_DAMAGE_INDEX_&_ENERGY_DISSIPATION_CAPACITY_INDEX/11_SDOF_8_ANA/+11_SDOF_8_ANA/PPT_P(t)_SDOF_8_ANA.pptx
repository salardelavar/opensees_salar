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74" r:id="rId3"/>
    <p:sldId id="322" r:id="rId4"/>
    <p:sldId id="352" r:id="rId5"/>
    <p:sldId id="259" r:id="rId6"/>
    <p:sldId id="323" r:id="rId7"/>
    <p:sldId id="302" r:id="rId8"/>
    <p:sldId id="324" r:id="rId9"/>
    <p:sldId id="306" r:id="rId10"/>
    <p:sldId id="336" r:id="rId11"/>
    <p:sldId id="346" r:id="rId12"/>
    <p:sldId id="304" r:id="rId13"/>
    <p:sldId id="261" r:id="rId14"/>
    <p:sldId id="325" r:id="rId15"/>
    <p:sldId id="337" r:id="rId16"/>
    <p:sldId id="347" r:id="rId17"/>
    <p:sldId id="371" r:id="rId18"/>
    <p:sldId id="308" r:id="rId19"/>
    <p:sldId id="265" r:id="rId20"/>
    <p:sldId id="326" r:id="rId21"/>
    <p:sldId id="266" r:id="rId22"/>
    <p:sldId id="309" r:id="rId23"/>
    <p:sldId id="348" r:id="rId24"/>
    <p:sldId id="311" r:id="rId25"/>
    <p:sldId id="312" r:id="rId26"/>
    <p:sldId id="327" r:id="rId27"/>
    <p:sldId id="313" r:id="rId28"/>
    <p:sldId id="314" r:id="rId29"/>
    <p:sldId id="315" r:id="rId30"/>
    <p:sldId id="349" r:id="rId31"/>
    <p:sldId id="263" r:id="rId32"/>
    <p:sldId id="268" r:id="rId33"/>
    <p:sldId id="329" r:id="rId34"/>
    <p:sldId id="269" r:id="rId35"/>
    <p:sldId id="342" r:id="rId36"/>
    <p:sldId id="350" r:id="rId37"/>
    <p:sldId id="358" r:id="rId38"/>
    <p:sldId id="359" r:id="rId39"/>
    <p:sldId id="361" r:id="rId40"/>
    <p:sldId id="362" r:id="rId41"/>
    <p:sldId id="363" r:id="rId42"/>
    <p:sldId id="364" r:id="rId43"/>
    <p:sldId id="370" r:id="rId44"/>
    <p:sldId id="320" r:id="rId45"/>
    <p:sldId id="275" r:id="rId46"/>
    <p:sldId id="328" r:id="rId47"/>
    <p:sldId id="276" r:id="rId48"/>
    <p:sldId id="343" r:id="rId49"/>
    <p:sldId id="351" r:id="rId50"/>
    <p:sldId id="357" r:id="rId51"/>
    <p:sldId id="360" r:id="rId52"/>
    <p:sldId id="365" r:id="rId53"/>
    <p:sldId id="366" r:id="rId54"/>
    <p:sldId id="367" r:id="rId55"/>
    <p:sldId id="368" r:id="rId56"/>
    <p:sldId id="375" r:id="rId57"/>
    <p:sldId id="353" r:id="rId58"/>
    <p:sldId id="354" r:id="rId59"/>
    <p:sldId id="369" r:id="rId60"/>
    <p:sldId id="345" r:id="rId61"/>
    <p:sldId id="356" r:id="rId62"/>
    <p:sldId id="355" r:id="rId63"/>
    <p:sldId id="372" r:id="rId64"/>
    <p:sldId id="373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A9806C-BEC8-62B0-861F-AC2671BAF6B8}"/>
              </a:ext>
            </a:extLst>
          </p:cNvPr>
          <p:cNvSpPr txBox="1"/>
          <p:nvPr/>
        </p:nvSpPr>
        <p:spPr>
          <a:xfrm>
            <a:off x="0" y="582067"/>
            <a:ext cx="1209198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000" b="1" dirty="0">
                <a:solidFill>
                  <a:schemeClr val="accent5"/>
                </a:solidFill>
              </a:rPr>
              <a:t>COMPREHENSIVE NONLINEAR SEISMIC ASSESSMENT OF A SINGLE-DEGREE-FREEDOM (SDOF) STRUCTURE: AN OPENSEES FRAMEWORK FOR STATIC PUSHOVER, CYCLIC DEGRADATION, STATIC TIME-HISTORY AND DYNAMIC TIME-HISTORY ANALYSIS       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3181C-B2E9-67AC-44E8-C65BE600D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78559E-7EC4-F1E2-A543-53E8EDB4A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27" y="0"/>
            <a:ext cx="10815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69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1026B6-7B97-D36C-8091-DE676380F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457" y="228600"/>
            <a:ext cx="945908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25248E-750D-ADBF-AC1D-94E9F72C0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8DA893-3CA7-FFDF-769E-56A4F814E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402"/>
            <a:ext cx="12192000" cy="652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41D10B-0EA8-FC6F-D1CC-101F6C28F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F0B0B5-BEDA-B7C7-FAB8-94904A0E4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593C56-CDAE-44BF-E876-2CEBFC179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5696-57B9-1595-E925-344B167E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10BAD8-E2B2-B4AF-A5B9-7E7DA50A2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8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C7AC6C-CDAD-32DE-19BA-F5155CCD2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7B260A-CBFA-732B-BFBF-CEF62BE89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BF5329-DD49-4FF0-91C1-E612B47B0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9D20-4CB6-F3FD-0D39-057F99D0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86B7B3-CD78-1A96-5E83-D40A3E3D7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55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A0017-E1D6-C9E3-097C-204C16482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2619BF-67D6-4AD0-6A9D-756F5B3DD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8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69F6D0-FC2B-4C40-50F7-1501B2FA3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D13882-C145-C319-6936-E4FCEC731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6DF557-3543-AFD0-2AC4-4548BF37C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9911-636D-8A77-A96F-6955F5E3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CAD011-1957-9B0A-8075-37F7ABB46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31" y="234786"/>
            <a:ext cx="949373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022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D7C748-7179-9B20-CAED-B69C02406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49"/>
            <a:ext cx="12192000" cy="65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075F72-CD65-0FF1-39AF-1AE668F12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9314DD-BC7B-5282-20E0-959C57F2C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894"/>
            <a:ext cx="12192000" cy="502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1D6090-A877-45B3-1625-AFBD5DDE6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6E30-6B79-9269-BEE3-E1BE4B2A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BA13FE-7B85-A7FF-49C1-7BA955275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31" y="234786"/>
            <a:ext cx="949373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122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C6E8F7-B542-44A0-4D32-33D320183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70"/>
            <a:ext cx="12192000" cy="65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F1F353-B059-B067-86BE-29C5CA76E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0A6D6D-3AC1-BF28-A9D8-9B90E33BC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CF93-E546-5385-3D34-9DCB050A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A21EEB-D254-CDDA-1CCC-C15745E0E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00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941F-53F2-A531-18B3-E49D5112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034511-9574-3611-87A1-385F9D53A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713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92640-1A69-5DAD-07F0-3EC365BC3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9F9868-3A96-BF00-B8C5-FCD1D77A9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973" y="936497"/>
            <a:ext cx="786805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428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DC2C4-2E6B-14FF-ED4D-44EE5FDF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A81700-B83A-7CDB-FBB3-433BD3C1B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5303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7F104-7B6D-9BDD-B7E8-73C5F4323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F6DC41-CCFE-61AE-D138-6544D53D1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170" y="936497"/>
            <a:ext cx="796966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5431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3D92D-6EF3-850C-AE1D-E8054791B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D40E01-8345-1FFD-0231-90C665803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327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F8CA3-8046-CB20-E6B0-15CFB913F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B8EA17-2CF4-BB17-CF22-7DA95C380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660" y="936497"/>
            <a:ext cx="8350679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127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F70E0-5AE8-BB6C-CBE0-01256B76D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6BE381-279A-6135-A3A4-BE9910A26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05160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A25B2-BA56-87AC-913A-D31B43E1B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91927F-8A3B-92E9-1B5D-90247165F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936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FA9BB2-1942-6778-9731-969315898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311"/>
            <a:ext cx="12192000" cy="659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3E1B35-BFF1-2C78-0622-D0DAFE9D8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970" y="233165"/>
            <a:ext cx="9464059" cy="639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4466E0-C893-F283-8486-EC1BF47D7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4800"/>
            <a:ext cx="12192000" cy="50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63C0-B049-0039-4236-03262F0D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A10AF5-A2E4-9917-EEB2-BCC1B6D91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271" y="233165"/>
            <a:ext cx="9235458" cy="639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157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84B45-B65C-05BA-9183-0058E989C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517A08-46B2-AFB1-B9B8-A6013DC4E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628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A47B8-8FAE-352A-8C84-E9A63828F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0FD357-90F8-285D-B934-F861C8883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00" y="936497"/>
            <a:ext cx="7772799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1301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8D5B9-B4B5-421C-E074-1305F17A7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8D7208-042A-7095-6F74-99DBE0465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1452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F5002-2476-AD62-091B-7784AEEAA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233B2C-F709-9ABD-B1B4-061A84912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893" y="936497"/>
            <a:ext cx="805221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0176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2D65C-1033-773A-8C7B-162E04725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59B212-55FD-4201-C94A-0DB90FBFC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3178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68706-C763-55CE-59E5-B8E64C0A6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F7F950-917D-AB38-618F-FCF887F87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250" y="936497"/>
            <a:ext cx="778550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134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B60E-2549-8C48-70F2-761C2DBF2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B402AD-39DA-B8C5-C174-5E7BD30AB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00618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636D-A54F-2F2C-0A47-A3F163B3E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7A03D2-6B1C-E440-7266-CC238EC6E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5927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093A-B1A7-983F-CFEB-62D2B5C8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319CFB-D2B3-514A-383F-7D686275A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50" y="457200"/>
            <a:ext cx="69517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2317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1F2D3-C73B-9173-3D04-416C81C70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4DCA-F115-1E71-D37A-6FBE0830B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536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14856-95E7-FB60-A841-7E3738206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03CE87-1808-19BF-EDAA-2EB2DE45189A}"/>
              </a:ext>
            </a:extLst>
          </p:cNvPr>
          <p:cNvSpPr txBox="1"/>
          <p:nvPr/>
        </p:nvSpPr>
        <p:spPr>
          <a:xfrm>
            <a:off x="0" y="2074783"/>
            <a:ext cx="121920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b="1" dirty="0">
                <a:solidFill>
                  <a:schemeClr val="accent3"/>
                </a:solidFill>
              </a:rPr>
              <a:t>Dissipated Energy from Earthquake= 49104.36 </a:t>
            </a:r>
            <a:r>
              <a:rPr lang="en-US" sz="3400" b="1" dirty="0" err="1">
                <a:solidFill>
                  <a:schemeClr val="accent3"/>
                </a:solidFill>
              </a:rPr>
              <a:t>N·m</a:t>
            </a:r>
            <a:endParaRPr lang="en-US" sz="3400" b="1" dirty="0">
              <a:solidFill>
                <a:schemeClr val="accent3"/>
              </a:solidFill>
            </a:endParaRPr>
          </a:p>
          <a:p>
            <a:r>
              <a:rPr lang="en-US" sz="3400" b="1" dirty="0">
                <a:solidFill>
                  <a:schemeClr val="accent3"/>
                </a:solidFill>
              </a:rPr>
              <a:t>Dissipated Energy from Cyclic Displacement= 303265.91 </a:t>
            </a:r>
            <a:r>
              <a:rPr lang="en-US" sz="3400" b="1" dirty="0" err="1">
                <a:solidFill>
                  <a:schemeClr val="accent3"/>
                </a:solidFill>
              </a:rPr>
              <a:t>N·m</a:t>
            </a:r>
            <a:endParaRPr lang="en-US" sz="3400" b="1" dirty="0">
              <a:solidFill>
                <a:schemeClr val="accent3"/>
              </a:solidFill>
            </a:endParaRPr>
          </a:p>
          <a:p>
            <a:endParaRPr lang="en-US" sz="3400" b="1" dirty="0">
              <a:solidFill>
                <a:schemeClr val="accent3"/>
              </a:solidFill>
            </a:endParaRPr>
          </a:p>
          <a:p>
            <a:r>
              <a:rPr lang="en-US" sz="3400" b="1" dirty="0">
                <a:solidFill>
                  <a:schemeClr val="accent3"/>
                </a:solidFill>
              </a:rPr>
              <a:t>	</a:t>
            </a:r>
            <a:r>
              <a:rPr lang="en-US" sz="3400" b="1" dirty="0">
                <a:solidFill>
                  <a:srgbClr val="FF0000"/>
                </a:solidFill>
              </a:rPr>
              <a:t>DISSIPATED ENERGY CAPACITY INDEX: 16.192 [%]</a:t>
            </a:r>
          </a:p>
          <a:p>
            <a:r>
              <a:rPr lang="en-US" sz="3400" b="1" dirty="0">
                <a:solidFill>
                  <a:srgbClr val="FF0000"/>
                </a:solidFill>
              </a:rPr>
              <a:t>	ZONE 2: MINOR DAMAGE</a:t>
            </a:r>
          </a:p>
        </p:txBody>
      </p:sp>
    </p:spTree>
    <p:extLst>
      <p:ext uri="{BB962C8B-B14F-4D97-AF65-F5344CB8AC3E}">
        <p14:creationId xmlns:p14="http://schemas.microsoft.com/office/powerpoint/2010/main" val="397682338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D95FA-C8D1-77BF-BBD2-A5E208890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843187-6BA8-2A4C-2ED6-77DDF5F23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2249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3924-2FE3-04D8-2CA1-9EECB323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6AC85-BC7B-AF74-89BC-BA6B39811638}"/>
              </a:ext>
            </a:extLst>
          </p:cNvPr>
          <p:cNvSpPr txBox="1"/>
          <p:nvPr/>
        </p:nvSpPr>
        <p:spPr>
          <a:xfrm>
            <a:off x="3110147" y="920621"/>
            <a:ext cx="752951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3"/>
                </a:solidFill>
              </a:rPr>
              <a:t>Equivalent viscous damping ratio = 28.4318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    </a:t>
            </a:r>
            <a:r>
              <a:rPr lang="en-US" sz="1600" b="1" dirty="0" err="1">
                <a:solidFill>
                  <a:schemeClr val="accent3"/>
                </a:solidFill>
              </a:rPr>
              <a:t>Disp</a:t>
            </a:r>
            <a:r>
              <a:rPr lang="en-US" sz="16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[1.88856382e-02 8.49853721e+04]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[3.60000000e-01 1.00300000e+05]]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Elastic Stiffness :     4500000.00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Plastic Stiffness :     278611.11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Tangent Stiffness :     44895.88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Ductility Ratio :       19.06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 Structure Over Strength Factor:   1.18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1600" b="1" dirty="0">
                <a:solidFill>
                  <a:schemeClr val="accent3"/>
                </a:solidFill>
              </a:rPr>
              <a:t>Ω0):      1.1802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1600" b="1" dirty="0">
                <a:solidFill>
                  <a:schemeClr val="accent3"/>
                </a:solidFill>
              </a:rPr>
              <a:t>μ):    19.0621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Ductility Coefficient (R</a:t>
            </a:r>
            <a:r>
              <a:rPr lang="el-GR" sz="1600" b="1" dirty="0">
                <a:solidFill>
                  <a:schemeClr val="accent3"/>
                </a:solidFill>
              </a:rPr>
              <a:t>μ):          19.0621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Behavior Coefficient (R): 22.4972</a:t>
            </a:r>
          </a:p>
          <a:p>
            <a:r>
              <a:rPr lang="en-US" sz="1600" b="1" dirty="0">
                <a:solidFill>
                  <a:schemeClr val="accent3"/>
                </a:solidFill>
              </a:rPr>
              <a:t>Structural Ductility Damage Index in X Direction: 9.3315 (%)</a:t>
            </a:r>
          </a:p>
        </p:txBody>
      </p:sp>
    </p:spTree>
    <p:extLst>
      <p:ext uri="{BB962C8B-B14F-4D97-AF65-F5344CB8AC3E}">
        <p14:creationId xmlns:p14="http://schemas.microsoft.com/office/powerpoint/2010/main" val="36054240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0C30A-BE03-4DBA-8FFF-AE784DA39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6DD0F3-CEA7-A72D-C0C1-9AAAF0C29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707" y="733286"/>
            <a:ext cx="943658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07317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AFDC4-36F2-3AE4-E2FC-E0B6F266D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C38546-487B-C40A-5589-694BC17AF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36" y="733286"/>
            <a:ext cx="929052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6730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F2ABC-0CAE-1293-CF68-0B23813C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9372D0-4DBC-1B62-3BEC-D11F065BD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457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223</Words>
  <Application>Microsoft Office PowerPoint</Application>
  <PresentationFormat>Widescreen</PresentationFormat>
  <Paragraphs>36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132</cp:revision>
  <cp:lastPrinted>2026-04-12T08:11:55Z</cp:lastPrinted>
  <dcterms:created xsi:type="dcterms:W3CDTF">2025-06-03T10:37:48Z</dcterms:created>
  <dcterms:modified xsi:type="dcterms:W3CDTF">2026-08-24T09:28:23Z</dcterms:modified>
</cp:coreProperties>
</file>