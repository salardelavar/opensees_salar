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81" r:id="rId5"/>
    <p:sldId id="320" r:id="rId6"/>
    <p:sldId id="387" r:id="rId7"/>
    <p:sldId id="357" r:id="rId8"/>
    <p:sldId id="356" r:id="rId9"/>
    <p:sldId id="359" r:id="rId10"/>
    <p:sldId id="362" r:id="rId11"/>
    <p:sldId id="361" r:id="rId12"/>
    <p:sldId id="360" r:id="rId13"/>
    <p:sldId id="363" r:id="rId14"/>
    <p:sldId id="364" r:id="rId15"/>
    <p:sldId id="365" r:id="rId16"/>
    <p:sldId id="367" r:id="rId17"/>
    <p:sldId id="368" r:id="rId18"/>
    <p:sldId id="369" r:id="rId19"/>
    <p:sldId id="366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2" r:id="rId32"/>
    <p:sldId id="383" r:id="rId33"/>
    <p:sldId id="384" r:id="rId34"/>
    <p:sldId id="385" r:id="rId35"/>
    <p:sldId id="3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F0034-52AE-13E7-4E51-225D660549F3}"/>
              </a:ext>
            </a:extLst>
          </p:cNvPr>
          <p:cNvSpPr txBox="1"/>
          <p:nvPr/>
        </p:nvSpPr>
        <p:spPr>
          <a:xfrm>
            <a:off x="0" y="151179"/>
            <a:ext cx="12192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600" b="1" dirty="0">
                <a:solidFill>
                  <a:schemeClr val="accent5"/>
                </a:solidFill>
              </a:rPr>
              <a:t>DETERMINATION OF OPTIMUM STRUCTURAL DUCTILITY RATIO FROM ENERGY DISSIPATION CAPACITY INDEX USING FINITE‑DIFFERENCE NEWTON ITERATION AND OPENSEES VIA 20 SEISMIC GROUND MOTIONS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21E3-B939-6C84-F5A2-9A7915BA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B3D06A-9BF0-9C3E-9303-5F9644C9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1"/>
            <a:ext cx="12192000" cy="653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5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6675-3E09-3C16-7BE2-B99B0E32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A0F11-3265-2B1A-7159-7E85F07D44D9}"/>
              </a:ext>
            </a:extLst>
          </p:cNvPr>
          <p:cNvSpPr txBox="1"/>
          <p:nvPr/>
        </p:nvSpPr>
        <p:spPr>
          <a:xfrm>
            <a:off x="1293814" y="920621"/>
            <a:ext cx="100012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Assume that a single-degree-of-freedom structure is subjected to nonlinear dynamic analysis</a:t>
            </a:r>
          </a:p>
          <a:p>
            <a:pPr algn="ctr"/>
            <a:r>
              <a:rPr lang="en-US" sz="3200" b="1" dirty="0"/>
              <a:t> under twenty different ground motion records, and, by defining the amount of Energy Dissipation</a:t>
            </a:r>
          </a:p>
          <a:p>
            <a:pPr algn="ctr"/>
            <a:r>
              <a:rPr lang="en-US" sz="3200" b="1" dirty="0"/>
              <a:t> Capacity Index as the objective, we aim to optimize the ductility of the structure using the</a:t>
            </a:r>
          </a:p>
          <a:p>
            <a:pPr algn="ctr"/>
            <a:r>
              <a:rPr lang="en-US" sz="3200" b="1" dirty="0"/>
              <a:t> Newton–Raphson method. Therefore, with twenty different ground motion records, we calculate </a:t>
            </a:r>
          </a:p>
          <a:p>
            <a:pPr algn="ctr"/>
            <a:r>
              <a:rPr lang="en-US" sz="3200" b="1" dirty="0"/>
              <a:t> different ductility ratios, and finally, we evaluate the results.</a:t>
            </a:r>
          </a:p>
        </p:txBody>
      </p:sp>
    </p:spTree>
    <p:extLst>
      <p:ext uri="{BB962C8B-B14F-4D97-AF65-F5344CB8AC3E}">
        <p14:creationId xmlns:p14="http://schemas.microsoft.com/office/powerpoint/2010/main" val="164063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BEDE3-8F17-B8F6-74DC-35E5EDB0E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014539" y="612844"/>
            <a:ext cx="866060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168051.84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840276.69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20.000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-0.0004159685131490676</a:t>
            </a:r>
          </a:p>
          <a:p>
            <a:r>
              <a:rPr lang="en-US" sz="2000" b="1" dirty="0"/>
              <a:t>DF:    -0.4163895489490699</a:t>
            </a:r>
          </a:p>
          <a:p>
            <a:r>
              <a:rPr lang="en-US" sz="2000" b="1" dirty="0"/>
              <a:t>DX:    -9.906465844616561e-07</a:t>
            </a:r>
          </a:p>
          <a:p>
            <a:r>
              <a:rPr lang="en-US" sz="2000" b="1" dirty="0"/>
              <a:t>IT:  102  - RESIDUAL:  9.906465844616561e-07 X:  49.946969944869544 </a:t>
            </a:r>
          </a:p>
          <a:p>
            <a:endParaRPr lang="en-US" sz="2000" b="1" dirty="0"/>
          </a:p>
          <a:p>
            <a:r>
              <a:rPr lang="en-US" sz="2000" b="1" dirty="0"/>
              <a:t>		 Seismic:                               60</a:t>
            </a:r>
          </a:p>
          <a:p>
            <a:r>
              <a:rPr lang="en-US" sz="2000" b="1" dirty="0"/>
              <a:t>		 Optimum X (STRU. DUCTILITY RATIO):     49.9470</a:t>
            </a:r>
          </a:p>
          <a:p>
            <a:r>
              <a:rPr lang="en-US" sz="2000" b="1" dirty="0"/>
              <a:t>		 Iteration Counts:                      102</a:t>
            </a:r>
          </a:p>
          <a:p>
            <a:r>
              <a:rPr lang="en-US" sz="2000" b="1" dirty="0"/>
              <a:t>		 Convergence Residual:                  9.9064658446e-07</a:t>
            </a:r>
          </a:p>
          <a:p>
            <a:r>
              <a:rPr lang="en-US" sz="2000" b="1" dirty="0"/>
              <a:t>Total time (s): 1103.2188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130A8E-CAB8-0A03-BB7F-28A87304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9C35-1399-32BB-EB33-16F18F91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A1FCE-B1AB-F59A-9206-50BD2B7C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733286"/>
            <a:ext cx="62995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69AE-CF78-5074-0ADB-A4739E5A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C4B17-38EC-FCB8-BE71-6C087779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733286"/>
            <a:ext cx="62995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6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83ECD1-732C-9B6C-AF52-CAC94386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5DAC-70F6-60A9-773B-BDF85366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E23F99-ACC8-D5A3-4880-4B18EB36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45" y="850767"/>
            <a:ext cx="9931910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9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F587F-D093-83B3-E10F-F0874E09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CEB3A-152C-3831-8631-B03CDC557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28" y="850767"/>
            <a:ext cx="9620744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03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5B5D-DCD9-29F3-9D69-EE675718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226A9-A48C-E87C-9AE9-332A3E7A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36" y="850767"/>
            <a:ext cx="10262127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3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AC70-A77A-EE9B-9310-381D25A0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2B963B-2598-9A04-A306-89F6DEE5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226" y="850767"/>
            <a:ext cx="9671547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64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2C47-ADF9-8B19-AE16-22FC7725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0F4CA-51CA-BA99-40E9-BCA8A1A36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16" y="850767"/>
            <a:ext cx="11049568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63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A296-E2DD-C8C5-0971-00D1A0F9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C2236-DF37-A5F6-35CF-E0CC1DEC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38" y="850767"/>
            <a:ext cx="10185923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19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30E0-A52E-95DE-D242-1A4D792F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2A99CE-3AB9-C43E-BE79-581F0D0C4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548" y="850767"/>
            <a:ext cx="9804904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30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4FAA-2AA3-BB73-CB01-B328E4A2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113EF-E530-9965-5A78-4B8A71644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77" y="850767"/>
            <a:ext cx="9658846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69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3854C-D64F-161C-652D-23476F63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0FDD1-A308-D9BB-89D0-C63B8E2EF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975" y="645976"/>
            <a:ext cx="8738049" cy="530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1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F6BC-3DDF-F207-153E-7776F041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B9DDF-9577-104C-E8A3-87816A7AB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276063"/>
            <a:ext cx="857929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3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399D-1BEA-5ED5-5D42-0005CDFA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0EDD2-B9C0-6F05-D790-0998223F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14" y="777738"/>
            <a:ext cx="821097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5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A10C-3E9B-2F4A-C057-9A58E6F0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4D369-324C-151D-608D-0D3CE18D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276063"/>
            <a:ext cx="857929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42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4B78-B448-9052-4EB2-67D4E7DD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1C448-2BDB-A93C-E981-FED2C79CA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654" y="777738"/>
            <a:ext cx="860469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E415-3969-8B48-C0B3-9067772F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A7ADC-732E-42DE-1CCD-836F2123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276063"/>
            <a:ext cx="857929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5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3A70-1A98-248C-124F-903F4689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2A6B24-6E88-9AA1-0D3B-F04672AA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777738"/>
            <a:ext cx="821732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60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AB27-E539-9DA0-123A-4789B43D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D96B1-11E8-9B3B-B386-37FEE33BB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276063"/>
            <a:ext cx="857929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79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5210-EEF2-C261-E1F5-ECBA86FC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0AF95F-E9C0-0BF2-A412-989306A0D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73" y="777738"/>
            <a:ext cx="8814253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13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D4CD-5301-8E49-F438-11E17F89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C13CCC-0BA5-F7CC-FC43-7283E8C3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276063"/>
            <a:ext cx="857929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69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C53E-A627-F6DA-F24F-74554249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027C6-201B-A094-5FFF-4AE070FD8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51" y="411480"/>
            <a:ext cx="10257319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91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2A8E-71E3-F612-2663-2DF6583FB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58876B-E749-FA77-50FA-C13EB2919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147" y="0"/>
            <a:ext cx="6799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91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852B-BA29-B6D3-4EDA-A0D2FC6C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F17039-D0B7-92C4-543E-3F37CD18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314" y="733286"/>
            <a:ext cx="723937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83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F616-1900-C7B7-7FDE-8A7049D0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297354-5E65-10E5-8C66-409D4375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4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C2B4-28C5-EB33-8020-50914C61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F1E19E-4A92-AAEC-1E7E-47C23416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55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228</Words>
  <Application>Microsoft Office PowerPoint</Application>
  <PresentationFormat>Widescreen</PresentationFormat>
  <Paragraphs>27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121</cp:revision>
  <cp:lastPrinted>2026-04-12T08:11:55Z</cp:lastPrinted>
  <dcterms:created xsi:type="dcterms:W3CDTF">2025-06-03T10:37:48Z</dcterms:created>
  <dcterms:modified xsi:type="dcterms:W3CDTF">2026-09-21T19:26:24Z</dcterms:modified>
</cp:coreProperties>
</file>