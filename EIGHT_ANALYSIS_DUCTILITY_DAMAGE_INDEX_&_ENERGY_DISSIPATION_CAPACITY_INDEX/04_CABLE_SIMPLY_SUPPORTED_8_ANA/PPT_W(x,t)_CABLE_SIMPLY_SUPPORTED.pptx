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59" r:id="rId3"/>
    <p:sldId id="258" r:id="rId4"/>
    <p:sldId id="341" r:id="rId5"/>
    <p:sldId id="259" r:id="rId6"/>
    <p:sldId id="323" r:id="rId7"/>
    <p:sldId id="303" r:id="rId8"/>
    <p:sldId id="302" r:id="rId9"/>
    <p:sldId id="324" r:id="rId10"/>
    <p:sldId id="336" r:id="rId11"/>
    <p:sldId id="342" r:id="rId12"/>
    <p:sldId id="347" r:id="rId13"/>
    <p:sldId id="304" r:id="rId14"/>
    <p:sldId id="261" r:id="rId15"/>
    <p:sldId id="325" r:id="rId16"/>
    <p:sldId id="337" r:id="rId17"/>
    <p:sldId id="379" r:id="rId18"/>
    <p:sldId id="343" r:id="rId19"/>
    <p:sldId id="308" r:id="rId20"/>
    <p:sldId id="265" r:id="rId21"/>
    <p:sldId id="326" r:id="rId22"/>
    <p:sldId id="266" r:id="rId23"/>
    <p:sldId id="309" r:id="rId24"/>
    <p:sldId id="310" r:id="rId25"/>
    <p:sldId id="311" r:id="rId26"/>
    <p:sldId id="312" r:id="rId27"/>
    <p:sldId id="327" r:id="rId28"/>
    <p:sldId id="313" r:id="rId29"/>
    <p:sldId id="314" r:id="rId30"/>
    <p:sldId id="315" r:id="rId31"/>
    <p:sldId id="361" r:id="rId32"/>
    <p:sldId id="362" r:id="rId33"/>
    <p:sldId id="363" r:id="rId34"/>
    <p:sldId id="330" r:id="rId35"/>
    <p:sldId id="331" r:id="rId36"/>
    <p:sldId id="338" r:id="rId37"/>
    <p:sldId id="268" r:id="rId38"/>
    <p:sldId id="263" r:id="rId39"/>
    <p:sldId id="329" r:id="rId40"/>
    <p:sldId id="358" r:id="rId41"/>
    <p:sldId id="269" r:id="rId42"/>
    <p:sldId id="270" r:id="rId43"/>
    <p:sldId id="364" r:id="rId44"/>
    <p:sldId id="365" r:id="rId45"/>
    <p:sldId id="366" r:id="rId46"/>
    <p:sldId id="332" r:id="rId47"/>
    <p:sldId id="333" r:id="rId48"/>
    <p:sldId id="339" r:id="rId49"/>
    <p:sldId id="371" r:id="rId50"/>
    <p:sldId id="320" r:id="rId51"/>
    <p:sldId id="275" r:id="rId52"/>
    <p:sldId id="328" r:id="rId53"/>
    <p:sldId id="276" r:id="rId54"/>
    <p:sldId id="277" r:id="rId55"/>
    <p:sldId id="344" r:id="rId56"/>
    <p:sldId id="367" r:id="rId57"/>
    <p:sldId id="368" r:id="rId58"/>
    <p:sldId id="369" r:id="rId59"/>
    <p:sldId id="370" r:id="rId60"/>
    <p:sldId id="345" r:id="rId61"/>
    <p:sldId id="346" r:id="rId62"/>
    <p:sldId id="380" r:id="rId63"/>
    <p:sldId id="376" r:id="rId64"/>
    <p:sldId id="377" r:id="rId65"/>
    <p:sldId id="378" r:id="rId66"/>
    <p:sldId id="374" r:id="rId67"/>
    <p:sldId id="375" r:id="rId68"/>
    <p:sldId id="373" r:id="rId6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132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B20A0-BB54-8C05-4883-84DD448D638B}"/>
              </a:ext>
            </a:extLst>
          </p:cNvPr>
          <p:cNvSpPr txBox="1"/>
          <p:nvPr/>
        </p:nvSpPr>
        <p:spPr>
          <a:xfrm>
            <a:off x="852487" y="212735"/>
            <a:ext cx="10287000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4800" b="1" dirty="0">
                <a:solidFill>
                  <a:schemeClr val="accent5"/>
                </a:solidFill>
              </a:rPr>
              <a:t>COMPREHENSIVE NONLINEAR SEISMIC ASSESSMENT OF STEEL A SIMPLY SUPPORTED CABLE ELEMENT: AN OPENSEES FRAMEWORK FOR STATIC PUSHOVER, CYCLIC DEGRADATION, STATIC TIME-HISTORY AND DYNAMIC TIME-HISTORY ANALYSIS        </a:t>
            </a:r>
            <a:r>
              <a:rPr lang="en-US" sz="1200" b="1" dirty="0">
                <a:solidFill>
                  <a:schemeClr val="accent3"/>
                </a:solidFill>
              </a:rPr>
              <a:t>THIS PROGRAM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DFB60-CB0C-01CB-6B7C-ABECAB2AD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9E6DF93-36BB-EF0E-C5EC-F2EB35DBF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898" y="274320"/>
            <a:ext cx="5412595" cy="630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616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0E4B1B-498E-5D59-70D6-821DB5F27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274" y="182880"/>
            <a:ext cx="10031451" cy="649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6C691-2A83-BCFA-633F-56921BAFD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3C359C-EF27-C0C7-1BEB-FF017DC0A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448"/>
            <a:ext cx="12192000" cy="658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883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F8AF4-F71D-1920-08A4-7FFFAC020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72B964-3094-74F1-711C-527BD9CB5E8E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ANALYSIS</a:t>
            </a:r>
          </a:p>
        </p:txBody>
      </p:sp>
    </p:spTree>
    <p:extLst>
      <p:ext uri="{BB962C8B-B14F-4D97-AF65-F5344CB8AC3E}">
        <p14:creationId xmlns:p14="http://schemas.microsoft.com/office/powerpoint/2010/main" val="1068325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90C22-AA40-AB9A-9761-537B2162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948773-82E1-D0D4-DF7E-3C58DD13A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807"/>
            <a:ext cx="12192000" cy="6548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779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6117B-CD12-A128-A9F4-EBB15AF42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4CD320-C243-33C5-1F36-63220F59E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054" y="0"/>
            <a:ext cx="84918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355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3619-7286-F4EC-EE51-7221FC922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5A9AE0-54D8-DDD3-2CB5-62CDD961B7A7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PUSHOVER ANALYSIS</a:t>
            </a:r>
          </a:p>
        </p:txBody>
      </p:sp>
    </p:spTree>
    <p:extLst>
      <p:ext uri="{BB962C8B-B14F-4D97-AF65-F5344CB8AC3E}">
        <p14:creationId xmlns:p14="http://schemas.microsoft.com/office/powerpoint/2010/main" val="90624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CE365-FCCC-FF67-C4EE-3B976A78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DECFF0-7DD7-D240-F335-85FAE1E86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557"/>
            <a:ext cx="12192000" cy="6520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86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D373D-9C8C-5B94-1A02-E3E3C005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AF8225-0286-C2E7-3273-C106FC558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541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09514-A27A-2C9F-6D01-0B2CFAED2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648368-0F89-0D01-6FFD-9EF9961B7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418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2FC25-A885-4A53-CFD4-E86ADE3DE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EEBE6F-92A2-2957-304C-85289B37C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768" y="0"/>
            <a:ext cx="85824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494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6642-CFC3-3863-C174-585452CCD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CE8190-0CAD-1F63-AA6A-3E9111BF0796}"/>
              </a:ext>
            </a:extLst>
          </p:cNvPr>
          <p:cNvSpPr txBox="1"/>
          <p:nvPr/>
        </p:nvSpPr>
        <p:spPr>
          <a:xfrm>
            <a:off x="1843087" y="2459504"/>
            <a:ext cx="89439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CYCLIC DISPLACEMENT ANALYSIS</a:t>
            </a:r>
          </a:p>
        </p:txBody>
      </p:sp>
    </p:spTree>
    <p:extLst>
      <p:ext uri="{BB962C8B-B14F-4D97-AF65-F5344CB8AC3E}">
        <p14:creationId xmlns:p14="http://schemas.microsoft.com/office/powerpoint/2010/main" val="686636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0A545-5A10-9F1B-45A2-F44A2616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5643F6-BF83-80B2-47FA-E0018E459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557"/>
            <a:ext cx="12192000" cy="6520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73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FB424-8A93-DAB4-EA03-8FA2907BE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41F742-3747-219D-8014-AA840B2E7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787" y="234786"/>
            <a:ext cx="925242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2785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ED8F3-9803-93BD-8AD1-72F549BED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37B1E4-6F6B-645E-F9A0-C271675D8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8802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FFC3B-CFFF-744E-D7DE-B58B829F2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20A239-6DB7-4F4C-521F-A16DA2DD3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722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3076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55E38-14DA-6251-7C25-D44144284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B0C2CDD-0D69-FA37-B76F-7A8FBA8A1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054" y="0"/>
            <a:ext cx="84918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946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D3F20-B8F0-61CD-7105-05376A6A1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C8AE3F-60FB-913F-ADE8-ADED74306ACB}"/>
              </a:ext>
            </a:extLst>
          </p:cNvPr>
          <p:cNvSpPr txBox="1"/>
          <p:nvPr/>
        </p:nvSpPr>
        <p:spPr>
          <a:xfrm>
            <a:off x="452437" y="1536174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TIME-HISTORY </a:t>
            </a:r>
            <a:r>
              <a:rPr lang="en-US" sz="6000" b="1">
                <a:solidFill>
                  <a:schemeClr val="accent5"/>
                </a:solidFill>
              </a:rPr>
              <a:t>WITH EXTERNAL TIME-DEPENDENT LOADING </a:t>
            </a:r>
            <a:r>
              <a:rPr lang="en-US" sz="6000" b="1" dirty="0">
                <a:solidFill>
                  <a:schemeClr val="accent5"/>
                </a:solidFill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37179889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25BD7-E78D-605C-1FC7-03F79B04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B8ACB4F-B7A5-ADAF-4DCF-E0B7A5E9E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156"/>
            <a:ext cx="12192000" cy="656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36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D9EB2-C6F0-F914-10C6-15678372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DFC584-13AB-6839-56E2-D66086A9E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665" y="685800"/>
            <a:ext cx="8848131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241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808B4-C346-204E-0B48-325AC4B77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6565A1-56A3-3B6C-E2E6-9D58E77A2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160" y="234786"/>
            <a:ext cx="93476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344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6F178-E24E-09B7-2171-2646FA404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5D3BD57-24B9-6B4A-3420-02858C5D4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437" y="234786"/>
            <a:ext cx="926512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479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EC418-E5BC-8617-2C8C-83DB5D0FA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002C4C-5828-C8F3-9FD9-99B3A4D4A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054" y="0"/>
            <a:ext cx="84918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9463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209FD-35F5-599A-B427-EC8AD877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F7AE19-CDDA-1A77-970E-F2F26F7C4C2A}"/>
              </a:ext>
            </a:extLst>
          </p:cNvPr>
          <p:cNvSpPr txBox="1"/>
          <p:nvPr/>
        </p:nvSpPr>
        <p:spPr>
          <a:xfrm>
            <a:off x="452437" y="1536174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DYNAMIC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27379884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E973F-8B3E-8A16-ACAA-110E58B18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4A7BCD-F3B5-C026-DDD8-00DAAED27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572"/>
            <a:ext cx="12192000" cy="6596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911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CC92-E997-32E8-E0AA-FE03B2D2B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08BEF7-8146-135A-B482-2CE76B797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590" y="228600"/>
            <a:ext cx="1032281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472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13723-ED21-A546-332D-5526EF294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BFD1BA-68BD-C2DB-EEF5-A9DFE0BF2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4972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E82A1-DB42-FD79-C9BD-8DAEB0B64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B712AB-D512-375D-97EB-5CEE57B3F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7800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2C96F-B711-87A9-6F5E-8E468382B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0362383-1DB6-E841-C740-95BB8DDF8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086" y="733286"/>
            <a:ext cx="9277827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9295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F924E-582B-0A60-BC2A-E48C613F1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AC7799-8983-124C-6827-5A5124011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414" y="733286"/>
            <a:ext cx="9157171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7552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F73E7-81AD-A404-ABF2-2A23D5067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599AA8-DF0D-8C1C-4A00-5E921E9BD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459" y="733286"/>
            <a:ext cx="9373082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9065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83439-125B-B082-AFC0-21D91B6C5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0FE10C4-77D2-7409-805E-B91DCFCBF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672" y="733286"/>
            <a:ext cx="9836656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0309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66AB4-1EF3-AF97-DE08-B9054916D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394CF4-6DA4-38F6-9545-50EF9DFF4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685" y="733286"/>
            <a:ext cx="9328629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6831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0D85D-ACDE-BD19-76BA-33C4B4CC5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F25584-092F-C2DA-3809-8C328DB3B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386" y="733286"/>
            <a:ext cx="9303228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8881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36A6F-686C-EF33-EA84-2516774EF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AF5099-95AA-4CF6-2C6E-19890913F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262" y="234786"/>
            <a:ext cx="927147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8179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F80FA-5CC6-10B0-6A40-DC8DB514D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E74CF8-3259-FE6E-97DD-D2B2AF9F0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054" y="0"/>
            <a:ext cx="84918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3440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4D0C3-33BC-8AC0-7546-EC996A27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C8780A-4FC2-F497-BE34-B2C16E7CF8E0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FREE-VIBRATION ANALYSIS</a:t>
            </a:r>
          </a:p>
        </p:txBody>
      </p:sp>
    </p:spTree>
    <p:extLst>
      <p:ext uri="{BB962C8B-B14F-4D97-AF65-F5344CB8AC3E}">
        <p14:creationId xmlns:p14="http://schemas.microsoft.com/office/powerpoint/2010/main" val="34252430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1CAC-4795-E846-F7DF-A53A4F37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B84E89-C708-1565-6C13-6D2130945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557"/>
            <a:ext cx="12192000" cy="6520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965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3D19A-F009-1509-C0CB-235A5B185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B169D1-AFFC-4323-192C-1BB9B2FF9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838" y="234786"/>
            <a:ext cx="92143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8531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5A79D-7B6D-8641-127E-91A35B4FE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C102E5-F119-95AC-2E87-80EF8C914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4323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C2584-B6F1-E4AA-2324-111A7CEC6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EB2D58-121B-268D-E93D-15ACA9580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2243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D4368-E8A6-B519-DC64-FE793660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B3143B3-8F17-FAB6-A75C-ED53A9C36C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2626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D7A69-64FE-138F-7614-B27478EA3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74F2BEF-BAD2-415B-8B44-FCDF3E40D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3910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E66A8-E6C6-3CAE-CC0A-47E86E17B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8FD610-1D2C-164E-B46B-A5FEFDE9F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99965"/>
            <a:ext cx="9049215" cy="5258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1020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D1BEF-3325-33A6-3892-CF99FA7D0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6C9FCE-D58A-26FC-121A-047DF4E59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6371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0380E-CAE8-1CF1-4C2F-213CEC8A1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FAF317-ACF4-A3CD-7719-384876BB9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0051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E8919-6457-5149-94BC-A88EE7431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032DA6-4A64-C02F-D82A-B6C0E052A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262" y="234786"/>
            <a:ext cx="927147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0210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8E244-4FB4-8ECE-BABB-F1B01C99C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ABCB046-52A1-F9C0-609A-0EC81CF92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054" y="0"/>
            <a:ext cx="84918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258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2FD87F-FA27-4F3D-9880-2DB81CE0CF95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SEISMIC ANALYSIS</a:t>
            </a:r>
          </a:p>
        </p:txBody>
      </p:sp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CDBA9-C54B-300B-2CD4-0907A3676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09B84A1-4CC4-1712-466D-09E0D9540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187"/>
            <a:ext cx="12192000" cy="660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8525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FA42C-A453-6104-5A0F-C920D0078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6D8DFA-AE79-C6AA-525C-F40D90F4B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459" y="234786"/>
            <a:ext cx="937308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9446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ABDFB-049D-3FA7-32D9-44B5AB004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380020-4632-92CA-1A2B-670D1425F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57682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4BAB1-6E46-ACDE-FA5F-37B22EC1D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632870-E8C9-D52C-96EB-3D7FC3F81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1780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8439C-D815-251C-AA57-6D0ADF7C9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EE9AD7-36C0-11E2-4F7E-E0869EC92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70032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4BB10-FD7B-32C0-842F-692D7E5A8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7563F2-B32F-D4DE-313F-E021EA937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49810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D5022-ECEA-E59A-67B0-025E1547F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B36F25-7500-DB17-0B7E-C37E1B047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99965"/>
            <a:ext cx="9049215" cy="5258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93635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17AEA-2DD3-3D10-199C-FF25928AA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6D3F91-E9C8-134E-DEEC-C6E0CD5B8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04231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0E6C3-3D28-6F67-6892-0567F67DB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A19598-1AF1-B53D-8A03-185EA6F7E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16983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03C31-4FDF-8CB5-DFE0-0D48E7B75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61AF1E-9330-2947-40E9-A41883CFE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437" y="234786"/>
            <a:ext cx="926512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10303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A80A0-82D3-7D61-9718-F9191EC08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F290830-A28D-ABA0-BEC9-BBB4032D4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93009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F8271-4C4B-BB75-A904-554225544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73EFCA-3AC4-EEF2-4D5E-B9ED2A69D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054" y="0"/>
            <a:ext cx="84918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88353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ED53-977D-D68F-9672-9E41B2358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C13DA25-AC52-0CE7-9290-DFDA6BA5F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78855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E424A-684C-6B6B-5939-6BDCDA70D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FCE32A-B3B4-B0BF-4A1D-2CD0E1D0F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81195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A3896-A144-75C9-940D-3F26C5B1B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492669-31FF-EF80-FA39-CD55BD5507C4}"/>
              </a:ext>
            </a:extLst>
          </p:cNvPr>
          <p:cNvSpPr txBox="1"/>
          <p:nvPr/>
        </p:nvSpPr>
        <p:spPr>
          <a:xfrm>
            <a:off x="0" y="2305615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3"/>
                </a:solidFill>
              </a:rPr>
              <a:t>Dissipated Energy from Earthquake= 166096.25 </a:t>
            </a:r>
            <a:r>
              <a:rPr lang="en-US" sz="2800" b="1" dirty="0" err="1">
                <a:solidFill>
                  <a:schemeClr val="accent3"/>
                </a:solidFill>
              </a:rPr>
              <a:t>N·mm</a:t>
            </a:r>
            <a:endParaRPr lang="en-US" sz="2800" b="1" dirty="0">
              <a:solidFill>
                <a:schemeClr val="accent3"/>
              </a:solidFill>
            </a:endParaRPr>
          </a:p>
          <a:p>
            <a:r>
              <a:rPr lang="en-US" sz="2800" b="1" dirty="0">
                <a:solidFill>
                  <a:schemeClr val="accent3"/>
                </a:solidFill>
              </a:rPr>
              <a:t>Dissipated Energy from Cyclic Displacement= 11357792967.71 </a:t>
            </a:r>
            <a:r>
              <a:rPr lang="en-US" sz="2800" b="1" dirty="0" err="1">
                <a:solidFill>
                  <a:schemeClr val="accent3"/>
                </a:solidFill>
              </a:rPr>
              <a:t>N·mm</a:t>
            </a:r>
            <a:endParaRPr lang="en-US" sz="2800" b="1" dirty="0">
              <a:solidFill>
                <a:schemeClr val="accent3"/>
              </a:solidFill>
            </a:endParaRPr>
          </a:p>
          <a:p>
            <a:endParaRPr lang="en-US" sz="2800" b="1" dirty="0">
              <a:solidFill>
                <a:schemeClr val="accent3"/>
              </a:solidFill>
            </a:endParaRPr>
          </a:p>
          <a:p>
            <a:r>
              <a:rPr lang="en-US" sz="2800" b="1" dirty="0">
                <a:solidFill>
                  <a:srgbClr val="FF0000"/>
                </a:solidFill>
              </a:rPr>
              <a:t>	DISSIPATED ENERGY CAPACITY INDEX: 0.001 [%]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	ZONE 1: VERY MINOR DAMAGE</a:t>
            </a:r>
          </a:p>
        </p:txBody>
      </p:sp>
    </p:spTree>
    <p:extLst>
      <p:ext uri="{BB962C8B-B14F-4D97-AF65-F5344CB8AC3E}">
        <p14:creationId xmlns:p14="http://schemas.microsoft.com/office/powerpoint/2010/main" val="68047294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B531E-DE22-C186-83B2-39967117A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57A40F-1B66-3B3F-2C7D-3D123DDD4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007" y="168107"/>
            <a:ext cx="9461986" cy="6521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56017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104F3-2EE5-3A1F-3C16-CF4AC082C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2DC02C3-9CE4-3202-0BDC-8A3CC2BCF410}"/>
              </a:ext>
            </a:extLst>
          </p:cNvPr>
          <p:cNvSpPr txBox="1"/>
          <p:nvPr/>
        </p:nvSpPr>
        <p:spPr>
          <a:xfrm>
            <a:off x="2836347" y="612844"/>
            <a:ext cx="752951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b="1" dirty="0">
                <a:solidFill>
                  <a:schemeClr val="accent3"/>
                </a:solidFill>
              </a:rPr>
              <a:t>=   Analysis curve fitted =</a:t>
            </a:r>
          </a:p>
          <a:p>
            <a:r>
              <a:rPr lang="en-US" b="1" dirty="0">
                <a:solidFill>
                  <a:schemeClr val="accent3"/>
                </a:solidFill>
              </a:rPr>
              <a:t>     </a:t>
            </a:r>
            <a:r>
              <a:rPr lang="en-US" b="1" dirty="0" err="1">
                <a:solidFill>
                  <a:schemeClr val="accent3"/>
                </a:solidFill>
              </a:rPr>
              <a:t>Disp</a:t>
            </a:r>
            <a:r>
              <a:rPr lang="en-US" b="1" dirty="0">
                <a:solidFill>
                  <a:schemeClr val="accent3"/>
                </a:solidFill>
              </a:rPr>
              <a:t>        Base Shear</a:t>
            </a:r>
          </a:p>
          <a:p>
            <a:r>
              <a:rPr lang="en-US" b="1" dirty="0">
                <a:solidFill>
                  <a:schemeClr val="accent3"/>
                </a:solidFill>
              </a:rPr>
              <a:t>----------------------------</a:t>
            </a:r>
          </a:p>
          <a:p>
            <a:r>
              <a:rPr lang="en-US" b="1" dirty="0">
                <a:solidFill>
                  <a:schemeClr val="accent3"/>
                </a:solidFill>
              </a:rPr>
              <a:t>[[0.00000000e+00 0.00000000e+00]</a:t>
            </a:r>
          </a:p>
          <a:p>
            <a:r>
              <a:rPr lang="en-US" b="1" dirty="0">
                <a:solidFill>
                  <a:schemeClr val="accent3"/>
                </a:solidFill>
              </a:rPr>
              <a:t> [3.20228738e+00 1.74154749e-06]</a:t>
            </a:r>
          </a:p>
          <a:p>
            <a:r>
              <a:rPr lang="en-US" b="1" dirty="0">
                <a:solidFill>
                  <a:schemeClr val="accent3"/>
                </a:solidFill>
              </a:rPr>
              <a:t> [2.00000000e+03 2.31000216e+06]]</a:t>
            </a:r>
          </a:p>
          <a:p>
            <a:r>
              <a:rPr lang="en-US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Elastic Stiffness :     0.00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Plastic Stiffness :     1155.00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Tangent Stiffness :     1156.85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Ductility Ratio :       624.55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Over Strength Factor:   1326407787520.38</a:t>
            </a:r>
          </a:p>
          <a:p>
            <a:r>
              <a:rPr lang="en-US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b="1" dirty="0">
                <a:solidFill>
                  <a:schemeClr val="accent3"/>
                </a:solidFill>
              </a:rPr>
              <a:t>Over Strength Coefficient (</a:t>
            </a:r>
            <a:r>
              <a:rPr lang="el-GR" b="1" dirty="0">
                <a:solidFill>
                  <a:schemeClr val="accent3"/>
                </a:solidFill>
              </a:rPr>
              <a:t>Ω0):      1326407787520.3845</a:t>
            </a:r>
          </a:p>
          <a:p>
            <a:r>
              <a:rPr lang="en-US" b="1" dirty="0">
                <a:solidFill>
                  <a:schemeClr val="accent3"/>
                </a:solidFill>
              </a:rPr>
              <a:t>Displacement Ductility Ratio (</a:t>
            </a:r>
            <a:r>
              <a:rPr lang="el-GR" b="1" dirty="0">
                <a:solidFill>
                  <a:schemeClr val="accent3"/>
                </a:solidFill>
              </a:rPr>
              <a:t>μ):    624.5536</a:t>
            </a:r>
          </a:p>
          <a:p>
            <a:r>
              <a:rPr lang="en-US" b="1" dirty="0">
                <a:solidFill>
                  <a:schemeClr val="accent3"/>
                </a:solidFill>
              </a:rPr>
              <a:t>Ductility Coefficient (R</a:t>
            </a:r>
            <a:r>
              <a:rPr lang="el-GR" b="1" dirty="0">
                <a:solidFill>
                  <a:schemeClr val="accent3"/>
                </a:solidFill>
              </a:rPr>
              <a:t>μ):          624.5536</a:t>
            </a:r>
          </a:p>
          <a:p>
            <a:r>
              <a:rPr lang="en-US" b="1" dirty="0">
                <a:solidFill>
                  <a:schemeClr val="accent3"/>
                </a:solidFill>
              </a:rPr>
              <a:t>Structural Behavior Coefficient (R): 828412712963939.6250</a:t>
            </a:r>
          </a:p>
          <a:p>
            <a:r>
              <a:rPr lang="en-US" b="1" dirty="0">
                <a:solidFill>
                  <a:schemeClr val="accent3"/>
                </a:solidFill>
              </a:rPr>
              <a:t>Structural Ductility Damage Index in Y Direction: 4.7778 (%)</a:t>
            </a:r>
          </a:p>
        </p:txBody>
      </p:sp>
    </p:spTree>
    <p:extLst>
      <p:ext uri="{BB962C8B-B14F-4D97-AF65-F5344CB8AC3E}">
        <p14:creationId xmlns:p14="http://schemas.microsoft.com/office/powerpoint/2010/main" val="339479614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AE539-618C-5D32-887F-F130F12B1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D5B9BE-F7B8-B39F-2552-AB8C16C56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567" y="733286"/>
            <a:ext cx="904286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408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</TotalTime>
  <Words>219</Words>
  <Application>Microsoft Office PowerPoint</Application>
  <PresentationFormat>Widescreen</PresentationFormat>
  <Paragraphs>34</Paragraphs>
  <Slides>68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165</cp:revision>
  <cp:lastPrinted>2026-07-26T20:27:40Z</cp:lastPrinted>
  <dcterms:created xsi:type="dcterms:W3CDTF">2025-06-03T10:37:48Z</dcterms:created>
  <dcterms:modified xsi:type="dcterms:W3CDTF">2026-07-26T20:45:07Z</dcterms:modified>
</cp:coreProperties>
</file>