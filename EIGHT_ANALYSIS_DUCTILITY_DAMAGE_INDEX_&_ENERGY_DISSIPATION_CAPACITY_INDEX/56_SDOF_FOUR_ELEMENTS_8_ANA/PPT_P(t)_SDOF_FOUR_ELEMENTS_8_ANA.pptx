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79" r:id="rId4"/>
    <p:sldId id="380" r:id="rId5"/>
    <p:sldId id="381" r:id="rId6"/>
    <p:sldId id="382" r:id="rId7"/>
    <p:sldId id="383" r:id="rId8"/>
    <p:sldId id="259" r:id="rId9"/>
    <p:sldId id="323" r:id="rId10"/>
    <p:sldId id="302" r:id="rId11"/>
    <p:sldId id="324" r:id="rId12"/>
    <p:sldId id="306" r:id="rId13"/>
    <p:sldId id="336" r:id="rId14"/>
    <p:sldId id="346" r:id="rId15"/>
    <p:sldId id="354" r:id="rId16"/>
    <p:sldId id="355" r:id="rId17"/>
    <p:sldId id="304" r:id="rId18"/>
    <p:sldId id="261" r:id="rId19"/>
    <p:sldId id="325" r:id="rId20"/>
    <p:sldId id="337" r:id="rId21"/>
    <p:sldId id="347" r:id="rId22"/>
    <p:sldId id="356" r:id="rId23"/>
    <p:sldId id="357" r:id="rId24"/>
    <p:sldId id="399" r:id="rId25"/>
    <p:sldId id="308" r:id="rId26"/>
    <p:sldId id="265" r:id="rId27"/>
    <p:sldId id="326" r:id="rId28"/>
    <p:sldId id="266" r:id="rId29"/>
    <p:sldId id="309" r:id="rId30"/>
    <p:sldId id="348" r:id="rId31"/>
    <p:sldId id="358" r:id="rId32"/>
    <p:sldId id="359" r:id="rId33"/>
    <p:sldId id="311" r:id="rId34"/>
    <p:sldId id="312" r:id="rId35"/>
    <p:sldId id="327" r:id="rId36"/>
    <p:sldId id="313" r:id="rId37"/>
    <p:sldId id="314" r:id="rId38"/>
    <p:sldId id="315" r:id="rId39"/>
    <p:sldId id="349" r:id="rId40"/>
    <p:sldId id="360" r:id="rId41"/>
    <p:sldId id="361" r:id="rId42"/>
    <p:sldId id="263" r:id="rId43"/>
    <p:sldId id="329" r:id="rId44"/>
    <p:sldId id="268" r:id="rId45"/>
    <p:sldId id="269" r:id="rId46"/>
    <p:sldId id="342" r:id="rId47"/>
    <p:sldId id="374" r:id="rId48"/>
    <p:sldId id="375" r:id="rId49"/>
    <p:sldId id="363" r:id="rId50"/>
    <p:sldId id="384" r:id="rId51"/>
    <p:sldId id="385" r:id="rId52"/>
    <p:sldId id="386" r:id="rId53"/>
    <p:sldId id="387" r:id="rId54"/>
    <p:sldId id="388" r:id="rId55"/>
    <p:sldId id="389" r:id="rId56"/>
    <p:sldId id="397" r:id="rId57"/>
    <p:sldId id="320" r:id="rId58"/>
    <p:sldId id="275" r:id="rId59"/>
    <p:sldId id="328" r:id="rId60"/>
    <p:sldId id="276" r:id="rId61"/>
    <p:sldId id="343" r:id="rId62"/>
    <p:sldId id="350" r:id="rId63"/>
    <p:sldId id="362" r:id="rId64"/>
    <p:sldId id="364" r:id="rId65"/>
    <p:sldId id="366" r:id="rId66"/>
    <p:sldId id="390" r:id="rId67"/>
    <p:sldId id="391" r:id="rId68"/>
    <p:sldId id="392" r:id="rId69"/>
    <p:sldId id="393" r:id="rId70"/>
    <p:sldId id="394" r:id="rId71"/>
    <p:sldId id="395" r:id="rId72"/>
    <p:sldId id="371" r:id="rId73"/>
    <p:sldId id="398" r:id="rId74"/>
    <p:sldId id="396" r:id="rId75"/>
    <p:sldId id="365" r:id="rId76"/>
    <p:sldId id="373" r:id="rId77"/>
    <p:sldId id="372" r:id="rId78"/>
    <p:sldId id="400" r:id="rId79"/>
    <p:sldId id="401" r:id="rId8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4660"/>
  </p:normalViewPr>
  <p:slideViewPr>
    <p:cSldViewPr snapToGrid="0">
      <p:cViewPr varScale="1">
        <p:scale>
          <a:sx n="67" d="100"/>
          <a:sy n="67" d="100"/>
        </p:scale>
        <p:origin x="77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0" y="212735"/>
            <a:ext cx="12330112" cy="6432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4800" b="1" dirty="0">
                <a:solidFill>
                  <a:schemeClr val="accent5"/>
                </a:solidFill>
              </a:rPr>
              <a:t>COMPREHENSIVE NONLINEAR SEISMIC ASSESSMENT OF SINGLE-DEGREE-FREEDOM WITH FOUR ELEMENTS STRUCTURE (SDOF) : AN OPENSEES FRAMEWORK FOR STATIC PUSHOVER, CYCLIC DEGRADATION, STATIC TIME-HISTORY AND DYNAMIC TIME-HISTORY ANALYSIS        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C3200B-66FE-49DF-98A0-8FB59E772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6692"/>
            <a:ext cx="12192000" cy="4024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EEE91-EF6C-8426-0BBC-F4615455B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D90862-4774-0013-DA2F-3CD955523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9650"/>
            <a:ext cx="12192000" cy="311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438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7D81-437E-CD66-E907-596CBB53C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2839C4D-E105-5D21-D04C-04597E1A34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0B35B9-678F-FBB1-3D5D-07CD0C768B90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01</a:t>
            </a:r>
          </a:p>
        </p:txBody>
      </p:sp>
    </p:spTree>
    <p:extLst>
      <p:ext uri="{BB962C8B-B14F-4D97-AF65-F5344CB8AC3E}">
        <p14:creationId xmlns:p14="http://schemas.microsoft.com/office/powerpoint/2010/main" val="1387389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59E2-F012-4E41-3343-A51CCB8DF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A4F6A4-8607-5951-4AA3-891FB2E6D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BEFE2A-B1E3-2478-1ECF-17F5BCB697E1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02</a:t>
            </a:r>
          </a:p>
        </p:txBody>
      </p:sp>
    </p:spTree>
    <p:extLst>
      <p:ext uri="{BB962C8B-B14F-4D97-AF65-F5344CB8AC3E}">
        <p14:creationId xmlns:p14="http://schemas.microsoft.com/office/powerpoint/2010/main" val="1235629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F7A4-C61A-5F38-6683-E265FB1DF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8112492-1B4E-07E2-F869-4579B9390A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2572DE-ACB2-F449-7B69-B78A3105D5C7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03</a:t>
            </a:r>
          </a:p>
        </p:txBody>
      </p:sp>
    </p:spTree>
    <p:extLst>
      <p:ext uri="{BB962C8B-B14F-4D97-AF65-F5344CB8AC3E}">
        <p14:creationId xmlns:p14="http://schemas.microsoft.com/office/powerpoint/2010/main" val="3727533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52F22-C8B0-8A85-DF7F-E4767D66A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5B92AD-5FB8-E12B-7149-2ACCA54F9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38781DF-922D-0FDE-14BE-38A96132CF78}"/>
              </a:ext>
            </a:extLst>
          </p:cNvPr>
          <p:cNvSpPr txBox="1"/>
          <p:nvPr/>
        </p:nvSpPr>
        <p:spPr>
          <a:xfrm>
            <a:off x="3343276" y="1285876"/>
            <a:ext cx="2857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accent5"/>
                </a:solidFill>
              </a:rPr>
              <a:t>ELEMENT 04</a:t>
            </a:r>
          </a:p>
        </p:txBody>
      </p:sp>
    </p:spTree>
    <p:extLst>
      <p:ext uri="{BB962C8B-B14F-4D97-AF65-F5344CB8AC3E}">
        <p14:creationId xmlns:p14="http://schemas.microsoft.com/office/powerpoint/2010/main" val="2816626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F8AF4-F71D-1920-08A4-7FFFAC02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E72B964-3094-74F1-711C-527BD9CB5E8E}"/>
              </a:ext>
            </a:extLst>
          </p:cNvPr>
          <p:cNvSpPr txBox="1"/>
          <p:nvPr/>
        </p:nvSpPr>
        <p:spPr>
          <a:xfrm>
            <a:off x="1943100" y="2902506"/>
            <a:ext cx="89439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STATIC ANALYSIS</a:t>
            </a:r>
          </a:p>
        </p:txBody>
      </p:sp>
    </p:spTree>
    <p:extLst>
      <p:ext uri="{BB962C8B-B14F-4D97-AF65-F5344CB8AC3E}">
        <p14:creationId xmlns:p14="http://schemas.microsoft.com/office/powerpoint/2010/main" val="1068325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90C22-AA40-AB9A-9761-537B21628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2F3D85-2FF0-C156-8785-028BDB989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807"/>
            <a:ext cx="12192000" cy="654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7798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D3619-7286-F4EC-EE51-7221FC922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5A9AE0-54D8-DDD3-2CB5-62CDD961B7A7}"/>
              </a:ext>
            </a:extLst>
          </p:cNvPr>
          <p:cNvSpPr txBox="1"/>
          <p:nvPr/>
        </p:nvSpPr>
        <p:spPr>
          <a:xfrm>
            <a:off x="1943100" y="2902506"/>
            <a:ext cx="894397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PUSHOVER ANALYSIS</a:t>
            </a:r>
          </a:p>
        </p:txBody>
      </p:sp>
    </p:spTree>
    <p:extLst>
      <p:ext uri="{BB962C8B-B14F-4D97-AF65-F5344CB8AC3E}">
        <p14:creationId xmlns:p14="http://schemas.microsoft.com/office/powerpoint/2010/main" val="90624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E365-FCCC-FF67-C4EE-3B976A789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DB0156-DDEF-2E9D-6068-DFC5EAB5C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5849"/>
            <a:ext cx="12192000" cy="656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386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C598A-E1FD-6CB3-81ED-DEDA30E99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B456B7-ADF2-E1AF-4781-C5FADE179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234786"/>
            <a:ext cx="9430235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30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373D-9C8C-5B94-1A02-E3E3C005B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1EE7EF8-15E0-0980-E7E0-32ED66F03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5412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5696-57B9-1595-E925-344B167ED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A11116-0F93-6E57-AD6B-034CEE055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48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5DC99-2425-4A35-D093-E249B198E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9392AC-0D64-2974-B1CC-BE1B9682A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46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27706-AE6A-C56F-2A6F-573755742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6073D3-1693-1B3F-CB9B-E4B3F42C9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539" y="234786"/>
            <a:ext cx="918892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654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26642-CFC3-3863-C174-585452CCD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CE8190-0CAD-1F63-AA6A-3E9111BF0796}"/>
              </a:ext>
            </a:extLst>
          </p:cNvPr>
          <p:cNvSpPr txBox="1"/>
          <p:nvPr/>
        </p:nvSpPr>
        <p:spPr>
          <a:xfrm>
            <a:off x="1843087" y="2459504"/>
            <a:ext cx="8943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CYCLIC DISPLACEMENT ANALYSIS</a:t>
            </a:r>
          </a:p>
        </p:txBody>
      </p:sp>
    </p:spTree>
    <p:extLst>
      <p:ext uri="{BB962C8B-B14F-4D97-AF65-F5344CB8AC3E}">
        <p14:creationId xmlns:p14="http://schemas.microsoft.com/office/powerpoint/2010/main" val="6866364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0A545-5A10-9F1B-45A2-F44A2616C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349B55-23E8-1F74-D0AE-F3B00ADDC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2313"/>
            <a:ext cx="12192000" cy="661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736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FB424-8A93-DAB4-EA03-8FA2907B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271891-126D-C5E5-25E7-2A2BD655E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278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ED8F3-9803-93BD-8AD1-72F549BED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83CF6A-B4DA-C400-2BAC-F12BD1010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880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29D20-4CB6-F3FD-0D39-057F99D00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631C2C-2CF9-96B1-2A8E-AEA693654D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55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4782B-A32A-DA0A-1D41-49370115E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A528725-B2F7-2331-F4F5-035DA7711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65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2E9BA-3D74-A0FE-8076-B9244850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1FB1719-B376-99CB-5231-76EF32928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539" y="234786"/>
            <a:ext cx="918892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759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69E30-92A3-6D64-FE42-61CA154A3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19C4FA-4C08-1E76-92A6-4022A990D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688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D3F20-B8F0-61CD-7105-05376A6A1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C8AE3F-60FB-913F-ADE8-ADED74306ACB}"/>
              </a:ext>
            </a:extLst>
          </p:cNvPr>
          <p:cNvSpPr txBox="1"/>
          <p:nvPr/>
        </p:nvSpPr>
        <p:spPr>
          <a:xfrm>
            <a:off x="452437" y="1997839"/>
            <a:ext cx="112871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STATIC TIME-HISTORY WITH EXTERNAL TIME-DEPENDENT LOADING ANALYSIS</a:t>
            </a:r>
          </a:p>
        </p:txBody>
      </p:sp>
    </p:spTree>
    <p:extLst>
      <p:ext uri="{BB962C8B-B14F-4D97-AF65-F5344CB8AC3E}">
        <p14:creationId xmlns:p14="http://schemas.microsoft.com/office/powerpoint/2010/main" val="37179889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5BD7-E78D-605C-1FC7-03F79B040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CDD0272-D281-2AFC-3E33-599F670D5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682"/>
            <a:ext cx="12192000" cy="660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636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2-C6F0-F914-10C6-156783722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4953C6-887F-3541-F78D-4A2845A15C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797" y="936497"/>
            <a:ext cx="787440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24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08B4-C346-204E-0B48-325AC4B7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A857AF-7C34-3EE4-81D3-80885A3903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459" y="234786"/>
            <a:ext cx="937308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334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56F178-E24E-09B7-2171-2646FA404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F55A67-DBF5-ABCE-1803-3D66FC41B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11" y="234786"/>
            <a:ext cx="930957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8479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89911-636D-8A77-A96F-6955F5E3D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7B0FDE-8E73-77AC-7B06-3EAA52DBD3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6022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AD4FA-7169-82A7-2D24-8FB47B1D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8CEEACF-E988-3129-70C9-50436840A3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327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949BF-7DE9-B8FE-6439-0C38D7A21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BBCED8-1E74-1834-0F8B-768C3E272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834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209FD-35F5-599A-B427-EC8AD877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F7AE19-CDDA-1A77-970E-F2F26F7C4C2A}"/>
              </a:ext>
            </a:extLst>
          </p:cNvPr>
          <p:cNvSpPr txBox="1"/>
          <p:nvPr/>
        </p:nvSpPr>
        <p:spPr>
          <a:xfrm>
            <a:off x="452437" y="1997839"/>
            <a:ext cx="112871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DYNAMIC TIME-HISTORY WITH EXTERNAL TIME-DEPENDENT LOADING ANALYSIS</a:t>
            </a:r>
          </a:p>
        </p:txBody>
      </p:sp>
    </p:spTree>
    <p:extLst>
      <p:ext uri="{BB962C8B-B14F-4D97-AF65-F5344CB8AC3E}">
        <p14:creationId xmlns:p14="http://schemas.microsoft.com/office/powerpoint/2010/main" val="27379884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E973F-8B3E-8A16-ACAA-110E58B1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4E99C9-D11A-DDD8-0E11-B2A8DD070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141"/>
            <a:ext cx="12192000" cy="654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7911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CC92-E997-32E8-E0AA-FE03B2D2B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36094B-FC21-6EA6-3912-6A3A48CCC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8797" y="936497"/>
            <a:ext cx="7874405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7472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13723-ED21-A546-332D-5526EF29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94D7DE9-97E8-7DDC-7BD4-42CF9097C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459" y="234786"/>
            <a:ext cx="9373082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4972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E82A1-DB42-FD79-C9BD-8DAEB0B64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BE5A3D-FD59-34EB-72BE-E38A08A8E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9657"/>
            <a:ext cx="12192000" cy="505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7800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2C96F-B711-87A9-6F5E-8E468382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9A3CCDD-894F-5EA3-8B04-A70D13FC8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11" y="234786"/>
            <a:ext cx="930957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9295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76E30-6B79-9269-BEE3-E1BE4B2A6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39EB46-EF91-8FF4-9A5C-588C259C5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1122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7AFA-1857-4098-506E-B7C6D98F4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15BC4A-78CF-AACA-C3D2-9D80D1BD3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8467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D32F-C164-398E-E13F-87E6E1E0D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7CABA5-F653-E28C-830F-B11965820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510" y="234786"/>
            <a:ext cx="933498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9942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4D0C3-33BC-8AC0-7546-EC996A27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C8780A-4FC2-F497-BE34-B2C16E7CF8E0}"/>
              </a:ext>
            </a:extLst>
          </p:cNvPr>
          <p:cNvSpPr txBox="1"/>
          <p:nvPr/>
        </p:nvSpPr>
        <p:spPr>
          <a:xfrm>
            <a:off x="885826" y="2902506"/>
            <a:ext cx="10001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FREE-VIBRATION ANALYSIS</a:t>
            </a:r>
          </a:p>
        </p:txBody>
      </p:sp>
    </p:spTree>
    <p:extLst>
      <p:ext uri="{BB962C8B-B14F-4D97-AF65-F5344CB8AC3E}">
        <p14:creationId xmlns:p14="http://schemas.microsoft.com/office/powerpoint/2010/main" val="342524307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E1CAC-4795-E846-F7DF-A53A4F370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222F8C0-DDAB-1793-14EA-73BAA3012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017"/>
            <a:ext cx="12192000" cy="657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1965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F80FA-5CC6-10B0-6A40-DC8DB514D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06171A5-6C9D-4C04-8A04-13319D29D1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401" y="234786"/>
            <a:ext cx="9665197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3440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5A79D-7B6D-8641-127E-91A35B4FE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11C318-0333-91A8-D499-A4D014AFC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894"/>
            <a:ext cx="12192000" cy="502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4323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3CF93-E546-5385-3D34-9DCB050AA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D2F1599-F25B-9839-3BB7-49530A0C7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11" y="234786"/>
            <a:ext cx="930957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400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AC234-7D52-78C4-CB39-394D676DB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E32DE3-C43C-08F2-5F3C-17E64D40E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7419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92D43-838B-09BE-5292-CCF1DBF54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B5372C-8770-D20F-D07B-69B991D8C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2027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07967-924B-69E6-8B34-877E342F7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EE6A12-6C5A-F7C7-AEB6-44AF588D1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52" y="234786"/>
            <a:ext cx="9627095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3564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F2CFC-E90C-12CA-1D85-B6E9FD85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0BC2A3-283C-E963-D7F7-4CBC30302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2886" y="936497"/>
            <a:ext cx="8306227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6240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9C5C4-5D4C-0120-61D8-F69D3DC99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958A07-66E8-8FF9-F318-6FB48885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6097" y="936497"/>
            <a:ext cx="789980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4686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C103E-5F62-FBDB-2336-B64BE9B37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FFFBCD-2131-7756-5FCD-B6E7060C4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72" y="936497"/>
            <a:ext cx="7893456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3108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68276-B7BA-1507-15C4-41C551DFE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CE8CAAE-2CF6-D3B6-AA8C-AC9904023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15905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1B2D2-7E89-77AC-7A43-142FC3C36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9BD0AA-6E62-3515-A8F3-7C8F4195F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7339" y="936497"/>
            <a:ext cx="8217322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418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03998-FE6F-7004-9C51-6CA67A7C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0DCF5D-9B86-E259-055C-28CE74E93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78639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6036A-3E47-7151-7FB4-A8E613178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CE1FC7-FD28-8ADB-80DB-B6FBA84FF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561835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7368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885826" y="2902506"/>
            <a:ext cx="100012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SEISMIC ANALYSIS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CDBA9-C54B-300B-2CD4-0907A3676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17CDFE-4256-3861-3CC6-0098BCEC5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305"/>
            <a:ext cx="12192000" cy="654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8852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EFA42C-A453-6104-5A0F-C920D0078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2F64F04-7F66-733D-6FC3-7E5029D96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905" y="234786"/>
            <a:ext cx="953819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46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ABDFB-049D-3FA7-32D9-44B5AB00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41F7285-4A6D-B51B-F116-D99EB82E3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9657"/>
            <a:ext cx="12192000" cy="505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5768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563C0-B049-0039-4236-03262F0DE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07AFD78-5A71-F6D9-993D-3687C622C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765" y="234786"/>
            <a:ext cx="9144470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5157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9941F-53F2-A531-18B3-E49D51122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D1D46B-CEF2-B423-EF78-8ABC97432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67131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08B10-90E0-2E32-FD77-02CA0595A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7BF7B3-50C2-1D58-B756-DA72E20DB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65788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11D55-5E77-23A8-19E3-43647EA18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AE7D7FA-F63D-BB46-5C2F-391008B2A1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093" y="234786"/>
            <a:ext cx="9023814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79565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64E96-CC8E-BD2D-1C34-EDA5F61E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4F7CB9C-373A-713E-89F7-68701BF117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600" y="936497"/>
            <a:ext cx="7772799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22738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E0D49-E8B2-733E-A4B2-CBF3CF2BE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0644F7-E28A-A3DA-A02E-C864FF5FA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0307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27B2A-0BE4-17C3-2419-487C9120B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B0CE4-5A8E-4869-000A-3073F47F0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3457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07DA9-AEA4-A3FA-240E-2FDB0760E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E29742-35A4-D67A-1870-AD6C333DB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8597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591FE-5607-AFEC-9FD8-6073AC414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826F1F-1C2F-05C0-1593-8B46158240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046" y="936497"/>
            <a:ext cx="7937908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0956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C88EE-EC8F-AFFD-E1F9-42CA2039D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4DA3FE-5CC0-6635-689B-6D32CC45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54" y="936497"/>
            <a:ext cx="7607691" cy="498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06942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66D04-A951-15E0-4D5A-AAC1F9899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B66CF2E-69A6-525C-9052-B63EE8116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701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6907E-D7E9-88E6-0CC8-667EF3F3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156F20-A0D2-2A3C-B244-747A6B5F1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0149" y="457200"/>
            <a:ext cx="6951702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135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EDC4E-58BB-6FC8-96A6-6DF1A7B1F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67D30D-10BC-4502-AFDD-3D663D8E4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063" y="733286"/>
            <a:ext cx="6305874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3357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EE4C6-F6A6-4096-262C-F7F1BAF94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5126033-2435-8C3B-E0A7-E9D4EA8B80D3}"/>
              </a:ext>
            </a:extLst>
          </p:cNvPr>
          <p:cNvSpPr txBox="1"/>
          <p:nvPr/>
        </p:nvSpPr>
        <p:spPr>
          <a:xfrm>
            <a:off x="0" y="2305615"/>
            <a:ext cx="12192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accent3"/>
                </a:solidFill>
              </a:rPr>
              <a:t>Dissipated Energy from Earthquake= 153679.90 </a:t>
            </a:r>
            <a:r>
              <a:rPr lang="en-US" sz="2800" b="1" dirty="0" err="1">
                <a:solidFill>
                  <a:schemeClr val="accent3"/>
                </a:solidFill>
              </a:rPr>
              <a:t>N·m</a:t>
            </a:r>
            <a:endParaRPr lang="en-US" sz="2800" b="1" dirty="0">
              <a:solidFill>
                <a:schemeClr val="accent3"/>
              </a:solidFill>
            </a:endParaRPr>
          </a:p>
          <a:p>
            <a:r>
              <a:rPr lang="en-US" sz="2800" b="1" dirty="0">
                <a:solidFill>
                  <a:schemeClr val="accent3"/>
                </a:solidFill>
              </a:rPr>
              <a:t>Dissipated Energy from Cyclic Displacement= 1266886.57 </a:t>
            </a:r>
            <a:r>
              <a:rPr lang="en-US" sz="2800" b="1" dirty="0" err="1">
                <a:solidFill>
                  <a:schemeClr val="accent3"/>
                </a:solidFill>
              </a:rPr>
              <a:t>N·m</a:t>
            </a:r>
            <a:endParaRPr lang="en-US" sz="2800" b="1" dirty="0">
              <a:solidFill>
                <a:schemeClr val="accent3"/>
              </a:solidFill>
            </a:endParaRPr>
          </a:p>
          <a:p>
            <a:endParaRPr lang="en-US" sz="2800" b="1" dirty="0">
              <a:solidFill>
                <a:schemeClr val="accent3"/>
              </a:solidFill>
            </a:endParaRPr>
          </a:p>
          <a:p>
            <a:r>
              <a:rPr lang="en-US" sz="2800" b="1" dirty="0">
                <a:solidFill>
                  <a:schemeClr val="accent3"/>
                </a:solidFill>
              </a:rPr>
              <a:t>	</a:t>
            </a:r>
            <a:r>
              <a:rPr lang="en-US" sz="2800" b="1" dirty="0">
                <a:solidFill>
                  <a:srgbClr val="FF0000"/>
                </a:solidFill>
              </a:rPr>
              <a:t>DISSIPATED ENERGY CAPACITY INDEX: 12.131 [%]</a:t>
            </a:r>
          </a:p>
          <a:p>
            <a:r>
              <a:rPr lang="en-US" sz="2800" b="1" dirty="0">
                <a:solidFill>
                  <a:srgbClr val="FF0000"/>
                </a:solidFill>
              </a:rPr>
              <a:t>	ZONE 2: MINOR DAMAGE</a:t>
            </a:r>
          </a:p>
        </p:txBody>
      </p:sp>
    </p:spTree>
    <p:extLst>
      <p:ext uri="{BB962C8B-B14F-4D97-AF65-F5344CB8AC3E}">
        <p14:creationId xmlns:p14="http://schemas.microsoft.com/office/powerpoint/2010/main" val="412150815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5AA78-BE7D-F1F6-9E56-FC94D0A95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ADEB3C-664B-9F2E-A5D3-46A600E81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82" y="234786"/>
            <a:ext cx="9430235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88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5FF1A-66D3-13C2-AD34-18944328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F8FCFB2-939E-F82F-65D1-AACB418614DA}"/>
              </a:ext>
            </a:extLst>
          </p:cNvPr>
          <p:cNvSpPr txBox="1"/>
          <p:nvPr/>
        </p:nvSpPr>
        <p:spPr>
          <a:xfrm>
            <a:off x="3124435" y="920621"/>
            <a:ext cx="752951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accent3"/>
                </a:solidFill>
              </a:rPr>
              <a:t>+==========================+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=   Analysis curve fitted =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    </a:t>
            </a:r>
            <a:r>
              <a:rPr lang="en-US" sz="1600" b="1" dirty="0" err="1">
                <a:solidFill>
                  <a:schemeClr val="accent3"/>
                </a:solidFill>
              </a:rPr>
              <a:t>Disp</a:t>
            </a:r>
            <a:r>
              <a:rPr lang="en-US" sz="1600" b="1" dirty="0">
                <a:solidFill>
                  <a:schemeClr val="accent3"/>
                </a:solidFill>
              </a:rPr>
              <a:t>        Base Shear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----------------------------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[[0.00000000e+00 0.00000000e+00]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[1.88855314e-02 8.49848911e+04]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[3.49000000e-01 9.91148908e+04]]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+==========================+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+----------------------------------------------------+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Structure Elastic Stiffness :     4500000.00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Structure Plastic Stiffness :     283996.82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Structure Tangent Stiffness :     42803.33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Structure Ductility Ratio :       18.48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 Structure Over Strength Factor:   1.17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+----------------------------------------------------+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Over Strength Coefficient (</a:t>
            </a:r>
            <a:r>
              <a:rPr lang="el-GR" sz="1600" b="1" dirty="0">
                <a:solidFill>
                  <a:schemeClr val="accent3"/>
                </a:solidFill>
              </a:rPr>
              <a:t>Ω0):      1.1709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Displacement Ductility Ratio (</a:t>
            </a:r>
            <a:r>
              <a:rPr lang="el-GR" sz="1600" b="1" dirty="0">
                <a:solidFill>
                  <a:schemeClr val="accent3"/>
                </a:solidFill>
              </a:rPr>
              <a:t>μ):    29.1347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Ductility Coefficient (R</a:t>
            </a:r>
            <a:r>
              <a:rPr lang="el-GR" sz="1600" b="1" dirty="0">
                <a:solidFill>
                  <a:schemeClr val="accent3"/>
                </a:solidFill>
              </a:rPr>
              <a:t>μ):          29.1347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Structural Behavior Coefficient (R): 34.1124</a:t>
            </a:r>
          </a:p>
          <a:p>
            <a:r>
              <a:rPr lang="en-US" sz="1600" b="1" dirty="0">
                <a:solidFill>
                  <a:schemeClr val="accent3"/>
                </a:solidFill>
              </a:rPr>
              <a:t>Structural Ductility Damage Index in X Direction: 6.6433 (%)</a:t>
            </a:r>
          </a:p>
        </p:txBody>
      </p:sp>
    </p:spTree>
    <p:extLst>
      <p:ext uri="{BB962C8B-B14F-4D97-AF65-F5344CB8AC3E}">
        <p14:creationId xmlns:p14="http://schemas.microsoft.com/office/powerpoint/2010/main" val="6206539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FB10-D2A6-2554-D30D-41526819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B4716B-E6FD-D7F4-0D78-487FB9778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7707" y="733286"/>
            <a:ext cx="943658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0213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1264B-1BC9-BD1E-9D72-F14E76E99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96A81F-365E-D50A-2621-48EFBF1DB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137" y="733286"/>
            <a:ext cx="923972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58596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C19DB-C8BA-C8D4-9F06-942BA1793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8EE2CF1-B9A8-79AD-501B-602CE235B6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92" y="733286"/>
            <a:ext cx="9049215" cy="539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13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415</TotalTime>
  <Words>226</Words>
  <Application>Microsoft Office PowerPoint</Application>
  <PresentationFormat>Widescreen</PresentationFormat>
  <Paragraphs>39</Paragraphs>
  <Slides>79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167</cp:revision>
  <cp:lastPrinted>2026-07-17T20:27:55Z</cp:lastPrinted>
  <dcterms:created xsi:type="dcterms:W3CDTF">2025-06-03T10:37:48Z</dcterms:created>
  <dcterms:modified xsi:type="dcterms:W3CDTF">2026-08-13T17:37:50Z</dcterms:modified>
</cp:coreProperties>
</file>