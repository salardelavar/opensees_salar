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70" r:id="rId4"/>
    <p:sldId id="374" r:id="rId5"/>
    <p:sldId id="369" r:id="rId6"/>
    <p:sldId id="352" r:id="rId7"/>
    <p:sldId id="389" r:id="rId8"/>
    <p:sldId id="259" r:id="rId9"/>
    <p:sldId id="323" r:id="rId10"/>
    <p:sldId id="302" r:id="rId11"/>
    <p:sldId id="324" r:id="rId12"/>
    <p:sldId id="306" r:id="rId13"/>
    <p:sldId id="336" r:id="rId14"/>
    <p:sldId id="346" r:id="rId15"/>
    <p:sldId id="354" r:id="rId16"/>
    <p:sldId id="355" r:id="rId17"/>
    <p:sldId id="368" r:id="rId18"/>
    <p:sldId id="367" r:id="rId19"/>
    <p:sldId id="304" r:id="rId20"/>
    <p:sldId id="261" r:id="rId21"/>
    <p:sldId id="325" r:id="rId22"/>
    <p:sldId id="337" r:id="rId23"/>
    <p:sldId id="347" r:id="rId24"/>
    <p:sldId id="356" r:id="rId25"/>
    <p:sldId id="357" r:id="rId26"/>
    <p:sldId id="390" r:id="rId27"/>
    <p:sldId id="308" r:id="rId28"/>
    <p:sldId id="265" r:id="rId29"/>
    <p:sldId id="326" r:id="rId30"/>
    <p:sldId id="266" r:id="rId31"/>
    <p:sldId id="309" r:id="rId32"/>
    <p:sldId id="348" r:id="rId33"/>
    <p:sldId id="358" r:id="rId34"/>
    <p:sldId id="359" r:id="rId35"/>
    <p:sldId id="311" r:id="rId36"/>
    <p:sldId id="312" r:id="rId37"/>
    <p:sldId id="327" r:id="rId38"/>
    <p:sldId id="313" r:id="rId39"/>
    <p:sldId id="314" r:id="rId40"/>
    <p:sldId id="315" r:id="rId41"/>
    <p:sldId id="349" r:id="rId42"/>
    <p:sldId id="360" r:id="rId43"/>
    <p:sldId id="361" r:id="rId44"/>
    <p:sldId id="263" r:id="rId45"/>
    <p:sldId id="329" r:id="rId46"/>
    <p:sldId id="268" r:id="rId47"/>
    <p:sldId id="269" r:id="rId48"/>
    <p:sldId id="342" r:id="rId49"/>
    <p:sldId id="350" r:id="rId50"/>
    <p:sldId id="362" r:id="rId51"/>
    <p:sldId id="363" r:id="rId52"/>
    <p:sldId id="382" r:id="rId53"/>
    <p:sldId id="383" r:id="rId54"/>
    <p:sldId id="384" r:id="rId55"/>
    <p:sldId id="385" r:id="rId56"/>
    <p:sldId id="386" r:id="rId57"/>
    <p:sldId id="387" r:id="rId58"/>
    <p:sldId id="388" r:id="rId59"/>
    <p:sldId id="320" r:id="rId60"/>
    <p:sldId id="275" r:id="rId61"/>
    <p:sldId id="328" r:id="rId62"/>
    <p:sldId id="276" r:id="rId63"/>
    <p:sldId id="343" r:id="rId64"/>
    <p:sldId id="351" r:id="rId65"/>
    <p:sldId id="353" r:id="rId66"/>
    <p:sldId id="364" r:id="rId67"/>
    <p:sldId id="376" r:id="rId68"/>
    <p:sldId id="377" r:id="rId69"/>
    <p:sldId id="378" r:id="rId70"/>
    <p:sldId id="379" r:id="rId71"/>
    <p:sldId id="380" r:id="rId72"/>
    <p:sldId id="381" r:id="rId73"/>
    <p:sldId id="371" r:id="rId74"/>
    <p:sldId id="391" r:id="rId75"/>
    <p:sldId id="365" r:id="rId76"/>
    <p:sldId id="375" r:id="rId77"/>
    <p:sldId id="366" r:id="rId78"/>
    <p:sldId id="373" r:id="rId79"/>
    <p:sldId id="392" r:id="rId80"/>
    <p:sldId id="372" r:id="rId81"/>
    <p:sldId id="393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4660"/>
  </p:normalViewPr>
  <p:slideViewPr>
    <p:cSldViewPr snapToGrid="0">
      <p:cViewPr varScale="1">
        <p:scale>
          <a:sx n="67" d="100"/>
          <a:sy n="67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-1" y="412760"/>
            <a:ext cx="12192001" cy="5773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4800" b="1" dirty="0">
                <a:solidFill>
                  <a:schemeClr val="accent5"/>
                </a:solidFill>
              </a:rPr>
              <a:t>COMPREHENSIVE NONLINEAR SEISMIC ASSESSMENT OF A MULTI-DEGREE-FREEDOM ELEVATOR AND STRUCTURE SYSTEM: AN OPENSEES FRAMEWORK FOR STATIC PUSHOVER, CYCLIC DEGRADATION, STATIC TIME-HISTORY AND DYNAMIC TIME-HISTORY ANALYSIS       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</a:t>
            </a:r>
            <a:r>
              <a:rPr lang="en-US" sz="1200" b="1">
                <a:solidFill>
                  <a:schemeClr val="accent3"/>
                </a:solidFill>
              </a:rPr>
              <a:t>PROGRAM IS WRITTEN </a:t>
            </a:r>
            <a:r>
              <a:rPr lang="en-US" sz="1200" b="1" dirty="0">
                <a:solidFill>
                  <a:schemeClr val="accent3"/>
                </a:solidFill>
              </a:rPr>
              <a:t>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272FD8-79CF-6F3C-4EF5-819EEC62B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123"/>
            <a:ext cx="12192000" cy="669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27832-958A-C05F-2A21-877693E7D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90277A-B0AB-CAA9-97A9-81203CF08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361" y="0"/>
            <a:ext cx="66352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681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855D2-F11D-4DD7-D9B2-D2A4652DE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B17340-0B29-17BA-A4BC-408DA392A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75" y="0"/>
            <a:ext cx="113550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171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749" y="2806095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910" y="3865335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0226" y="2722275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7026" y="3949155"/>
            <a:ext cx="2644666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93F3BE-4908-3F2A-4E5E-1FF1DF89EE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192" y="1480275"/>
            <a:ext cx="6004834" cy="4937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0548FD-DC7B-F3CB-26E8-1B40C1761247}"/>
              </a:ext>
            </a:extLst>
          </p:cNvPr>
          <p:cNvSpPr txBox="1"/>
          <p:nvPr/>
        </p:nvSpPr>
        <p:spPr>
          <a:xfrm>
            <a:off x="4025564" y="779085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5CB9FB-7666-DBDE-A3CD-6A5946DA6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8305"/>
            <a:ext cx="12192000" cy="654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56726-4BF0-6F57-6469-E3A0E9AD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EB831D-6323-56D6-8381-33E69339B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89"/>
            <a:ext cx="12192000" cy="6558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695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90C22-AA40-AB9A-9761-537B2162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256513-C636-58EF-F80E-356523708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218"/>
            <a:ext cx="12192000" cy="663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9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6A8536-41B1-9EB0-61B7-6FC415508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675"/>
            <a:ext cx="12192000" cy="66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1993A5-320B-6B36-6D06-7ED0C0E71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CB08FE-6BEE-3C0E-8E44-5F53CD4B3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5696-57B9-1595-E925-344B167E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82CA95-C796-40F5-2F34-A6D0E2318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8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DC99-2425-4A35-D093-E249B198E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AB4917-6440-B022-1E74-0D9C85ADA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946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27706-AE6A-C56F-2A6F-573755742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C5B206-DC16-DF9F-A380-4DD091906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654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8D50B-E437-2A2F-1212-622F94B66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4180E9-BFC8-A0A0-86AB-E1DC1A6E3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075"/>
            <a:ext cx="12192000" cy="661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66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5C03C-0A81-28ED-C827-04D4E985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E24A5B-05E3-8867-DA4C-8C13861B1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960" y="396739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F236636-5982-5FEC-4061-4CBCE07BE3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747" y="5032511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44E75E-9524-1F3A-6EB0-A3F721339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960" y="1936656"/>
            <a:ext cx="2644141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FE7277-9876-D9A9-C843-C48041C3C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5435" y="3644213"/>
            <a:ext cx="2644666" cy="10058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3B9635-0BCC-D75F-B981-F8B3AF2990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899" y="0"/>
            <a:ext cx="82440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02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743074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8EA25D-14AC-618B-4249-CF6C168BC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156"/>
            <a:ext cx="12192000" cy="656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FE9AA3-F3ED-7E0A-BD4D-2E6D107B0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4CB54C-6CED-8EC0-372D-D010FE9B0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29D20-4CB6-F3FD-0D39-057F99D0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CD2B7F-FF00-F2D4-ECA0-547C88B3A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556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4782B-A32A-DA0A-1D41-49370115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CBFDF1-2BB4-D336-E380-693B37BAF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58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2E9BA-3D74-A0FE-8076-B9244850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0400D7-7AEB-E1A7-CF03-AE6ECCD67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59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B4763-6346-C324-4E26-B1CD08D41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27BA20-BBF0-2288-231E-78F6AB71A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8846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D70C49-BABC-9FD3-FF90-DB92274E3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596"/>
            <a:ext cx="12192000" cy="6578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4953C6-887F-3541-F78D-4A2845A15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1AB41C-5371-E533-E727-6A871F897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D5AFB8-A433-64E7-B8ED-486BFE2C0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9911-636D-8A77-A96F-6955F5E3D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FB5678-47D1-20FB-6AB1-39E59146A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6022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D4FA-7169-82A7-2D24-8FB47B1D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03C0B64-7F3C-DC28-9338-C80BFC900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27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949BF-7DE9-B8FE-6439-0C38D7A2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E2E9395-9991-F8EE-584A-8B12881F1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3834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E299B6-FA68-DCFF-BDFE-112E96703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171"/>
            <a:ext cx="12192000" cy="658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6094B-FC21-6EA6-3912-6A3A48CCC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797" y="936497"/>
            <a:ext cx="787440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80970A-BB99-D3C2-5EC4-60E6657254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E82A1-DB42-FD79-C9BD-8DAEB0B64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040404-A4F7-E10F-55E9-51807847E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800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2C96F-B711-87A9-6F5E-8E468382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7B5D11-C7C6-38CD-CCCD-C13B395AE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9295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6E30-6B79-9269-BEE3-E1BE4B2A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5C4764-F805-537A-B1BC-4AD41FCF4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122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7AFA-1857-4098-506E-B7C6D98F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196890-1CF1-2A1B-FDCC-31826CC4D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8467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FD32F-C164-398E-E13F-87E6E1E0D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B5C05E-341C-2600-DC91-9549C92AB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9942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556F86-291C-6149-8036-052296941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46"/>
            <a:ext cx="12192000" cy="659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21ADAB-5FCF-0C36-8287-75AD8B346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A79D-7B6D-8641-127E-91A35B4FE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3EA50C-0CB7-9BA1-358B-430EEAE1E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4323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3CF93-E546-5385-3D34-9DCB050A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43A244-B8AE-1509-7ED4-ED4E9B83B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00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9941F-53F2-A531-18B3-E49D51122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8A1EAF-3830-8F36-4620-27FB5C966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6713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08B10-90E0-2E32-FD77-02CA0595A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D2A0C6-22FE-5DDC-F7E9-09B9B13F1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578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07967-924B-69E6-8B34-877E342F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BAB6F6-4443-175D-412B-44E522CDB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3564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D5535-D0A1-6635-2FAE-3DE431373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578AE6-2051-2925-B83A-AB4644711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571" y="936497"/>
            <a:ext cx="7918857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6727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478BD-3BFC-BFC0-AE1A-D2E0AA2EC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0930B9-AAD9-CAE3-958D-A286572D7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0642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B946B-A6B9-8A39-B3D0-0FF2E346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9CF428-3547-BDB5-4C78-39F0CB6BE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170" y="936497"/>
            <a:ext cx="796966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6954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612E1-C3E7-A9B2-EB56-F3886BCFC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2CA216-D41B-C228-414E-57A621D60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9683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FA1C5-4A7F-D383-2215-E7AC17E57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6DD395-A880-AE55-9C97-9C28A98DC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339" y="936497"/>
            <a:ext cx="8217322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2165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5DD6A-E8E5-BFD3-47B9-5D8D2B518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118A9F-83B1-945D-E27D-C0A7D63BD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8116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67957-D0D8-5BD8-9645-D606E4D83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860BC3-B4B3-2EF5-0B01-68891F5BC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574" y="574350"/>
            <a:ext cx="695099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3141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EE30B5-8ED3-CB7A-417A-951607985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674"/>
            <a:ext cx="12192000" cy="660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FA42C-A453-6104-5A0F-C920D0078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8D1701-2525-73BB-4775-367FEEB16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46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BDFB-049D-3FA7-32D9-44B5AB004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957CED-2B82-DCAA-BA45-227F52A41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657"/>
            <a:ext cx="12192000" cy="505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768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63C0-B049-0039-4236-03262F0D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6BFEC-0EFB-594A-A617-268634230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1579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84B45-B65C-05BA-9183-0058E989C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8C2004-C038-11B4-95AB-A69B192A8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628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093A-B1A7-983F-CFEB-62D2B5C8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AEC4DE-9D18-27FA-BD57-EE5CD9C65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2317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11D55-5E77-23A8-19E3-43647EA1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4EB7DEF-146C-86A6-FA60-F839EA975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79565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124D3-764C-26E3-1D5C-0D3F80C9E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2600B1-8DB6-3B3A-62AF-B2D7C0858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877" y="936497"/>
            <a:ext cx="7690245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754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13ED1-5C32-F326-5B10-C1A673A7F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FFAD8A-18FD-240B-6BB3-57DB05A31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702" y="936497"/>
            <a:ext cx="7696596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0859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F5166-C4AB-F5CC-8DAA-29231EECA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6B4319-4263-5868-929C-CE52BE6AF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616" y="936497"/>
            <a:ext cx="8134768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44973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CCB0D-5F14-6B7C-8726-B00D36B3E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9E8B35-288D-75E8-14F5-CA4278E3C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0733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39A4F-7AC8-8C52-02FF-BA164694A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F198DA-23F3-FCB9-2973-51F10D670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644" y="936497"/>
            <a:ext cx="798871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2770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7D7A-39F0-C03C-6AE5-50217D8C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FFAAF2-EC08-4D26-ACCB-BFAE028D2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99243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7BB5B-8264-16DB-F79B-52CEA1EF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35297D-2194-5844-23D0-2F614CB48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77078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12FD3-BD8C-A89E-1E30-DBF373B38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9760C5-1999-7D79-14C0-D6A00F142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43706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AA78-BE7D-F1F6-9E56-FC94D0A95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601FF8-35C3-DAD7-7364-5742288CB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149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5880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4BC82-DA87-AAE1-4915-14040BE27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F532AB-94EE-D861-7AFF-27CAA5D13E0D}"/>
              </a:ext>
            </a:extLst>
          </p:cNvPr>
          <p:cNvSpPr txBox="1"/>
          <p:nvPr/>
        </p:nvSpPr>
        <p:spPr>
          <a:xfrm>
            <a:off x="0" y="2151727"/>
            <a:ext cx="12192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3"/>
                </a:solidFill>
              </a:rPr>
              <a:t>Dissipated Energy from Earthquake= 157253.54 </a:t>
            </a:r>
            <a:r>
              <a:rPr lang="en-US" sz="3200" b="1" dirty="0" err="1">
                <a:solidFill>
                  <a:schemeClr val="accent3"/>
                </a:solidFill>
              </a:rPr>
              <a:t>N·m</a:t>
            </a:r>
            <a:endParaRPr lang="en-US" sz="3200" b="1" dirty="0">
              <a:solidFill>
                <a:schemeClr val="accent3"/>
              </a:solidFill>
            </a:endParaRPr>
          </a:p>
          <a:p>
            <a:r>
              <a:rPr lang="en-US" sz="3200" b="1" dirty="0">
                <a:solidFill>
                  <a:schemeClr val="accent3"/>
                </a:solidFill>
              </a:rPr>
              <a:t>Dissipated Energy from Cyclic Displacement= 265804.64 </a:t>
            </a:r>
            <a:r>
              <a:rPr lang="en-US" sz="3200" b="1" dirty="0" err="1">
                <a:solidFill>
                  <a:schemeClr val="accent3"/>
                </a:solidFill>
              </a:rPr>
              <a:t>N·m</a:t>
            </a:r>
            <a:endParaRPr lang="en-US" sz="3200" b="1" dirty="0">
              <a:solidFill>
                <a:schemeClr val="accent3"/>
              </a:solidFill>
            </a:endParaRPr>
          </a:p>
          <a:p>
            <a:endParaRPr lang="en-US" sz="3200" b="1" dirty="0">
              <a:solidFill>
                <a:schemeClr val="accent3"/>
              </a:solidFill>
            </a:endParaRPr>
          </a:p>
          <a:p>
            <a:r>
              <a:rPr lang="en-US" sz="3200" b="1" dirty="0">
                <a:solidFill>
                  <a:schemeClr val="accent3"/>
                </a:solidFill>
              </a:rPr>
              <a:t>	</a:t>
            </a:r>
            <a:r>
              <a:rPr lang="en-US" sz="3200" b="1" dirty="0">
                <a:solidFill>
                  <a:srgbClr val="FF0000"/>
                </a:solidFill>
              </a:rPr>
              <a:t>DISSIPATED ENERGY CAPACITY INDEX: 59.161 [%]</a:t>
            </a:r>
          </a:p>
          <a:p>
            <a:r>
              <a:rPr lang="en-US" sz="3200" b="1" dirty="0">
                <a:solidFill>
                  <a:srgbClr val="FF0000"/>
                </a:solidFill>
              </a:rPr>
              <a:t>	ZONE 6: SEVERE–LOW DAMAGE</a:t>
            </a:r>
          </a:p>
        </p:txBody>
      </p:sp>
    </p:spTree>
    <p:extLst>
      <p:ext uri="{BB962C8B-B14F-4D97-AF65-F5344CB8AC3E}">
        <p14:creationId xmlns:p14="http://schemas.microsoft.com/office/powerpoint/2010/main" val="5429546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64E96-CC8E-BD2D-1C34-EDA5F61EB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7A8775-BFCA-6DCD-441F-09D4B07B7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882" y="234786"/>
            <a:ext cx="9430235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22738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3E09A-F4BD-E995-6A8A-0E042B345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29ACD4-2062-032A-3D89-10367B10B8AF}"/>
              </a:ext>
            </a:extLst>
          </p:cNvPr>
          <p:cNvSpPr txBox="1"/>
          <p:nvPr/>
        </p:nvSpPr>
        <p:spPr>
          <a:xfrm>
            <a:off x="3167297" y="305068"/>
            <a:ext cx="7529513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[4.34404346e-02 8.49921547e+04]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[3.60000000e-01 9.85790074e+04]]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1956521.74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273830.58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42920.37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8.29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1.16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2000" b="1" dirty="0">
                <a:solidFill>
                  <a:schemeClr val="accent3"/>
                </a:solidFill>
              </a:rPr>
              <a:t>Ω0):      1.1599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2000" b="1" dirty="0">
                <a:solidFill>
                  <a:schemeClr val="accent3"/>
                </a:solidFill>
              </a:rPr>
              <a:t>μ):    8.2872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Ductility Coefficient (R</a:t>
            </a:r>
            <a:r>
              <a:rPr lang="el-GR" sz="2000" b="1" dirty="0">
                <a:solidFill>
                  <a:schemeClr val="accent3"/>
                </a:solidFill>
              </a:rPr>
              <a:t>μ):          8.2872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Behavior Coefficient (R): 9.6120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Ductility Damage Index in X Direction: 104.1352 (%)</a:t>
            </a:r>
          </a:p>
        </p:txBody>
      </p:sp>
    </p:spTree>
    <p:extLst>
      <p:ext uri="{BB962C8B-B14F-4D97-AF65-F5344CB8AC3E}">
        <p14:creationId xmlns:p14="http://schemas.microsoft.com/office/powerpoint/2010/main" val="6001170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8AF5F-0619-1389-32C7-BA77002C7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4A48F7-BE6D-2CF4-8876-2FB9B427C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707" y="733286"/>
            <a:ext cx="943658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95942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86E7A-61E3-76B7-59D2-CA6267673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7AE8BE-0078-3CEF-0C6B-A61CA2EC9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37" y="733286"/>
            <a:ext cx="923972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2206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6BB94-5B95-A7C7-5F7E-AF2134DA5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4AB9C1D-3982-7A24-4E68-9DA70E339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417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245</Words>
  <Application>Microsoft Office PowerPoint</Application>
  <PresentationFormat>Widescreen</PresentationFormat>
  <Paragraphs>39</Paragraphs>
  <Slides>81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176</cp:revision>
  <cp:lastPrinted>2026-03-23T10:01:33Z</cp:lastPrinted>
  <dcterms:created xsi:type="dcterms:W3CDTF">2025-06-03T10:37:48Z</dcterms:created>
  <dcterms:modified xsi:type="dcterms:W3CDTF">2026-08-24T08:51:20Z</dcterms:modified>
</cp:coreProperties>
</file>