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359" r:id="rId4"/>
    <p:sldId id="361" r:id="rId5"/>
    <p:sldId id="322" r:id="rId6"/>
    <p:sldId id="366" r:id="rId7"/>
    <p:sldId id="407" r:id="rId8"/>
    <p:sldId id="408" r:id="rId9"/>
    <p:sldId id="409" r:id="rId10"/>
    <p:sldId id="410" r:id="rId11"/>
    <p:sldId id="259" r:id="rId12"/>
    <p:sldId id="405" r:id="rId13"/>
    <p:sldId id="303" r:id="rId14"/>
    <p:sldId id="302" r:id="rId15"/>
    <p:sldId id="347" r:id="rId16"/>
    <p:sldId id="363" r:id="rId17"/>
    <p:sldId id="324" r:id="rId18"/>
    <p:sldId id="306" r:id="rId19"/>
    <p:sldId id="397" r:id="rId20"/>
    <p:sldId id="398" r:id="rId21"/>
    <p:sldId id="336" r:id="rId22"/>
    <p:sldId id="304" r:id="rId23"/>
    <p:sldId id="261" r:id="rId24"/>
    <p:sldId id="325" r:id="rId25"/>
    <p:sldId id="337" r:id="rId26"/>
    <p:sldId id="343" r:id="rId27"/>
    <p:sldId id="399" r:id="rId28"/>
    <p:sldId id="400" r:id="rId29"/>
    <p:sldId id="413" r:id="rId30"/>
    <p:sldId id="307" r:id="rId31"/>
    <p:sldId id="308" r:id="rId32"/>
    <p:sldId id="265" r:id="rId33"/>
    <p:sldId id="326" r:id="rId34"/>
    <p:sldId id="266" r:id="rId35"/>
    <p:sldId id="309" r:id="rId36"/>
    <p:sldId id="310" r:id="rId37"/>
    <p:sldId id="349" r:id="rId38"/>
    <p:sldId id="311" r:id="rId39"/>
    <p:sldId id="312" r:id="rId40"/>
    <p:sldId id="327" r:id="rId41"/>
    <p:sldId id="313" r:id="rId42"/>
    <p:sldId id="369" r:id="rId43"/>
    <p:sldId id="370" r:id="rId44"/>
    <p:sldId id="371" r:id="rId45"/>
    <p:sldId id="372" r:id="rId46"/>
    <p:sldId id="373" r:id="rId47"/>
    <p:sldId id="374" r:id="rId48"/>
    <p:sldId id="375" r:id="rId49"/>
    <p:sldId id="376" r:id="rId50"/>
    <p:sldId id="377" r:id="rId51"/>
    <p:sldId id="414" r:id="rId52"/>
    <p:sldId id="355" r:id="rId53"/>
    <p:sldId id="263" r:id="rId54"/>
    <p:sldId id="268" r:id="rId55"/>
    <p:sldId id="329" r:id="rId56"/>
    <p:sldId id="378" r:id="rId57"/>
    <p:sldId id="379" r:id="rId58"/>
    <p:sldId id="380" r:id="rId59"/>
    <p:sldId id="381" r:id="rId60"/>
    <p:sldId id="382" r:id="rId61"/>
    <p:sldId id="393" r:id="rId62"/>
    <p:sldId id="383" r:id="rId63"/>
    <p:sldId id="384" r:id="rId64"/>
    <p:sldId id="403" r:id="rId65"/>
    <p:sldId id="404" r:id="rId66"/>
    <p:sldId id="415" r:id="rId67"/>
    <p:sldId id="352" r:id="rId68"/>
    <p:sldId id="320" r:id="rId69"/>
    <p:sldId id="275" r:id="rId70"/>
    <p:sldId id="385" r:id="rId71"/>
    <p:sldId id="386" r:id="rId72"/>
    <p:sldId id="387" r:id="rId73"/>
    <p:sldId id="388" r:id="rId74"/>
    <p:sldId id="389" r:id="rId75"/>
    <p:sldId id="390" r:id="rId76"/>
    <p:sldId id="391" r:id="rId77"/>
    <p:sldId id="392" r:id="rId78"/>
    <p:sldId id="367" r:id="rId79"/>
    <p:sldId id="401" r:id="rId80"/>
    <p:sldId id="402" r:id="rId81"/>
    <p:sldId id="416" r:id="rId82"/>
    <p:sldId id="354" r:id="rId83"/>
    <p:sldId id="365" r:id="rId84"/>
    <p:sldId id="406" r:id="rId85"/>
    <p:sldId id="394" r:id="rId86"/>
    <p:sldId id="395" r:id="rId87"/>
    <p:sldId id="412" r:id="rId8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viewProps" Target="viewProp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6F19-96B3-4F13-35FC-4C10EA15B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54475-7BA8-25EF-1CFC-6CD765732E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133B1-CFEB-D001-3747-C35328F26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554BF-FEFC-F4F4-7D7B-7920E7FFF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D913-BD93-93CE-A775-2003F45ED5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77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8E314-D5C2-3D8B-66C5-8C04C8EEF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A1D6D-0944-FD5C-61EE-88C56D0CCC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2E38C9-F2E3-E438-888A-79911E678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DD91B-B219-07DC-D0F4-997D63E8D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C8B21-6104-B689-B956-BFEBA0CB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48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BEA3-A996-90BC-61CF-A9E8C7053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DE84B-6C6E-0F03-B7CA-AE7251441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907A1-2B55-F570-8543-AF3F1A187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EDF31-B49C-528A-C664-A49658765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BBE76D-A87B-DA18-8479-B8301D683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2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A1208-B198-1F22-B7DA-898B8513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100EE-A9D5-8996-3B8D-D5C2FD4310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34A0BA-F482-8A2F-69DA-93924ACCF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E56A1-FDF7-04A0-ED99-D5834334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35502C-B44E-3200-D036-AD1124B44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E585DB-3C44-B39A-644C-3F6EAB789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936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ECB78-B4D2-F23F-64BD-C802FC0BD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F1A3BD-9AE3-6221-8F14-D02D3448B5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B2E2D9-E913-3697-2AE1-5DA127417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5C9B34-F075-3C3C-A7E8-D635F590E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2D6DC1-8965-9603-46B6-9AD98D085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EFDEA5-35A1-A318-5266-2834BAF35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C9092-5D9A-9E11-005C-C6A1BE621C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3F392C-5BDE-B1D7-2EA9-B7A047553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36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EF55C-4097-72FF-48B2-B56474D34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E83B87-B7B5-54F9-A06C-271130C3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0681D4-63E7-2F19-7B22-EBFB4BC8C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87F270-B9A2-DE4C-B46D-F62DCDA0A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896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3D5D6D-2585-E7FC-FB39-DE3E61D7B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BE21F8-D01F-C069-E9A3-8E305BA63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E1E19-44C5-A381-C1F6-8A7150F49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34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6C389-B78C-B2CD-2C77-60FB75B9D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CDF69-B172-3093-9B71-21E9EF817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3A7C3-F528-1D0F-A50E-EA44F42D9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F68BD8-8500-71ED-EA5A-CC6BE90C6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146E5-BC7F-015F-BA30-09404FF7D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F7EF81-5823-6FEC-027F-0837843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2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2397-66BF-38D3-5200-5C1170407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69C5F01-F6D3-C44A-367D-63103EE249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D08A42-B9F7-32DA-F543-E07609EA2F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226F43-E67A-6BB5-E035-3630FA185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3D92E-BB12-D139-35FC-5C5AA677C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03186E-8782-AB5D-90E2-4B86C77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34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DC78A-1446-3920-67C0-32803C7E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50D9E-F838-CDDF-A73E-301B576CB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394C8-E136-DF00-DB32-89EDD4605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BF00D-D0FC-834E-D935-77CA41FAF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8F43A-949B-DD39-6782-1C9DC5B7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884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37D68F-F8E6-E1B4-9A2E-6296A75244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AD167E-7F88-0DED-889D-64070DEA4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CB663-5F1A-C8B2-DAB0-6695A93DF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9037D-75E8-A82D-0717-D1D16F11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41895C-947D-DEE2-731B-86239A3CC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59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CE371A-ED9B-F859-8DFE-E88B2FA96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FF3AD-6AF8-0FEC-35CB-99ED597C3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356C9-0DD8-62A7-8D4B-61CCC3AFE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38DA24-7C00-4CB3-BA06-557152E755C0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8E712-AE42-63F8-BAB5-1739C56497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6EA66-660E-1F2A-60C0-D4CA0AEB6F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81B2A8-BA6C-448F-B567-8D86E5189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43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58B20A0-BB54-8C05-4883-84DD448D638B}"/>
              </a:ext>
            </a:extLst>
          </p:cNvPr>
          <p:cNvSpPr txBox="1"/>
          <p:nvPr/>
        </p:nvSpPr>
        <p:spPr>
          <a:xfrm>
            <a:off x="152400" y="258901"/>
            <a:ext cx="118872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5400" b="1" dirty="0">
                <a:solidFill>
                  <a:schemeClr val="accent5"/>
                </a:solidFill>
              </a:rPr>
              <a:t>COMPREHENSIVE NONLINEAR SEISMIC ASSESSMENT OF A COMPOSITE SECTION FRAME: AN OPENSEES FRAMEWORK FOR STATIC PUSHOVER, CYCLIC DEGRADATION, STATIC TIME-HISTORY AND DYNAMIC TIME-HISTORY ANALYSIS        </a:t>
            </a:r>
          </a:p>
          <a:p>
            <a:pPr algn="ctr"/>
            <a:r>
              <a:rPr lang="en-US" sz="1200" b="1" dirty="0">
                <a:solidFill>
                  <a:schemeClr val="accent3"/>
                </a:solidFill>
              </a:rPr>
              <a:t>THIS PROGRAM IS WRITTEN BY SALAR DELAVAR GHASHGHAEI (QASHQAI)</a:t>
            </a:r>
          </a:p>
        </p:txBody>
      </p:sp>
    </p:spTree>
    <p:extLst>
      <p:ext uri="{BB962C8B-B14F-4D97-AF65-F5344CB8AC3E}">
        <p14:creationId xmlns:p14="http://schemas.microsoft.com/office/powerpoint/2010/main" val="2561539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0759B-40F4-A8DE-D64C-E72E1EEE8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AB8954-3108-711B-D28D-58AE5E4B8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54" y="0"/>
            <a:ext cx="10374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771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F201CC-07C3-96E9-9332-823192CCC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8666D-A245-B1D8-82AA-EFF33435C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882" y="0"/>
            <a:ext cx="64002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727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B7527-CBB2-56E1-DB66-1328CA218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3C183-77DD-D23A-60BE-1BA56B430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9064"/>
            <a:ext cx="12192000" cy="2599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607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6EEF4-8787-065C-13DE-5F327E105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3B28E4-2BBD-128A-C70F-3FBBFF4D9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6538"/>
            <a:ext cx="12192000" cy="6564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35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6C46-D9A3-E199-5A66-9BA4116A9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0F143BC-B169-2AB9-61B4-959D7C62F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777238"/>
            <a:ext cx="5290128" cy="530352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22CFFA4-1A9E-7FB3-B55E-77B57E4D6A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68" y="763789"/>
            <a:ext cx="5245277" cy="5212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CE3AA84-FC59-F0E5-0C5C-9852EF659150}"/>
              </a:ext>
            </a:extLst>
          </p:cNvPr>
          <p:cNvSpPr txBox="1"/>
          <p:nvPr/>
        </p:nvSpPr>
        <p:spPr>
          <a:xfrm>
            <a:off x="510988" y="295835"/>
            <a:ext cx="558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COMPOSITE_CONCRETE_SECTION_FUN_EXTRA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945078-856E-063B-790C-B2FECE65A68C}"/>
              </a:ext>
            </a:extLst>
          </p:cNvPr>
          <p:cNvSpPr txBox="1"/>
          <p:nvPr/>
        </p:nvSpPr>
        <p:spPr>
          <a:xfrm>
            <a:off x="6203576" y="6136349"/>
            <a:ext cx="558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COMPOSITE_REC_I_SECTION_FUN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183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605BB-3662-FE47-EF14-C9FB36EB0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105226-B5B7-5136-F156-812992258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795" y="0"/>
            <a:ext cx="677841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670C81-A388-0721-3ADB-6148994AD83C}"/>
              </a:ext>
            </a:extLst>
          </p:cNvPr>
          <p:cNvSpPr txBox="1"/>
          <p:nvPr/>
        </p:nvSpPr>
        <p:spPr>
          <a:xfrm>
            <a:off x="1228164" y="448244"/>
            <a:ext cx="861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COMPOSITE_CIRCULAR_CONFINED_CONCRETE_SECTION_FUN_EXTRA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43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B7AC5-06BD-7BEC-1C6B-3601B716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32961D-0C38-35CD-118B-AD0AB9D1D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328"/>
            <a:ext cx="12192000" cy="53793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1F169C-1F71-B5D6-23D7-C21E77478FCB}"/>
              </a:ext>
            </a:extLst>
          </p:cNvPr>
          <p:cNvSpPr txBox="1"/>
          <p:nvPr/>
        </p:nvSpPr>
        <p:spPr>
          <a:xfrm>
            <a:off x="1228164" y="448244"/>
            <a:ext cx="861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</a:rPr>
              <a:t>COMPOSITE_FRP_CIRCULAR_CONFINED_CONCRETE_SECTION_FUN_EXTRA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847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CA294-8700-3D92-E15E-EC68D59475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EC4C16-FEAF-C697-5E62-CFDBF2309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913" y="0"/>
            <a:ext cx="81181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DB83DA-74A7-EC55-0242-6245115539B5}"/>
              </a:ext>
            </a:extLst>
          </p:cNvPr>
          <p:cNvSpPr txBox="1"/>
          <p:nvPr/>
        </p:nvSpPr>
        <p:spPr>
          <a:xfrm>
            <a:off x="1335741" y="703739"/>
            <a:ext cx="861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COMPOSITE_SECTION_DIFF_WIDTH_HEIGHT_FUN_EXTRA_TWO</a:t>
            </a:r>
          </a:p>
        </p:txBody>
      </p:sp>
    </p:spTree>
    <p:extLst>
      <p:ext uri="{BB962C8B-B14F-4D97-AF65-F5344CB8AC3E}">
        <p14:creationId xmlns:p14="http://schemas.microsoft.com/office/powerpoint/2010/main" val="29984177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50E12-236E-06FE-D4CC-5A42F63B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F92D5F-4E35-8CB3-F711-421E2C8759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913" y="0"/>
            <a:ext cx="8118174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009B5D-BA20-F663-9126-12E9ACEB2D04}"/>
              </a:ext>
            </a:extLst>
          </p:cNvPr>
          <p:cNvSpPr txBox="1"/>
          <p:nvPr/>
        </p:nvSpPr>
        <p:spPr>
          <a:xfrm>
            <a:off x="1335741" y="703739"/>
            <a:ext cx="8615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COMPOSITE_FRP_SECTION_DIFF_WIDTH_HEIGHT_FUN_EXTRA</a:t>
            </a:r>
          </a:p>
        </p:txBody>
      </p:sp>
    </p:spTree>
    <p:extLst>
      <p:ext uri="{BB962C8B-B14F-4D97-AF65-F5344CB8AC3E}">
        <p14:creationId xmlns:p14="http://schemas.microsoft.com/office/powerpoint/2010/main" val="101219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F8AF4-F71D-1920-08A4-7FFFAC020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72B964-3094-74F1-711C-527BD9CB5E8E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ANALYSIS</a:t>
            </a:r>
          </a:p>
        </p:txBody>
      </p:sp>
    </p:spTree>
    <p:extLst>
      <p:ext uri="{BB962C8B-B14F-4D97-AF65-F5344CB8AC3E}">
        <p14:creationId xmlns:p14="http://schemas.microsoft.com/office/powerpoint/2010/main" val="10683257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175DE-ED01-D0E8-7CBA-E42406957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FEE14-9B91-D67D-758A-95C7A6EAF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784"/>
            <a:ext cx="12192000" cy="6570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1699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117B-CD12-A128-A9F4-EBB15AF4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4531A2-CA3B-77D2-DE16-E3A1E614F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35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D3619-7286-F4EC-EE51-7221FC922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5A9AE0-54D8-DDD3-2CB5-62CDD961B7A7}"/>
              </a:ext>
            </a:extLst>
          </p:cNvPr>
          <p:cNvSpPr txBox="1"/>
          <p:nvPr/>
        </p:nvSpPr>
        <p:spPr>
          <a:xfrm>
            <a:off x="1943100" y="2902506"/>
            <a:ext cx="8943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PUSHOVER ANALYSIS</a:t>
            </a:r>
          </a:p>
        </p:txBody>
      </p:sp>
    </p:spTree>
    <p:extLst>
      <p:ext uri="{BB962C8B-B14F-4D97-AF65-F5344CB8AC3E}">
        <p14:creationId xmlns:p14="http://schemas.microsoft.com/office/powerpoint/2010/main" val="90624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2FC25-A885-4A53-CFD4-E86ADE3DE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290F21-E3EE-D305-BF3E-E7FFDE7A8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6891"/>
            <a:ext cx="12192000" cy="658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940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209A-94F7-BBEC-8821-26F1DF0F3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E0F979-81E6-E6BA-BAE3-80811D137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8764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CE365-FCCC-FF67-C4EE-3B976A78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8FEDC-2CCD-EC73-7D02-9A39A84F4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4093" y="234786"/>
            <a:ext cx="902381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86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598A-E1FD-6CB3-81ED-DEDA30E99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E9FAC-B63F-E9A9-004D-DC1D5E6C12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130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9A6EE-DD93-D469-36F5-8AAB82B2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5488C38-93DD-8633-91F8-2256C3D1BA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211" y="234786"/>
            <a:ext cx="93095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8974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102E6-5348-A7A8-ECF2-925ACD82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F58421-BF5A-E065-7AB8-DE0302C92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6364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D373D-9C8C-5B94-1A02-E3E3C00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C63420-94DB-B46F-9F42-5EB0B2CBA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412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126642-CFC3-3863-C174-585452CCD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CE8190-0CAD-1F63-AA6A-3E9111BF0796}"/>
              </a:ext>
            </a:extLst>
          </p:cNvPr>
          <p:cNvSpPr txBox="1"/>
          <p:nvPr/>
        </p:nvSpPr>
        <p:spPr>
          <a:xfrm>
            <a:off x="1843087" y="2459504"/>
            <a:ext cx="894397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CYCLIC DISPLACEMENT ANALYSIS</a:t>
            </a:r>
          </a:p>
        </p:txBody>
      </p:sp>
    </p:spTree>
    <p:extLst>
      <p:ext uri="{BB962C8B-B14F-4D97-AF65-F5344CB8AC3E}">
        <p14:creationId xmlns:p14="http://schemas.microsoft.com/office/powerpoint/2010/main" val="6866364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0A545-5A10-9F1B-45A2-F44A2616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CE9E50A-2DD9-3EE9-4E1B-0F909C51B0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3736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FB424-8A93-DAB4-EA03-8FA2907B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813FF3-3118-9069-74EC-CDA10B375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787" y="234786"/>
            <a:ext cx="925242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2785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ED8F3-9803-93BD-8AD1-72F549BE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A2A4FA-028D-FE68-7ECE-0B6054A38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2816" y="234786"/>
            <a:ext cx="910636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802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55E38-14DA-6251-7C25-D44144284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D3D63C-0C8A-7E5E-A0AD-FEC52074C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561" y="234786"/>
            <a:ext cx="9296878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9464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BCD89-6771-778B-CE05-B8FAC3B8F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A1D26-F753-6AD4-A060-F110B3646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748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5E5DF-67E1-3B19-7066-89353563F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28D28-C80D-36A2-0EC6-A0FBB7B04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2635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A439C-2FE4-F8DD-C847-F0457EB18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D69A97B-D787-EC68-C768-1DDF243E69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5400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A9F5F-3F08-460B-95CE-E74CA5BD5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70DACE-2700-CCDB-C54C-E7FF2330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7195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D3F20-B8F0-61CD-7105-05376A6A1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C8AE3F-60FB-913F-ADE8-ADED74306ACB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STATIC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37179889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825BD7-E78D-605C-1FC7-03F79B040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37990B-8E2D-2D76-E1FF-99259F682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7502"/>
            <a:ext cx="12192000" cy="6502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636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D9EB2-C6F0-F914-10C6-156783722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FC584-13AB-6839-56E2-D66086A9E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665" y="685800"/>
            <a:ext cx="8848131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24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808B4-C346-204E-0B48-325AC4B77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43D06C-4DC4-F3C8-E4BA-5FA72689F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182" y="234786"/>
            <a:ext cx="9455636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3344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6F178-E24E-09B7-2171-2646FA404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97B293-67CD-3942-E290-62BDC472B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47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3EC418-E5BC-8617-2C8C-83DB5D0FA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7CAAE3-4E23-BE5B-DB38-069B2BE6AF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109" y="234786"/>
            <a:ext cx="938578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9463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C4A2F-1835-D9F2-F83F-C0B1C5EA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7F1371-FF3D-D8C8-32DA-3F3E68287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3518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209FD-35F5-599A-B427-EC8AD8777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F7AE19-CDDA-1A77-970E-F2F26F7C4C2A}"/>
              </a:ext>
            </a:extLst>
          </p:cNvPr>
          <p:cNvSpPr txBox="1"/>
          <p:nvPr/>
        </p:nvSpPr>
        <p:spPr>
          <a:xfrm>
            <a:off x="452437" y="1997839"/>
            <a:ext cx="1128712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DYNAMIC TIME-HISTORY WITH EXTERNAL TIME-DEPENDENT LOADING ANALYSIS</a:t>
            </a:r>
          </a:p>
        </p:txBody>
      </p:sp>
    </p:spTree>
    <p:extLst>
      <p:ext uri="{BB962C8B-B14F-4D97-AF65-F5344CB8AC3E}">
        <p14:creationId xmlns:p14="http://schemas.microsoft.com/office/powerpoint/2010/main" val="27379884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E973F-8B3E-8A16-ACAA-110E58B18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50D9AC4-8ADB-C660-DFA3-9779E9B2A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3765"/>
            <a:ext cx="12192000" cy="6530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79112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1CC92-E997-32E8-E0AA-FE03B2D2B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08BEF7-8146-135A-B482-2CE76B797B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590" y="228600"/>
            <a:ext cx="1032281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747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13723-ED21-A546-332D-5526EF294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9E80D3-8B68-44C6-5801-F7F7150F35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4972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7A919-EF15-C5EE-5000-BC23EB6B5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8923443-4A0E-A776-FCFF-E16C9B3B4A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12798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FDDC0-F847-7D2D-A6E2-F51181F37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291A73-C07D-47DF-A603-6C88DB570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6137" y="733286"/>
            <a:ext cx="923972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8642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898B5-74D8-2455-BA05-774F38BB3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50F5B4-693A-8199-744B-803716E7E8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312" y="733286"/>
            <a:ext cx="923337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9779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64CE-62F1-E6AA-C8CC-CE2C2E9F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7FDE3-8F98-3AE2-70DF-A8FD27CB0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516" y="733286"/>
            <a:ext cx="9080967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63316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3A232-BC68-AD6F-858C-631FEFECA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435C3C-2CF8-F80C-853D-FCC5CCF3E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733286"/>
            <a:ext cx="9334980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60304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28A3C-C600-AA24-0DFA-C2D537FA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CF246D-3C1D-C1EC-F65B-73035D32A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733286"/>
            <a:ext cx="93667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23152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728A6-9093-2289-F967-968867E3A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6F647E-D055-3054-3522-C2801F9558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634" y="733286"/>
            <a:ext cx="9366731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3883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5D00-4E1A-47A1-FD3E-EBC3E9DA8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26C2E1-E09F-1C03-84A5-9F6CB24756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534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F377-3152-F0FE-A796-46AAA173C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C0363-0C56-F00F-CE54-1D802E1F8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6674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FA24E-364C-CB39-457F-3B711CAA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88DA2B2-EF13-DE47-B247-D7E47B0FF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18" y="733286"/>
            <a:ext cx="708696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8038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C4B7A-797E-BF07-CABD-A0AA7D361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579686-A5C2-31C8-DCCC-20097F853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84713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4D0C3-33BC-8AC0-7546-EC996A27D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C8780A-4FC2-F497-BE34-B2C16E7CF8E0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FREE-VIBRATION ANALYSIS</a:t>
            </a:r>
          </a:p>
        </p:txBody>
      </p:sp>
    </p:spTree>
    <p:extLst>
      <p:ext uri="{BB962C8B-B14F-4D97-AF65-F5344CB8AC3E}">
        <p14:creationId xmlns:p14="http://schemas.microsoft.com/office/powerpoint/2010/main" val="342524307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F80FA-5CC6-10B0-6A40-DC8DB514D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98CB0F-F0B2-3157-6DB8-F55971F57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849"/>
            <a:ext cx="12192000" cy="6566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4403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E1CAC-4795-E846-F7DF-A53A4F370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A8A2A9-D396-7CB3-980A-FF6E1C0A8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196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EE58E-3273-08E8-0B9D-87C190154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2405190-0FEC-E913-53AD-CC28E18502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605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832F3-A5D9-1440-14C8-A59582141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3D75B2-38E7-4CEF-C154-B374D7E2E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8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72714-148C-9769-163C-BF2FD25B8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3BCE38-3065-2939-24E1-74AD6DEE9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15959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4D7D2-2E1A-9976-70AD-44C1D2373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267826-79FF-4B67-DD2B-03FB19C2F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145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B118C-6283-1573-6AAF-9C87A8905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0456702-C4AB-3E74-5366-D96A04F72C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99120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2B5A9-81B8-05B8-4AA9-79C24246D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D4AF4BC-E8AF-5F96-9C8F-69DCEF2C2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7244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FA8BF3-26BC-7339-222A-EA2265B28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152BD-3AF7-96C8-1C6D-2D9BAEAB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127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BABA5-8E1E-F24A-EDEB-38FF0CBB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F4D88A-F2EE-A771-E3AC-3C8995AFA7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838" y="234786"/>
            <a:ext cx="9214324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5864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4D331-83FB-860D-285F-F0B3156DE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AFB05-D9DF-8B65-CC03-DA5592032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8471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92312-E78F-AD49-7630-AB598143A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6024D-E998-D2BA-4AC1-D5DC42AE12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57384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4DFEF-BB39-4FD9-B911-DAB4D5BCE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AF8DB71-CBE9-3F47-0F56-3F4B07F119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14504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FE813-A871-6CD2-6137-A380D1E2B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DCB0A9-0D8A-3ABE-EB48-1A54BE38C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6071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A6411-5370-8D0E-D82B-643AFEAC4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2FD87F-FA27-4F3D-9880-2DB81CE0CF95}"/>
              </a:ext>
            </a:extLst>
          </p:cNvPr>
          <p:cNvSpPr txBox="1"/>
          <p:nvPr/>
        </p:nvSpPr>
        <p:spPr>
          <a:xfrm>
            <a:off x="885826" y="2902506"/>
            <a:ext cx="1000125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accent5"/>
                </a:solidFill>
              </a:rPr>
              <a:t>SEISMIC ANALYSIS</a:t>
            </a:r>
          </a:p>
        </p:txBody>
      </p:sp>
    </p:spTree>
    <p:extLst>
      <p:ext uri="{BB962C8B-B14F-4D97-AF65-F5344CB8AC3E}">
        <p14:creationId xmlns:p14="http://schemas.microsoft.com/office/powerpoint/2010/main" val="18149869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CDBA9-C54B-300B-2CD4-0907A367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4B337F-1A8F-6E70-0C16-EC7CD3D73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882"/>
            <a:ext cx="12192000" cy="6544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88525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55E9D-082D-1A20-761B-AFD0B9F32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D74E3FF-A33A-BCB9-0A16-B49D6B8FC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6905" y="234786"/>
            <a:ext cx="953819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818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9C0E8-0E48-8507-FB16-B76E3D7AD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789759C-44BB-967A-58B4-29CCA2860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243" y="0"/>
            <a:ext cx="858751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57592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C5F38-DF22-8D52-0847-FCE3EF268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0C3BDB-55F1-16DF-E495-1F744A4A7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668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ACDE-1C1F-247D-A63E-B928DEBCE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291EB2-5CD9-3D88-AB29-F12A645AB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474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74FB8-FC05-4AB6-DCCA-065728E4E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6417A6-ACF2-DD84-2754-55D3893C54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0690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59C3D-8C96-D7E7-8ABF-009755CC3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CEBCD5-20F2-88E8-7DC7-179CD6814F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749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A29A6-5196-0E1D-6A58-9FEB143BF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7A9D1B-8231-7F36-3755-3086D0260D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733286"/>
            <a:ext cx="9049215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63692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5A1D8-C51A-F995-7F70-38197C2D7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A8B9FFC-FE00-1EFF-8960-29A2E7FDF1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059170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1EE2-2312-94DE-4357-DBC250131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B7301A-4113-3906-2FFB-A62AB0281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15" y="234786"/>
            <a:ext cx="9131769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64667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93C65-09CF-FDA2-33AD-11AADB0D3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E0CC00-265C-0AAF-3181-36AFBBCDD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510" y="234786"/>
            <a:ext cx="933498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7313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AFF56-61D9-78F6-F6A0-FAE4675C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F249D3-0B31-34F4-9F90-0D0ABDB97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539" y="234786"/>
            <a:ext cx="9188922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8161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7A4ED-5A12-863F-BFC0-6FCF9BAC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9B381C-2FE9-B7DB-D829-EF57B28AF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52776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E5E8-41D4-E413-1FC2-3B9FA321E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6F7D254-EC1C-8B9A-F2F9-CD342FC84F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562" y="0"/>
            <a:ext cx="85208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09466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DFFD-5445-8310-7B79-4A6352143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BE8EAD-D85C-AFEA-51C4-276F1EF87C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765" y="234786"/>
            <a:ext cx="9144470" cy="6388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726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7D23A-28BF-56F5-938A-8B5DD436E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9E5607-CADA-8F38-B6C8-EAC5FDB049EF}"/>
              </a:ext>
            </a:extLst>
          </p:cNvPr>
          <p:cNvSpPr txBox="1"/>
          <p:nvPr/>
        </p:nvSpPr>
        <p:spPr>
          <a:xfrm>
            <a:off x="2017059" y="305068"/>
            <a:ext cx="874027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=   Analysis curve fitted =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    </a:t>
            </a:r>
            <a:r>
              <a:rPr lang="en-US" sz="2000" b="1" dirty="0" err="1">
                <a:solidFill>
                  <a:schemeClr val="accent3"/>
                </a:solidFill>
              </a:rPr>
              <a:t>Disp</a:t>
            </a:r>
            <a:r>
              <a:rPr lang="en-US" sz="2000" b="1" dirty="0">
                <a:solidFill>
                  <a:schemeClr val="accent3"/>
                </a:solidFill>
              </a:rPr>
              <a:t>        Base Shear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----------------------------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[[0.00000000e+00 0.00000000e+00]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[1.23570961e+01 1.04798136e+06]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[3.50000000e+01 1.14617861e+06]]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+==========================+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Elastic Stiffness :     84808.06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Plastic Stiffness :     32747.96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Tangent Stiffness :     4336.78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Ductility Ratio :       2.83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 Structure Over Strength Factor:   1.09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+----------------------------------------------------+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Over Strength Coefficient (</a:t>
            </a:r>
            <a:r>
              <a:rPr lang="el-GR" sz="2000" b="1" dirty="0">
                <a:solidFill>
                  <a:schemeClr val="accent3"/>
                </a:solidFill>
              </a:rPr>
              <a:t>Ω0):      1.0937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Displacement Ductility Ratio (</a:t>
            </a:r>
            <a:r>
              <a:rPr lang="el-GR" sz="2000" b="1" dirty="0">
                <a:solidFill>
                  <a:schemeClr val="accent3"/>
                </a:solidFill>
              </a:rPr>
              <a:t>μ):    2.8324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Ductility Coefficient (R</a:t>
            </a:r>
            <a:r>
              <a:rPr lang="el-GR" sz="2000" b="1" dirty="0">
                <a:solidFill>
                  <a:schemeClr val="accent3"/>
                </a:solidFill>
              </a:rPr>
              <a:t>μ):          2.8324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Behavior Coefficient (R): 3.0978</a:t>
            </a:r>
          </a:p>
          <a:p>
            <a:r>
              <a:rPr lang="en-US" sz="2000" b="1" dirty="0">
                <a:solidFill>
                  <a:schemeClr val="accent3"/>
                </a:solidFill>
              </a:rPr>
              <a:t>Structural Ductility Damage Index in X Direction: -53.2265 (%)</a:t>
            </a:r>
          </a:p>
        </p:txBody>
      </p:sp>
    </p:spTree>
    <p:extLst>
      <p:ext uri="{BB962C8B-B14F-4D97-AF65-F5344CB8AC3E}">
        <p14:creationId xmlns:p14="http://schemas.microsoft.com/office/powerpoint/2010/main" val="195619179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90761-4A99-A6AE-0C5C-D77B512BC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4E317DE-9813-AB87-FDA4-DC711D7DC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76642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6BD6ED-B640-DCDB-4AAE-F8890AE04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D6F9F4-DD8A-DAB2-2043-E45693EF1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063" y="733286"/>
            <a:ext cx="6305874" cy="5391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9836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E7470-A2D0-3154-D95A-49459ECF4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D5CA57-634C-0591-F340-5DB0ECEAE5DC}"/>
              </a:ext>
            </a:extLst>
          </p:cNvPr>
          <p:cNvSpPr txBox="1"/>
          <p:nvPr/>
        </p:nvSpPr>
        <p:spPr>
          <a:xfrm>
            <a:off x="0" y="2305615"/>
            <a:ext cx="1219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3"/>
                </a:solidFill>
              </a:rPr>
              <a:t>Dissipated Energy from Earthquake= 4320.60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Dissipated Energy from Cyclic Displacement= 141183337.85 </a:t>
            </a:r>
            <a:r>
              <a:rPr lang="en-US" sz="2800" b="1" dirty="0" err="1">
                <a:solidFill>
                  <a:schemeClr val="accent3"/>
                </a:solidFill>
              </a:rPr>
              <a:t>N·mm</a:t>
            </a:r>
            <a:endParaRPr lang="en-US" sz="2800" b="1" dirty="0">
              <a:solidFill>
                <a:schemeClr val="accent3"/>
              </a:solidFill>
            </a:endParaRPr>
          </a:p>
          <a:p>
            <a:endParaRPr lang="en-US" sz="2800" b="1" dirty="0">
              <a:solidFill>
                <a:schemeClr val="accent3"/>
              </a:solidFill>
            </a:endParaRPr>
          </a:p>
          <a:p>
            <a:r>
              <a:rPr lang="en-US" sz="2800" b="1" dirty="0">
                <a:solidFill>
                  <a:schemeClr val="accent3"/>
                </a:solidFill>
              </a:rPr>
              <a:t>	</a:t>
            </a:r>
            <a:r>
              <a:rPr lang="en-US" sz="2800" b="1" dirty="0">
                <a:solidFill>
                  <a:srgbClr val="FF0000"/>
                </a:solidFill>
              </a:rPr>
              <a:t>DISSIPATED ENERGY CAPACITY INDEX: 0.003 [%]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	ZONE 1: VERY MINOR DAMAGE</a:t>
            </a:r>
          </a:p>
        </p:txBody>
      </p:sp>
    </p:spTree>
    <p:extLst>
      <p:ext uri="{BB962C8B-B14F-4D97-AF65-F5344CB8AC3E}">
        <p14:creationId xmlns:p14="http://schemas.microsoft.com/office/powerpoint/2010/main" val="584319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</TotalTime>
  <Words>297</Words>
  <Application>Microsoft Office PowerPoint</Application>
  <PresentationFormat>Widescreen</PresentationFormat>
  <Paragraphs>41</Paragraphs>
  <Slides>87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87</vt:i4>
      </vt:variant>
    </vt:vector>
  </HeadingPairs>
  <TitlesOfParts>
    <vt:vector size="9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208</cp:revision>
  <cp:lastPrinted>2026-02-20T17:18:05Z</cp:lastPrinted>
  <dcterms:created xsi:type="dcterms:W3CDTF">2025-06-03T10:37:48Z</dcterms:created>
  <dcterms:modified xsi:type="dcterms:W3CDTF">2026-10-29T08:03:06Z</dcterms:modified>
</cp:coreProperties>
</file>