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69" r:id="rId4"/>
    <p:sldId id="352" r:id="rId5"/>
    <p:sldId id="399" r:id="rId6"/>
    <p:sldId id="380" r:id="rId7"/>
    <p:sldId id="381" r:id="rId8"/>
    <p:sldId id="382" r:id="rId9"/>
    <p:sldId id="383" r:id="rId10"/>
    <p:sldId id="259" r:id="rId11"/>
    <p:sldId id="323" r:id="rId12"/>
    <p:sldId id="302" r:id="rId13"/>
    <p:sldId id="324" r:id="rId14"/>
    <p:sldId id="306" r:id="rId15"/>
    <p:sldId id="336" r:id="rId16"/>
    <p:sldId id="346" r:id="rId17"/>
    <p:sldId id="354" r:id="rId18"/>
    <p:sldId id="367" r:id="rId19"/>
    <p:sldId id="400" r:id="rId20"/>
    <p:sldId id="304" r:id="rId21"/>
    <p:sldId id="261" r:id="rId22"/>
    <p:sldId id="325" r:id="rId23"/>
    <p:sldId id="337" r:id="rId24"/>
    <p:sldId id="347" r:id="rId25"/>
    <p:sldId id="356" r:id="rId26"/>
    <p:sldId id="357" r:id="rId27"/>
    <p:sldId id="387" r:id="rId28"/>
    <p:sldId id="401" r:id="rId29"/>
    <p:sldId id="308" r:id="rId30"/>
    <p:sldId id="265" r:id="rId31"/>
    <p:sldId id="326" r:id="rId32"/>
    <p:sldId id="266" r:id="rId33"/>
    <p:sldId id="309" r:id="rId34"/>
    <p:sldId id="348" r:id="rId35"/>
    <p:sldId id="358" r:id="rId36"/>
    <p:sldId id="359" r:id="rId37"/>
    <p:sldId id="391" r:id="rId38"/>
    <p:sldId id="402" r:id="rId39"/>
    <p:sldId id="311" r:id="rId40"/>
    <p:sldId id="312" r:id="rId41"/>
    <p:sldId id="327" r:id="rId42"/>
    <p:sldId id="313" r:id="rId43"/>
    <p:sldId id="314" r:id="rId44"/>
    <p:sldId id="315" r:id="rId45"/>
    <p:sldId id="349" r:id="rId46"/>
    <p:sldId id="360" r:id="rId47"/>
    <p:sldId id="361" r:id="rId48"/>
    <p:sldId id="392" r:id="rId49"/>
    <p:sldId id="403" r:id="rId50"/>
    <p:sldId id="263" r:id="rId51"/>
    <p:sldId id="329" r:id="rId52"/>
    <p:sldId id="268" r:id="rId53"/>
    <p:sldId id="269" r:id="rId54"/>
    <p:sldId id="342" r:id="rId55"/>
    <p:sldId id="374" r:id="rId56"/>
    <p:sldId id="375" r:id="rId57"/>
    <p:sldId id="363" r:id="rId58"/>
    <p:sldId id="376" r:id="rId59"/>
    <p:sldId id="378" r:id="rId60"/>
    <p:sldId id="320" r:id="rId61"/>
    <p:sldId id="393" r:id="rId62"/>
    <p:sldId id="394" r:id="rId63"/>
    <p:sldId id="397" r:id="rId64"/>
    <p:sldId id="404" r:id="rId65"/>
    <p:sldId id="384" r:id="rId66"/>
    <p:sldId id="275" r:id="rId67"/>
    <p:sldId id="328" r:id="rId68"/>
    <p:sldId id="276" r:id="rId69"/>
    <p:sldId id="343" r:id="rId70"/>
    <p:sldId id="350" r:id="rId71"/>
    <p:sldId id="362" r:id="rId72"/>
    <p:sldId id="364" r:id="rId73"/>
    <p:sldId id="386" r:id="rId74"/>
    <p:sldId id="366" r:id="rId75"/>
    <p:sldId id="395" r:id="rId76"/>
    <p:sldId id="396" r:id="rId77"/>
    <p:sldId id="371" r:id="rId78"/>
    <p:sldId id="398" r:id="rId79"/>
    <p:sldId id="405" r:id="rId80"/>
    <p:sldId id="373" r:id="rId81"/>
    <p:sldId id="365" r:id="rId82"/>
    <p:sldId id="385" r:id="rId83"/>
    <p:sldId id="388" r:id="rId84"/>
    <p:sldId id="372" r:id="rId85"/>
    <p:sldId id="390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212735"/>
            <a:ext cx="102870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A MULTI-DEGREE-FREEDOM (MDOF) STRUCTURE: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</a:t>
            </a:r>
            <a:r>
              <a:rPr lang="en-US" sz="1200" b="1">
                <a:solidFill>
                  <a:schemeClr val="accent3"/>
                </a:solidFill>
              </a:rPr>
              <a:t>PROGRAM IS WRITTEN </a:t>
            </a:r>
            <a:r>
              <a:rPr lang="en-US" sz="1200" b="1" dirty="0">
                <a:solidFill>
                  <a:schemeClr val="accent3"/>
                </a:solidFill>
              </a:rPr>
              <a:t>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07BFF-27A0-F02D-E04A-6D595414E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07"/>
            <a:ext cx="12192000" cy="671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762" y="1754897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923" y="2814137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239" y="167107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039" y="2897957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903797"/>
            <a:ext cx="3684335" cy="2834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8264C0-02CE-AA72-5F21-5C2E8087C6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31" y="0"/>
            <a:ext cx="4021741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633542-E43C-6625-BE84-A2388C811183}"/>
              </a:ext>
            </a:extLst>
          </p:cNvPr>
          <p:cNvSpPr txBox="1"/>
          <p:nvPr/>
        </p:nvSpPr>
        <p:spPr>
          <a:xfrm>
            <a:off x="3603256" y="18523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B47E06-A361-6DC5-3177-AC7CB0EC5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02"/>
            <a:ext cx="12192000" cy="652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C956F-A26E-CD67-0185-F75D83C0D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92BA10-8C98-3307-6E4D-F1FC93CCE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459"/>
            <a:ext cx="12192000" cy="65690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64B69F-7DF5-27DF-FF3C-1EE73E93BF5F}"/>
              </a:ext>
            </a:extLst>
          </p:cNvPr>
          <p:cNvSpPr txBox="1"/>
          <p:nvPr/>
        </p:nvSpPr>
        <p:spPr>
          <a:xfrm>
            <a:off x="3886200" y="1385887"/>
            <a:ext cx="9301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STEEL FIRE PROPERTIES</a:t>
            </a:r>
          </a:p>
        </p:txBody>
      </p:sp>
    </p:spTree>
    <p:extLst>
      <p:ext uri="{BB962C8B-B14F-4D97-AF65-F5344CB8AC3E}">
        <p14:creationId xmlns:p14="http://schemas.microsoft.com/office/powerpoint/2010/main" val="3112384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7D81-437E-CD66-E907-596CBB53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839C4D-E105-5D21-D04C-04597E1A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0B35B9-678F-FBB1-3D5D-07CD0C768B90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387389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F6A4-8607-5951-4AA3-891FB2E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EFE2A-B1E3-2478-1ECF-17F5BCB697E1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F7A4-C61A-5F38-6683-E265FB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2492-1B4E-07E2-F869-4579B93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572DE-ACB2-F449-7B69-B78A3105D5C7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3727533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2F22-C8B0-8A85-DF7F-E4767D66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B92AD-5FB8-E12B-7149-2ACCA54F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781DF-922D-0FDE-14BE-38A96132CF78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2816626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E7BA6F-30FC-4441-13E9-178663DC2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125"/>
            <a:ext cx="12192000" cy="653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C4ED0C-EA00-CC6C-9D9F-3928CE226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307"/>
            <a:ext cx="12192000" cy="655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183FEE-87A0-324F-7E5B-6019B1B82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069074-7BAB-EB23-9811-B04E1718A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5696-57B9-1595-E925-344B167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6037CC-F2DC-CB54-F7AB-78F0F0910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DC99-2425-4A35-D093-E249B198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B6D9F2-4768-6735-8AE6-9608681E6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46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82C8FB-DD24-9A10-1D91-BA08DB4F87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15" y="17598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57570-6D23-A8C4-1B90-55461FC58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24BEA6-97E2-B328-8979-44BCE26E8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132" y="0"/>
            <a:ext cx="8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89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AB56BE-546A-3F50-2B1E-53C2F917D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621"/>
            <a:ext cx="12192000" cy="656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9DFDF6-7017-5113-C8BD-2637E223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86E7B-2F0F-A7F3-059F-4C6B9C39D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9D20-4CB6-F3FD-0D39-057F99D0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995F65-BAED-B101-9D9C-71A68CDE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55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782B-A32A-DA0A-1D41-49370115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4ACC95-4A84-5301-175A-04C367436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58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E9BA-3D74-A0FE-8076-B9244850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08DB72-FA17-2607-47CC-9CBFE2AEA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9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2D5E4-947E-CB9C-F4CE-2E84BFF3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872DA7-5141-3330-A19D-23EB8899C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36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E807D-1808-6FD1-1940-8175BAA6C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2A4B13-5C10-9CD1-9475-C919E02E8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132" y="0"/>
            <a:ext cx="8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69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07191E-A520-BBA2-5256-AB707D874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470"/>
            <a:ext cx="12192000" cy="655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51AB48-6A86-FC08-521E-4FBE4EB4C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68838F-A1C9-921D-4331-4F27128DD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9911-636D-8A77-A96F-6955F5E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48EA84-EB02-0785-D205-FF76B7DBD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2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D4FA-7169-82A7-2D24-8FB47B1D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2D6CEC-4CB4-711C-657E-B00A0BBC2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2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49BF-7DE9-B8FE-6439-0C38D7A2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BFE475-D518-6D9F-1EB7-F675A808D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834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19F0F-8DE1-7C9D-CAB9-E14C5011D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F2456D-184F-C178-2970-89FFE7765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48" y="733286"/>
            <a:ext cx="689010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4154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D64D-CA44-2D3A-E11E-CC9854857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9625F2-A0AF-7C2B-A213-F12FDF0BD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132" y="0"/>
            <a:ext cx="8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74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2EAE77-DE3A-3CD9-E562-67355E473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125"/>
            <a:ext cx="12192000" cy="653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7611F9-45D3-AB3E-172D-C3A5BB471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7EBB3D-F7B4-49F9-4A8D-8E7179364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6713"/>
            <a:ext cx="12192000" cy="504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6FC9DA-0770-7FA4-7F26-A448FE650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6E30-6B79-9269-BEE3-E1BE4B2A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4D9F44-C7BC-751E-F661-CE2D0A82B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12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7AFA-1857-4098-506E-B7C6D98F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C89880-E75B-DBBC-3A57-35CA86413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467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D32F-C164-398E-E13F-87E6E1E0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9E877D-EFBC-4E37-C371-C5D866F83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942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A6541-1F69-FABE-C30A-C21576995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D07840-EFDE-27C8-55F5-FB60D5382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569" y="733286"/>
            <a:ext cx="704886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599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5355F-A11B-ACA7-9F81-8F79AE9A6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8A90D1-C985-BD3E-6770-F24F708E9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132" y="0"/>
            <a:ext cx="8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162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95608-8B1A-4CD0-EDFB-7DAF61845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6398ED-AEDB-B604-3F12-C9D756AAA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3A5C0C-C6E0-4B97-51D2-4C1560DCA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CF93-E546-5385-3D34-9DCB050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9E2DFB-6BE7-49A1-5562-DEE816231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00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AC234-7D52-78C4-CB39-394D676D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784B42-6289-793E-B425-F027371E2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419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2D43-838B-09BE-5292-CCF1DBF5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93DC8B-AC19-2736-82D5-706943B73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027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7967-924B-69E6-8B34-877E342F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DA1026-9CD4-4932-F64D-24E09CCC1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564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58952-E1C9-525C-DBE9-45784BB9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A20D0F-746B-39DA-6BF2-EE2FEFE29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932"/>
            <a:ext cx="12192000" cy="652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69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435" y="130128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626" y="3793469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35" y="1332912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910" y="2512643"/>
            <a:ext cx="2644666" cy="1005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F4C739-9857-D221-E51B-555276500A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626" y="5222219"/>
            <a:ext cx="2647950" cy="1057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006279-CF68-6471-2539-9592316884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53014"/>
            <a:ext cx="9216546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555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C93F99-4174-C64A-BB7F-453356E3A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48" y="936497"/>
            <a:ext cx="783630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AC801-71E5-04E1-0D4D-16DC47543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193DDD-4A54-925D-FD45-8B57878C9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869818"/>
            <a:ext cx="7728347" cy="51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856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9731-3169-16CA-0F61-918FC8978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6E8F47-000E-6DB8-0CB6-544EFFD9D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936497"/>
            <a:ext cx="821732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599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9563-3C0C-2F4C-09FC-7B3E710E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DFE034-5E47-5985-2669-CA2B49F3B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723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A331-BD10-C29F-3678-36F69ABB6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259F53-BAF6-81EB-990C-73E82520E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132" y="0"/>
            <a:ext cx="8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341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3589C-5D42-E374-FBA6-3C3A5EF28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E57A82-6DC6-DDDE-A155-4312150F97B2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7569967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2E119F-CC31-BB70-5E0A-491EA3C4E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470"/>
            <a:ext cx="12192000" cy="655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C76ECF-E45B-358B-9F54-CBB2D53E7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B893C3-480D-3D03-ADA6-0D0983D5F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3C0-B049-0039-4236-03262F0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2A2E02-973D-286C-8FE3-F66F500CD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57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941F-53F2-A531-18B3-E49D5112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0F3A62-7C27-3277-A8BF-66CA595B5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713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8B10-90E0-2E32-FD77-02CA0595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DAAE45-D948-4199-B26A-2B8B024AD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578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1D55-5E77-23A8-19E3-43647EA1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CE6491-566D-FB5A-371D-A791F9733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9565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9182F-2AE2-7F6C-3844-739E4DCF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02C4DE-AB0E-51A6-8D08-7ADC1D27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936497"/>
            <a:ext cx="781090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0525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64E96-CC8E-BD2D-1C34-EDA5F61E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EE103-0E48-756B-A6DD-C75B71903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273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AC589-A20E-B76B-6575-7053BE90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999402-6E05-9B34-EA10-B34266D25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922" y="936497"/>
            <a:ext cx="790615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32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C78C5-4344-4CD8-6D87-3B4B24B94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BAB96-8144-50FD-653C-C946A1C3D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226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6907E-D7E9-88E6-0CC8-667EF3F3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5F1D8C-5F32-FDBF-333C-F19C9E17C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132" y="0"/>
            <a:ext cx="8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135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6CE2-51F2-4C93-A7D1-9C1C29A2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0ABD1D-EDC3-C72A-19F9-CD1AED82E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156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18866-A10B-6257-53D5-81D9E848B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B99F6D-2398-C9EA-13AF-6C5308D2B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566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FF1A-66D3-13C2-AD34-18944328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8FCFB2-939E-F82F-65D1-AACB418614DA}"/>
              </a:ext>
            </a:extLst>
          </p:cNvPr>
          <p:cNvSpPr txBox="1"/>
          <p:nvPr/>
        </p:nvSpPr>
        <p:spPr>
          <a:xfrm>
            <a:off x="0" y="2151727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Dissipated Energy from Earthquake= 14513.74 </a:t>
            </a:r>
            <a:r>
              <a:rPr lang="en-US" sz="3200" b="1" dirty="0" err="1">
                <a:solidFill>
                  <a:schemeClr val="accent3"/>
                </a:solidFill>
              </a:rPr>
              <a:t>N·m</a:t>
            </a:r>
            <a:endParaRPr lang="en-US" sz="3200" b="1" dirty="0">
              <a:solidFill>
                <a:schemeClr val="accent3"/>
              </a:solidFill>
            </a:endParaRPr>
          </a:p>
          <a:p>
            <a:r>
              <a:rPr lang="en-US" sz="3200" b="1" dirty="0">
                <a:solidFill>
                  <a:schemeClr val="accent3"/>
                </a:solidFill>
              </a:rPr>
              <a:t>Dissipated Energy from Cyclic Displacement= 652781.73 </a:t>
            </a:r>
            <a:r>
              <a:rPr lang="en-US" sz="3200" b="1" dirty="0" err="1">
                <a:solidFill>
                  <a:schemeClr val="accent3"/>
                </a:solidFill>
              </a:rPr>
              <a:t>N·m</a:t>
            </a:r>
            <a:endParaRPr lang="en-US" sz="3200" b="1" dirty="0">
              <a:solidFill>
                <a:schemeClr val="accent3"/>
              </a:solidFill>
            </a:endParaRPr>
          </a:p>
          <a:p>
            <a:endParaRPr lang="en-US" sz="3200" b="1" dirty="0">
              <a:solidFill>
                <a:schemeClr val="accent3"/>
              </a:solidFill>
            </a:endParaRPr>
          </a:p>
          <a:p>
            <a:r>
              <a:rPr lang="en-US" sz="3200" b="1" dirty="0">
                <a:solidFill>
                  <a:schemeClr val="accent3"/>
                </a:solidFill>
              </a:rPr>
              <a:t>	</a:t>
            </a:r>
            <a:r>
              <a:rPr lang="en-US" sz="3200" b="1" dirty="0">
                <a:solidFill>
                  <a:srgbClr val="FF0000"/>
                </a:solidFill>
              </a:rPr>
              <a:t>DISSIPATED ENERGY CAPACITY INDEX: 2.223 [%]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62065390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AA78-BE7D-F1F6-9E56-FC94D0A9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85DF75-38EE-EBA0-F13D-E3ABBB8A2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880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A092A-0470-9070-5C27-FBB0989A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8E1493-55DF-4AD3-8056-AA99AF51D1BB}"/>
              </a:ext>
            </a:extLst>
          </p:cNvPr>
          <p:cNvSpPr txBox="1"/>
          <p:nvPr/>
        </p:nvSpPr>
        <p:spPr>
          <a:xfrm>
            <a:off x="3067285" y="305068"/>
            <a:ext cx="752951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[9.38225157e-02 2.71884725e+05]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[3.60000000e-01 3.23080863e+05]]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2897862.23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897446.84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192338.35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3.84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2000" b="1" dirty="0">
                <a:solidFill>
                  <a:schemeClr val="accent3"/>
                </a:solidFill>
              </a:rPr>
              <a:t>Ω0):      1.1883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2000" b="1" dirty="0">
                <a:solidFill>
                  <a:schemeClr val="accent3"/>
                </a:solidFill>
              </a:rPr>
              <a:t>μ):    3.8370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Ductility Coefficient (R</a:t>
            </a:r>
            <a:r>
              <a:rPr lang="el-GR" sz="2000" b="1" dirty="0">
                <a:solidFill>
                  <a:schemeClr val="accent3"/>
                </a:solidFill>
              </a:rPr>
              <a:t>μ):          3.8370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Behavior Coefficient (R): 4.5595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Ductility Damage Index in X Direction: -12.0030 (%)</a:t>
            </a:r>
          </a:p>
        </p:txBody>
      </p:sp>
    </p:spTree>
    <p:extLst>
      <p:ext uri="{BB962C8B-B14F-4D97-AF65-F5344CB8AC3E}">
        <p14:creationId xmlns:p14="http://schemas.microsoft.com/office/powerpoint/2010/main" val="325532539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037A-B7F7-6A8D-9C7D-A8A9C35C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7AA4AE-6DAA-3390-F86A-A7F5A8B8E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07" y="733286"/>
            <a:ext cx="943658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502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FB10-D2A6-2554-D30D-41526819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01083A-57DD-17D1-A710-31041FEEB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2136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E38C3-70C1-0CBF-D138-07FFFA21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F57E38-8388-1C36-30DB-B875EDCC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77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256</Words>
  <Application>Microsoft Office PowerPoint</Application>
  <PresentationFormat>Widescreen</PresentationFormat>
  <Paragraphs>43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195</cp:revision>
  <cp:lastPrinted>2026-03-23T10:01:33Z</cp:lastPrinted>
  <dcterms:created xsi:type="dcterms:W3CDTF">2025-06-03T10:37:48Z</dcterms:created>
  <dcterms:modified xsi:type="dcterms:W3CDTF">2026-10-02T11:32:55Z</dcterms:modified>
</cp:coreProperties>
</file>