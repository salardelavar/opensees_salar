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64" r:id="rId4"/>
    <p:sldId id="363" r:id="rId5"/>
    <p:sldId id="357" r:id="rId6"/>
    <p:sldId id="341" r:id="rId7"/>
    <p:sldId id="360" r:id="rId8"/>
    <p:sldId id="259" r:id="rId9"/>
    <p:sldId id="323" r:id="rId10"/>
    <p:sldId id="303" r:id="rId11"/>
    <p:sldId id="302" r:id="rId12"/>
    <p:sldId id="324" r:id="rId13"/>
    <p:sldId id="336" r:id="rId14"/>
    <p:sldId id="342" r:id="rId15"/>
    <p:sldId id="347" r:id="rId16"/>
    <p:sldId id="368" r:id="rId17"/>
    <p:sldId id="369" r:id="rId18"/>
    <p:sldId id="348" r:id="rId19"/>
    <p:sldId id="304" r:id="rId20"/>
    <p:sldId id="261" r:id="rId21"/>
    <p:sldId id="325" r:id="rId22"/>
    <p:sldId id="337" r:id="rId23"/>
    <p:sldId id="343" r:id="rId24"/>
    <p:sldId id="370" r:id="rId25"/>
    <p:sldId id="371" r:id="rId26"/>
    <p:sldId id="380" r:id="rId27"/>
    <p:sldId id="307" r:id="rId28"/>
    <p:sldId id="308" r:id="rId29"/>
    <p:sldId id="265" r:id="rId30"/>
    <p:sldId id="326" r:id="rId31"/>
    <p:sldId id="266" r:id="rId32"/>
    <p:sldId id="309" r:id="rId33"/>
    <p:sldId id="310" r:id="rId34"/>
    <p:sldId id="349" r:id="rId35"/>
    <p:sldId id="311" r:id="rId36"/>
    <p:sldId id="312" r:id="rId37"/>
    <p:sldId id="327" r:id="rId38"/>
    <p:sldId id="313" r:id="rId39"/>
    <p:sldId id="314" r:id="rId40"/>
    <p:sldId id="315" r:id="rId41"/>
    <p:sldId id="330" r:id="rId42"/>
    <p:sldId id="331" r:id="rId43"/>
    <p:sldId id="338" r:id="rId44"/>
    <p:sldId id="318" r:id="rId45"/>
    <p:sldId id="319" r:id="rId46"/>
    <p:sldId id="350" r:id="rId47"/>
    <p:sldId id="268" r:id="rId48"/>
    <p:sldId id="263" r:id="rId49"/>
    <p:sldId id="329" r:id="rId50"/>
    <p:sldId id="361" r:id="rId51"/>
    <p:sldId id="269" r:id="rId52"/>
    <p:sldId id="270" r:id="rId53"/>
    <p:sldId id="332" r:id="rId54"/>
    <p:sldId id="333" r:id="rId55"/>
    <p:sldId id="339" r:id="rId56"/>
    <p:sldId id="366" r:id="rId57"/>
    <p:sldId id="271" r:id="rId58"/>
    <p:sldId id="274" r:id="rId59"/>
    <p:sldId id="372" r:id="rId60"/>
    <p:sldId id="373" r:id="rId61"/>
    <p:sldId id="381" r:id="rId62"/>
    <p:sldId id="351" r:id="rId63"/>
    <p:sldId id="320" r:id="rId64"/>
    <p:sldId id="275" r:id="rId65"/>
    <p:sldId id="328" r:id="rId66"/>
    <p:sldId id="276" r:id="rId67"/>
    <p:sldId id="277" r:id="rId68"/>
    <p:sldId id="344" r:id="rId69"/>
    <p:sldId id="279" r:id="rId70"/>
    <p:sldId id="345" r:id="rId71"/>
    <p:sldId id="346" r:id="rId72"/>
    <p:sldId id="353" r:id="rId73"/>
    <p:sldId id="354" r:id="rId74"/>
    <p:sldId id="374" r:id="rId75"/>
    <p:sldId id="375" r:id="rId76"/>
    <p:sldId id="382" r:id="rId77"/>
    <p:sldId id="367" r:id="rId78"/>
    <p:sldId id="376" r:id="rId79"/>
    <p:sldId id="365" r:id="rId80"/>
    <p:sldId id="377" r:id="rId81"/>
    <p:sldId id="379" r:id="rId82"/>
    <p:sldId id="383" r:id="rId83"/>
    <p:sldId id="378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952500" y="458956"/>
            <a:ext cx="102870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400" b="1" dirty="0">
                <a:solidFill>
                  <a:schemeClr val="accent5"/>
                </a:solidFill>
              </a:rPr>
              <a:t>COMPREHENSIVE NONLINEAR SEISMIC ASSESSMENT OF A CONCRETE SLAB SUPERSTRUCTURE SIMPILY SUPPORTED SHORT SPAN BRIDGE: AN OPENSEES FRAMEWORK FOR STATIC PUSHOVER, CYCLIC DEGRADATION, STATIC TIME-HISTORY AND DYNAMIC TIME-HISTORY ANALYSIS       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C4591A-4F6F-3326-1579-FEF8C2AB9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16" y="866155"/>
            <a:ext cx="6380952" cy="1828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05D4D6-9EAA-D268-8A66-C811BB9FF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168" y="0"/>
            <a:ext cx="5713793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54D8EF-0C2A-E812-64F7-8DDA147BB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16" y="5211013"/>
            <a:ext cx="6490685" cy="11887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5C7357-EA38-76EC-DBA2-7EFF97C30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91" y="2967155"/>
            <a:ext cx="5723809" cy="19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08FA0-117C-D38D-EDF8-19CA10DC4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36F2CD8-05EF-3FFE-8CD1-96199A942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08" y="365760"/>
            <a:ext cx="10571183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4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CD6F7-6814-2F94-4D25-48CB7C873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3F36A7-3D2B-763C-0675-83D26B2CC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544"/>
            <a:ext cx="12192000" cy="59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4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E4F37-EEFC-2557-74DB-152A8793D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EE4B97-5929-42B9-A6A0-5851A8D28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129" y="234786"/>
            <a:ext cx="6629741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41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C691-2A83-BCFA-633F-56921BA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CED1B0-A98C-C41B-5034-595C2B18F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49"/>
            <a:ext cx="12192000" cy="65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3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16EE-DA5B-7389-9EBE-68FB26E30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3C38C8-25AF-6EBC-6239-18EBF7476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415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7B4D6B-8F17-0F15-2258-552A2A223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807"/>
            <a:ext cx="12192000" cy="654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615C89-CF63-6451-0140-A394B85A4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96" y="0"/>
            <a:ext cx="8383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9EDA2C-2847-C263-AD4E-35A9DD681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807"/>
            <a:ext cx="12192000" cy="654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C46E00-BB98-91D8-C224-30ED873E5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9514-A27A-2C9F-6D01-0B2CFAED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A3DF84-5EF6-A12E-A050-CC6F014EE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18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FC25-A885-4A53-CFD4-E86ADE3D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9F633B-AE40-5463-EC8A-A86CABC3E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94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42667-911A-3885-427F-975225583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AFD9A3-FCD9-EE5E-21A9-78C84E14E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775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15A9B-9AA2-0226-A540-4BB26855C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87768A-EBCD-2C1D-BDB8-318117E92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687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2352-CA8C-B49D-193E-E888DFD6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1BDC34-00CA-354B-EFCC-463099EAD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602" y="0"/>
            <a:ext cx="84447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05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D3B9D7-5FD2-37B1-67D6-DD035FE9F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723"/>
            <a:ext cx="12192000" cy="651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82D61A-C41F-4A24-B06B-B1D3BB50D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FAB216-F2B6-8DE4-018B-7FA668D32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4AA8D4-2FE1-EDFE-9328-EDC773604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5F166-5C88-512E-4121-ABEE0930C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D1C3BF3-916C-42BC-9741-1907EA00E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699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AF67-F96C-EE4C-9203-59E3C5F68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AA6D59-D76B-A34E-008E-B2EF6993E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676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7445C-220F-EA91-D38D-C6DEF16CA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B3CDBC-D65D-AAD9-9F61-73EEAABEC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884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9F5F-3F08-460B-95CE-E74CA5BD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9A429A-A452-6D41-F1ED-84A940BB9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96" y="0"/>
            <a:ext cx="8383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95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CA8398-C6AD-396A-30ED-21AF285B6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584-13AB-6839-56E2-D66086A9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5" y="685800"/>
            <a:ext cx="88481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250980C-7F8D-866C-2681-654438815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25E347-566F-1FDA-915D-A4B8326E0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C84706-8480-38E2-9FB4-007DF7572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4A2F-1835-D9F2-F83F-C0B1C5EA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589092-5D2D-9F9D-1C27-C8EE154C9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96" y="0"/>
            <a:ext cx="8383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518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536174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3BF68C-858A-1455-A503-A5DE45D54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7CEE23-0005-C0CE-923C-D17B0F17D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481" y="234786"/>
            <a:ext cx="9481037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C2FB46-5BDA-0128-E167-99C2922B1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24AC33-14D3-7187-1583-C3CEBFD74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239" y="520550"/>
            <a:ext cx="9163521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6AB4-1EF3-AF97-DE08-B9054916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DB3DAF-AFBD-32EE-D2E4-D50F467D2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312" y="520550"/>
            <a:ext cx="923337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831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D85D-ACDE-BD19-76BA-33C4B4CC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7792BC-41F0-CAC8-CE4C-AE4142D84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516" y="453872"/>
            <a:ext cx="9080967" cy="595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881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36A6F-686C-EF33-EA84-2516774E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7B7588-4B19-DC39-22B7-AE3E32FAF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62" y="361792"/>
            <a:ext cx="9271476" cy="613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179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21C8-AAD5-C741-387B-56427E5C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90FB57-A4A6-012D-84EF-E08218CE0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357" y="428471"/>
            <a:ext cx="9449286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14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E615-CBBB-BDD8-E9B3-C55DFB6C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1B0FAD-33C0-3917-D252-7B0F76DEF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765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AF0EB-1B14-B192-E230-61C55EF4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BCC889-0ACF-6FC7-D1CC-6AD1C52EF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005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BEE3D9-EB64-9E70-7FA7-A2171619C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96" y="0"/>
            <a:ext cx="8383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6488B0-6CA0-43D0-9331-016C7A6ED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91"/>
            <a:ext cx="12192000" cy="65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A37F9-8987-8A46-0CCC-FB40350C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9A9DB6-AB46-B890-A070-162A98634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6096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09F37-665F-C964-D977-05A387DCF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9DF61C-12E6-97C7-84CD-1A2C311F9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86C93A-BF1B-A3E5-3317-AB9B96A9A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5C78F4-2E8A-B974-AB9D-C4168345F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9DE760-72DE-44FC-D50D-C14A2DDE0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428471"/>
            <a:ext cx="9049215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E4813-C8EE-B4D7-A006-815E79EFE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B228E0-71F3-8E24-D300-5276EF495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428471"/>
            <a:ext cx="9049215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703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D1D-A3EC-2938-502A-DC646EEB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C69B71-A27C-07FE-769C-A02441509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08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421-63C1-6532-6914-A005C0DB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EAA335-C99C-16B1-2EEA-61CDCB110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77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9A0D1-B9C1-67E5-5DB2-34D955835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BB6B20-2014-EE80-F12D-670220201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07087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81D77-53A2-E725-7FD2-900BE4F6A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E359DE-9354-E2BB-21C8-21A5C9D3F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3686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E0D10-55D1-7F45-27AA-A1881A1B2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AF0C7D-2721-3431-C754-15FDE20FC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3400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CB262-1775-2367-51F0-490A5D60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2C41B9-7061-8DAD-0330-A4430EED4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96" y="0"/>
            <a:ext cx="8383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896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352922-29CB-7361-A797-9D6615F3F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50A493-6C71-C592-CE0C-4CA18288B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34322A-1B36-053B-8358-C89815305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4BAB1-6E46-ACDE-FA5F-37B22EC1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44541E-1417-7838-392D-22F3980FC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780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439C-D815-251C-AA57-6D0ADF7C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39526A-5226-1D1D-93D3-99E4AAE74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003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88F2-F10A-DD8C-0424-DDFF46AE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AE4E19-F451-245B-8224-D36411691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8019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03C31-4FDF-8CB5-DFE0-0D48E7B7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208DF6-3C36-A111-E01F-CFB17F226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428471"/>
            <a:ext cx="9049215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1030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A80A0-82D3-7D61-9718-F9191EC0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223379-C346-CCB2-DF94-31AA2F92A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428471"/>
            <a:ext cx="9049215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9300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BF8C-4B91-5CAE-8A2B-1129879B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553A2F-9E3A-FCE7-D0FD-EE01245BE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467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E5E8-41D4-E413-1FC2-3B9FA321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DEC3B1-08BB-F238-05F0-A18B768E2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946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E2E-0AD7-8A34-5E2D-6F3622F97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C650EF-281B-173D-FE52-411371C8E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741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D7313-8229-26A5-1948-FFBA89E8A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0F1A3C-5E1C-1299-AC45-BF0D78777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3940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0EAEF-49B3-48B9-71C6-A5F273166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F463D0-2904-CD83-9DE7-1F0208276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413" y="733286"/>
            <a:ext cx="6293173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1435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45D94-6214-716A-57DB-F5BC71FB9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9ED357-7B88-FDB2-CA33-9A46B9593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79398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643E6-70FF-E2CD-0D1F-F5058E60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BBAEDC-26FE-22E6-D483-E0565E1B2DD0}"/>
              </a:ext>
            </a:extLst>
          </p:cNvPr>
          <p:cNvSpPr txBox="1"/>
          <p:nvPr/>
        </p:nvSpPr>
        <p:spPr>
          <a:xfrm>
            <a:off x="2557777" y="456753"/>
            <a:ext cx="75295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</a:t>
            </a:r>
            <a:r>
              <a:rPr lang="en-US" b="1" dirty="0" err="1">
                <a:solidFill>
                  <a:schemeClr val="accent3"/>
                </a:solidFill>
              </a:rPr>
              <a:t>Disp</a:t>
            </a:r>
            <a:r>
              <a:rPr lang="en-US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[1.06003955e+00 7.29206905e+06]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[1.00000000e+01 4.36432689e+06]]</a:t>
            </a:r>
          </a:p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Elastic Stiffness :     6879053.73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Plastic Stiffness :     436432.69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Tangent Stiffness :     -327489.39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Ductility Ratio :       9.43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Over Strength Factor:   0.60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Over Strength Coefficient (</a:t>
            </a:r>
            <a:r>
              <a:rPr lang="el-GR" b="1" dirty="0">
                <a:solidFill>
                  <a:schemeClr val="accent3"/>
                </a:solidFill>
              </a:rPr>
              <a:t>Ω0):      0.5985</a:t>
            </a:r>
          </a:p>
          <a:p>
            <a:r>
              <a:rPr lang="en-US" b="1" dirty="0">
                <a:solidFill>
                  <a:schemeClr val="accent3"/>
                </a:solidFill>
              </a:rPr>
              <a:t>Displacement Ductility Ratio (</a:t>
            </a:r>
            <a:r>
              <a:rPr lang="el-GR" b="1" dirty="0">
                <a:solidFill>
                  <a:schemeClr val="accent3"/>
                </a:solidFill>
              </a:rPr>
              <a:t>μ):    9.4336</a:t>
            </a:r>
          </a:p>
          <a:p>
            <a:r>
              <a:rPr lang="en-US" b="1" dirty="0">
                <a:solidFill>
                  <a:schemeClr val="accent3"/>
                </a:solidFill>
              </a:rPr>
              <a:t>Ductility Coefficient (R</a:t>
            </a:r>
            <a:r>
              <a:rPr lang="el-GR" b="1" dirty="0">
                <a:solidFill>
                  <a:schemeClr val="accent3"/>
                </a:solidFill>
              </a:rPr>
              <a:t>μ):          9.4336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Behavior Coefficient (R): 5.6460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Ductility Damage Index in Y Direction: -10.2375 (%)</a:t>
            </a:r>
          </a:p>
        </p:txBody>
      </p:sp>
    </p:spTree>
    <p:extLst>
      <p:ext uri="{BB962C8B-B14F-4D97-AF65-F5344CB8AC3E}">
        <p14:creationId xmlns:p14="http://schemas.microsoft.com/office/powerpoint/2010/main" val="324429877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1FFA2-BBB6-C8EC-C084-CD632FDE3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EB34DE-423B-7ADA-99D9-722BD7EB7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396" y="0"/>
            <a:ext cx="8383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407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F32AD-52CC-F571-E886-47364E8C5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74EBDA-F801-0AE1-99B5-C59B5D22E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413" y="733286"/>
            <a:ext cx="6293173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09945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CEBE0-E857-2FA2-7185-0DD0C29C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9BDD26-2B88-CA9F-F6F8-39A62B52D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19124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8CB54-46EE-F6F0-310A-3673E4105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2A0F5E-BDCE-2324-3B26-A59E8DF171C9}"/>
              </a:ext>
            </a:extLst>
          </p:cNvPr>
          <p:cNvSpPr txBox="1"/>
          <p:nvPr/>
        </p:nvSpPr>
        <p:spPr>
          <a:xfrm>
            <a:off x="0" y="2459504"/>
            <a:ext cx="1219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Dissipated Energy from Earthquake= 32621.05 </a:t>
            </a:r>
            <a:r>
              <a:rPr lang="en-US" sz="2400" b="1" dirty="0" err="1">
                <a:solidFill>
                  <a:schemeClr val="accent3"/>
                </a:solidFill>
              </a:rPr>
              <a:t>N·mm</a:t>
            </a:r>
            <a:endParaRPr lang="en-US" sz="2400" b="1" dirty="0">
              <a:solidFill>
                <a:schemeClr val="accent3"/>
              </a:solidFill>
            </a:endParaRPr>
          </a:p>
          <a:p>
            <a:r>
              <a:rPr lang="en-US" sz="2400" b="1" dirty="0">
                <a:solidFill>
                  <a:schemeClr val="accent3"/>
                </a:solidFill>
              </a:rPr>
              <a:t>Dissipated Energy from Cyclic Displacement= 21067259.22 </a:t>
            </a:r>
            <a:r>
              <a:rPr lang="en-US" sz="2400" b="1" dirty="0" err="1">
                <a:solidFill>
                  <a:schemeClr val="accent3"/>
                </a:solidFill>
              </a:rPr>
              <a:t>N·mm</a:t>
            </a:r>
            <a:endParaRPr lang="en-US" sz="2400" b="1" dirty="0">
              <a:solidFill>
                <a:schemeClr val="accent3"/>
              </a:solidFill>
            </a:endParaRPr>
          </a:p>
          <a:p>
            <a:endParaRPr lang="en-US" sz="2400" b="1" dirty="0">
              <a:solidFill>
                <a:schemeClr val="accent3"/>
              </a:solidFill>
            </a:endParaRPr>
          </a:p>
          <a:p>
            <a:r>
              <a:rPr lang="en-US" sz="2400" b="1" dirty="0">
                <a:solidFill>
                  <a:schemeClr val="accent3"/>
                </a:solidFill>
              </a:rPr>
              <a:t>	</a:t>
            </a:r>
            <a:r>
              <a:rPr lang="en-US" sz="2400" b="1" dirty="0">
                <a:solidFill>
                  <a:srgbClr val="FF0000"/>
                </a:solidFill>
              </a:rPr>
              <a:t>DISSIPATED ENERGY CAPACITY INDEX: 0.155 [%]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14970672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C30A8-CC28-0806-6AEA-D37592A93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B44011-E706-6CC5-DE22-609597E77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8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1074</TotalTime>
  <Words>226</Words>
  <Application>Microsoft Office PowerPoint</Application>
  <PresentationFormat>Widescreen</PresentationFormat>
  <Paragraphs>35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168</cp:revision>
  <cp:lastPrinted>2026-03-26T13:16:31Z</cp:lastPrinted>
  <dcterms:created xsi:type="dcterms:W3CDTF">2025-06-03T10:37:48Z</dcterms:created>
  <dcterms:modified xsi:type="dcterms:W3CDTF">2026-08-18T17:50:44Z</dcterms:modified>
</cp:coreProperties>
</file>