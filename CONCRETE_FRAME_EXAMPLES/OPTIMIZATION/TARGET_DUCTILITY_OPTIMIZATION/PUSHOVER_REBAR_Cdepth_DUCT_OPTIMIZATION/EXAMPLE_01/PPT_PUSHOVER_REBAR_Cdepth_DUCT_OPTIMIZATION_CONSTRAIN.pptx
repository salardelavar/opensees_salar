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81" r:id="rId4"/>
    <p:sldId id="257" r:id="rId5"/>
    <p:sldId id="305" r:id="rId6"/>
    <p:sldId id="258" r:id="rId7"/>
    <p:sldId id="28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9511-2709-E7A8-0E94-7B7E8BA28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7D762-DC49-2CDB-1E5E-51482A3E8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9B94A-2D9B-EC0B-0E67-60AA46EC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45C6-EBBD-B162-7A5C-1392FA6EF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D595D-6113-9E8B-E375-518B03D4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C1C7-1C56-3A1A-B144-CB902609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550C2-398E-7A8F-4C02-E2D50CC6F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C3B8-CF88-184A-8F38-CE7FE17C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2DE1F-115B-8810-F0E9-E49E76F3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8BB2-2809-BF14-46DE-7DF36686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8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D37D-DC98-95CE-4F36-2D2F5801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FC449-F7EE-7D59-2270-3BAFBBC2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DB2A3-B124-7343-F734-E50A26D0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7FD5F-9FD9-398C-10F8-4F0062D5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E0B96-3984-A56F-EF8F-6283CC63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7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A63B-90B6-1A99-2ECC-F1F074F37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086B-1EE1-E48A-AE24-AB47AB974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7747C-B621-B873-3660-96FAEBAA2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4FCA8-9B1F-6F3D-11F7-834CE567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CF894-9037-E47D-59E3-0934CDDE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94A17-DB26-84D3-968A-CC4075BB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4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0A47-AEDF-2D0F-2B3C-BA2B422C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66407-C3C7-9112-9B5C-F57C0C87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42E1D-87B8-76ED-22E9-555A7EBD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BDD3D-4A4E-19C3-594A-3B933BD23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A26CA-638D-427E-3679-32D052A39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F57F6-76C3-545D-6227-9406DB4C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575394-8AD0-9D87-81A6-85D090A2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1DF16-41E7-50F2-BC6E-C5F1AA63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46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927C-5B9F-138E-FFE7-A875A158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BE1223-151A-C8F7-BDAD-1CDD2102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39E63-5375-5438-3CF2-626642731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F81D7-A9A2-EBC6-A707-DC1D0359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09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15A61-00A2-3A76-9254-F9E93F51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8F1B1-9DA7-0903-0912-8F6C099C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46A2-1BB8-AEEA-819A-031FA1BD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3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0C65-5F66-CF2B-F64B-225BE40E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5946C-C764-C2C6-9D27-CF42514E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E9074-1A55-6A80-E114-A1C310C37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F6DB8-3F49-13A6-1EED-DD55D841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58FD5-47E1-17E8-A5A3-6EF4207D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E7D12-9788-C4D9-8581-BB724740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2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D6A2-2876-E41B-5320-5E8234E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2F74C-9AEB-A52E-E714-EA2863154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B7B06-68A5-3148-01DC-AECC33166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5EBC6-DD45-E2AF-FBD7-542D022E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001B-259C-7FDF-FBFC-D3968505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4054A-251D-3CB2-A03B-9292CBD2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0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4D6D-B08F-1F2D-509E-FFCCF04C2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9F4AE-2145-0F44-717F-4D77BAE29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EE041-CB43-0051-23CC-2B28A572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61443-6A6B-E748-A3B7-20C3FA0E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D72BA-835A-30D1-8168-51566E0A6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42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C4E1B-39BF-E681-B5B8-88FBA902F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B9254-4DBE-B052-3BB1-BFD7D117C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6ED6C-685E-40E9-C987-B5609C00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36231-DFED-F5BB-258C-C357365B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0AA09-8761-B20D-DA5B-0EC457EDC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9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6A390-FFC8-6C44-7D72-73713600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7D72C-7C22-A27A-6FF2-52331BC87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930C-C557-856A-9886-9BA69CA63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65D69-5195-25E1-1894-A02254A68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3361-A1DB-333C-7119-5D91C5142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2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63971-0865-A183-EEE6-3CEE771D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50D356-BC1A-B4B5-B807-DA0D6101C703}"/>
              </a:ext>
            </a:extLst>
          </p:cNvPr>
          <p:cNvSpPr txBox="1"/>
          <p:nvPr/>
        </p:nvSpPr>
        <p:spPr>
          <a:xfrm>
            <a:off x="0" y="628233"/>
            <a:ext cx="1219200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3"/>
                </a:solidFill>
              </a:rPr>
              <a:t>IN THE NAME OF ALLAH, THE MOST GRACIOUS, THE MOST MERCIFUL</a:t>
            </a:r>
            <a:endParaRPr lang="fa-IR" sz="1400" b="1" dirty="0">
              <a:solidFill>
                <a:schemeClr val="accent3"/>
              </a:solidFill>
            </a:endParaRPr>
          </a:p>
          <a:p>
            <a:pPr algn="ctr"/>
            <a:r>
              <a:rPr lang="en-US" sz="6600" b="1" dirty="0">
                <a:solidFill>
                  <a:schemeClr val="accent3"/>
                </a:solidFill>
              </a:rPr>
              <a:t>CONSTRAINED OPTIMIZATION OF REINFORCED CONCRETE COLUMN DESIGN USING NONLINEAR PUSHOVER ANALYSIS IN OPENSEES</a:t>
            </a:r>
          </a:p>
          <a:p>
            <a:pPr algn="ctr"/>
            <a:r>
              <a:rPr lang="en-US" sz="1400" b="1" dirty="0">
                <a:solidFill>
                  <a:schemeClr val="accent3"/>
                </a:solidFill>
              </a:rPr>
              <a:t>WRITTEN BY SALAR DELAVAR GHASHGHAEI (QASHQAI)</a:t>
            </a:r>
            <a:r>
              <a:rPr lang="fa-IR" sz="1400" b="1" dirty="0">
                <a:solidFill>
                  <a:schemeClr val="accent3"/>
                </a:solidFill>
              </a:rPr>
              <a:t> </a:t>
            </a:r>
            <a:endParaRPr lang="en-US" sz="14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634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eam&#10;&#10;AI-generated content may be incorrect.">
            <a:extLst>
              <a:ext uri="{FF2B5EF4-FFF2-40B4-BE49-F238E27FC236}">
                <a16:creationId xmlns:a16="http://schemas.microsoft.com/office/drawing/2014/main" id="{5B4A9A27-3986-C082-A3F5-F02CFF13B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7" y="0"/>
            <a:ext cx="10558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797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ED33-3803-C554-8F8F-B0FC7B37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eam section&#10;&#10;AI-generated content may be incorrect.">
            <a:extLst>
              <a:ext uri="{FF2B5EF4-FFF2-40B4-BE49-F238E27FC236}">
                <a16:creationId xmlns:a16="http://schemas.microsoft.com/office/drawing/2014/main" id="{4A7E2F82-B50A-BBE3-5E21-15F2004E7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354" y="0"/>
            <a:ext cx="8409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84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318A2-15C6-695D-CB9B-794A823D7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57771D-D261-7922-FBE2-0AD064A48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931"/>
            <a:ext cx="12192000" cy="652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1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72F0-082F-DED0-AB70-30DFC92C5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37FBBB-079E-63EE-3224-10CB6142D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538"/>
            <a:ext cx="12192000" cy="656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04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125B2-4E99-0771-2AFB-9A98A7DFB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BE2D6E-A0D3-C0C8-D022-11D987260B8D}"/>
              </a:ext>
            </a:extLst>
          </p:cNvPr>
          <p:cNvSpPr txBox="1"/>
          <p:nvPr/>
        </p:nvSpPr>
        <p:spPr>
          <a:xfrm>
            <a:off x="0" y="2367171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5"/>
                </a:solidFill>
              </a:rPr>
              <a:t>NONLINEAR STATIC ANALYSIS</a:t>
            </a:r>
          </a:p>
          <a:p>
            <a:pPr algn="ctr"/>
            <a:r>
              <a:rPr lang="en-US" sz="6600" b="1" dirty="0">
                <a:solidFill>
                  <a:schemeClr val="accent5"/>
                </a:solidFill>
              </a:rPr>
              <a:t>(PUSHOVER)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72918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7FBA-83D1-6B33-40B1-6526EEB22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B63693E-1352-011C-383B-6285EC594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53" y="0"/>
            <a:ext cx="86158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08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1E6AA-0C43-7AAD-E675-3C069C00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a line&#10;&#10;AI-generated content may be incorrect.">
            <a:extLst>
              <a:ext uri="{FF2B5EF4-FFF2-40B4-BE49-F238E27FC236}">
                <a16:creationId xmlns:a16="http://schemas.microsoft.com/office/drawing/2014/main" id="{9C012A97-8F10-5076-E043-948F4881A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AA5BBC-9A01-8A63-3D67-DB88E3A2B80F}"/>
              </a:ext>
            </a:extLst>
          </p:cNvPr>
          <p:cNvSpPr txBox="1"/>
          <p:nvPr/>
        </p:nvSpPr>
        <p:spPr>
          <a:xfrm>
            <a:off x="3962400" y="1097753"/>
            <a:ext cx="756915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=   Analysis curve fitted =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    </a:t>
            </a:r>
            <a:r>
              <a:rPr lang="en-US" sz="1600" b="1" dirty="0" err="1">
                <a:solidFill>
                  <a:schemeClr val="accent5"/>
                </a:solidFill>
              </a:rPr>
              <a:t>Disp</a:t>
            </a:r>
            <a:r>
              <a:rPr lang="en-US" sz="1600" b="1" dirty="0">
                <a:solidFill>
                  <a:schemeClr val="accent5"/>
                </a:solidFill>
              </a:rPr>
              <a:t>       Base Shear 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----------------------------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[[0.00000000e+00 0.00000000e+00]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[2.15547996e+01 7.12212466e+04]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[1.61597448e+02 7.12027367e+04]]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Elastic Stiffness :     3304.19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Plastic Stiffness :     440.62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Tangent Stiffness :     -0.13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Ductility Ratio :       7.50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Over Strength Factor:   1.00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Over Strength Coefficient (</a:t>
            </a:r>
            <a:r>
              <a:rPr lang="el-GR" sz="1600" b="1" dirty="0">
                <a:solidFill>
                  <a:schemeClr val="accent5"/>
                </a:solidFill>
              </a:rPr>
              <a:t>Ω0):  </a:t>
            </a:r>
            <a:r>
              <a:rPr lang="el-GR" sz="1600" b="1" dirty="0">
                <a:solidFill>
                  <a:schemeClr val="accent5"/>
                </a:solidFill>
                <a:highlight>
                  <a:srgbClr val="FFFF00"/>
                </a:highlight>
              </a:rPr>
              <a:t>0.9997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Displacement Ductility Ratio (</a:t>
            </a:r>
            <a:r>
              <a:rPr lang="el-GR" sz="1600" b="1" dirty="0">
                <a:solidFill>
                  <a:schemeClr val="accent5"/>
                </a:solidFill>
              </a:rPr>
              <a:t>μ):</a:t>
            </a:r>
            <a:r>
              <a:rPr lang="el-GR" sz="1600" b="1" dirty="0">
                <a:solidFill>
                  <a:schemeClr val="accent5"/>
                </a:solidFill>
                <a:highlight>
                  <a:srgbClr val="FFFF00"/>
                </a:highlight>
              </a:rPr>
              <a:t>7.4971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Ductility Coefficient (R</a:t>
            </a:r>
            <a:r>
              <a:rPr lang="el-GR" sz="1600" b="1" dirty="0">
                <a:solidFill>
                  <a:schemeClr val="accent5"/>
                </a:solidFill>
              </a:rPr>
              <a:t>μ):  7.4971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Structural Behavior Coefficient (R): 7.4951</a:t>
            </a:r>
          </a:p>
        </p:txBody>
      </p:sp>
    </p:spTree>
    <p:extLst>
      <p:ext uri="{BB962C8B-B14F-4D97-AF65-F5344CB8AC3E}">
        <p14:creationId xmlns:p14="http://schemas.microsoft.com/office/powerpoint/2010/main" val="1050163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140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52</cp:revision>
  <cp:lastPrinted>2025-12-15T13:46:20Z</cp:lastPrinted>
  <dcterms:created xsi:type="dcterms:W3CDTF">2025-07-14T18:44:20Z</dcterms:created>
  <dcterms:modified xsi:type="dcterms:W3CDTF">2025-12-15T14:13:07Z</dcterms:modified>
</cp:coreProperties>
</file>